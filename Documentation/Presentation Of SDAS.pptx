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2" r:id="rId1"/>
  </p:sldMasterIdLst>
  <p:notesMasterIdLst>
    <p:notesMasterId r:id="rId31"/>
  </p:notesMasterIdLst>
  <p:sldIdLst>
    <p:sldId id="256" r:id="rId2"/>
    <p:sldId id="259" r:id="rId3"/>
    <p:sldId id="260" r:id="rId4"/>
    <p:sldId id="261" r:id="rId5"/>
    <p:sldId id="340" r:id="rId6"/>
    <p:sldId id="262" r:id="rId7"/>
    <p:sldId id="341" r:id="rId8"/>
    <p:sldId id="263" r:id="rId9"/>
    <p:sldId id="265" r:id="rId10"/>
    <p:sldId id="342" r:id="rId11"/>
    <p:sldId id="356" r:id="rId12"/>
    <p:sldId id="264" r:id="rId13"/>
    <p:sldId id="268" r:id="rId14"/>
    <p:sldId id="266" r:id="rId15"/>
    <p:sldId id="346" r:id="rId16"/>
    <p:sldId id="349" r:id="rId17"/>
    <p:sldId id="350" r:id="rId18"/>
    <p:sldId id="348" r:id="rId19"/>
    <p:sldId id="347" r:id="rId20"/>
    <p:sldId id="351" r:id="rId21"/>
    <p:sldId id="352" r:id="rId22"/>
    <p:sldId id="353" r:id="rId23"/>
    <p:sldId id="357" r:id="rId24"/>
    <p:sldId id="355" r:id="rId25"/>
    <p:sldId id="354" r:id="rId26"/>
    <p:sldId id="358" r:id="rId27"/>
    <p:sldId id="359" r:id="rId28"/>
    <p:sldId id="360" r:id="rId29"/>
    <p:sldId id="361" r:id="rId30"/>
  </p:sldIdLst>
  <p:sldSz cx="9144000" cy="5143500" type="screen16x9"/>
  <p:notesSz cx="6858000" cy="9144000"/>
  <p:embeddedFontLst>
    <p:embeddedFont>
      <p:font typeface="Calisto MT" panose="02040603050505030304" pitchFamily="18" charset="0"/>
      <p:regular r:id="rId32"/>
      <p:bold r:id="rId33"/>
      <p:italic r:id="rId34"/>
      <p:boldItalic r:id="rId35"/>
    </p:embeddedFont>
    <p:embeddedFont>
      <p:font typeface="Gelasio" panose="020B0604020202020204" charset="0"/>
      <p:regular r:id="rId36"/>
    </p:embeddedFont>
    <p:embeddedFont>
      <p:font typeface="Gelasio Semi Bold" panose="020B0604020202020204" charset="0"/>
      <p:regular r:id="rId37"/>
    </p:embeddedFont>
    <p:embeddedFont>
      <p:font typeface="Kulim Park" panose="020B0604020202020204" charset="0"/>
      <p:regular r:id="rId38"/>
      <p:bold r:id="rId39"/>
      <p:italic r:id="rId40"/>
      <p:boldItalic r:id="rId41"/>
    </p:embeddedFont>
    <p:embeddedFont>
      <p:font typeface="Kulim Park SemiBold" panose="020B0604020202020204" charset="0"/>
      <p:regular r:id="rId42"/>
      <p:bold r:id="rId43"/>
      <p:italic r:id="rId44"/>
      <p:boldItalic r:id="rId45"/>
    </p:embeddedFont>
    <p:embeddedFont>
      <p:font typeface="Manrope" panose="020B0604020202020204" charset="0"/>
      <p:regular r:id="rId46"/>
      <p:bold r:id="rId47"/>
    </p:embeddedFont>
    <p:embeddedFont>
      <p:font typeface="Nunito Light" pitchFamily="2" charset="0"/>
      <p:regular r:id="rId48"/>
      <p: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DC97E013-A252-4980-BB16-7C2C5060F9E8}">
          <p14:sldIdLst>
            <p14:sldId id="256"/>
            <p14:sldId id="259"/>
            <p14:sldId id="260"/>
            <p14:sldId id="261"/>
            <p14:sldId id="340"/>
            <p14:sldId id="262"/>
            <p14:sldId id="341"/>
            <p14:sldId id="263"/>
            <p14:sldId id="265"/>
            <p14:sldId id="342"/>
            <p14:sldId id="356"/>
            <p14:sldId id="264"/>
            <p14:sldId id="268"/>
            <p14:sldId id="266"/>
            <p14:sldId id="346"/>
            <p14:sldId id="349"/>
            <p14:sldId id="350"/>
            <p14:sldId id="348"/>
            <p14:sldId id="347"/>
            <p14:sldId id="351"/>
            <p14:sldId id="352"/>
            <p14:sldId id="353"/>
            <p14:sldId id="357"/>
            <p14:sldId id="355"/>
            <p14:sldId id="354"/>
            <p14:sldId id="358"/>
            <p14:sldId id="359"/>
            <p14:sldId id="360"/>
            <p14:sldId id="3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4B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600F13-CF2D-4DA7-90BE-4EADB61D465A}">
  <a:tblStyle styleId="{B5600F13-CF2D-4DA7-90BE-4EADB61D465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D376C6A-CC74-4BD0-B693-7A3BD1BF9A31}"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9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124dc3920d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124dc3920d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ead6129809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ead6129809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124dc3920de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124dc3920de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a:extLst>
            <a:ext uri="{FF2B5EF4-FFF2-40B4-BE49-F238E27FC236}">
              <a16:creationId xmlns:a16="http://schemas.microsoft.com/office/drawing/2014/main" id="{8AC50E87-3862-58B0-91BA-59CA72692B8D}"/>
            </a:ext>
          </a:extLst>
        </p:cNvPr>
        <p:cNvGrpSpPr/>
        <p:nvPr/>
      </p:nvGrpSpPr>
      <p:grpSpPr>
        <a:xfrm>
          <a:off x="0" y="0"/>
          <a:ext cx="0" cy="0"/>
          <a:chOff x="0" y="0"/>
          <a:chExt cx="0" cy="0"/>
        </a:xfrm>
      </p:grpSpPr>
      <p:sp>
        <p:nvSpPr>
          <p:cNvPr id="620" name="Google Shape;620;g124dc3920de_0_52:notes">
            <a:extLst>
              <a:ext uri="{FF2B5EF4-FFF2-40B4-BE49-F238E27FC236}">
                <a16:creationId xmlns:a16="http://schemas.microsoft.com/office/drawing/2014/main" id="{DCDA2EAE-F543-203E-E2F2-1AF3AF2426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124dc3920de_0_52:notes">
            <a:extLst>
              <a:ext uri="{FF2B5EF4-FFF2-40B4-BE49-F238E27FC236}">
                <a16:creationId xmlns:a16="http://schemas.microsoft.com/office/drawing/2014/main" id="{8D495002-A57E-68F8-E113-96CE09E544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5342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ead6129809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ead6129809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a:extLst>
            <a:ext uri="{FF2B5EF4-FFF2-40B4-BE49-F238E27FC236}">
              <a16:creationId xmlns:a16="http://schemas.microsoft.com/office/drawing/2014/main" id="{F2AD738E-BA1D-D204-D6A9-206B1CA9B165}"/>
            </a:ext>
          </a:extLst>
        </p:cNvPr>
        <p:cNvGrpSpPr/>
        <p:nvPr/>
      </p:nvGrpSpPr>
      <p:grpSpPr>
        <a:xfrm>
          <a:off x="0" y="0"/>
          <a:ext cx="0" cy="0"/>
          <a:chOff x="0" y="0"/>
          <a:chExt cx="0" cy="0"/>
        </a:xfrm>
      </p:grpSpPr>
      <p:sp>
        <p:nvSpPr>
          <p:cNvPr id="626" name="Google Shape;626;gead6129809_0_181:notes">
            <a:extLst>
              <a:ext uri="{FF2B5EF4-FFF2-40B4-BE49-F238E27FC236}">
                <a16:creationId xmlns:a16="http://schemas.microsoft.com/office/drawing/2014/main" id="{FA719D5D-7C56-B507-2129-2C8963F3C1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ead6129809_0_181:notes">
            <a:extLst>
              <a:ext uri="{FF2B5EF4-FFF2-40B4-BE49-F238E27FC236}">
                <a16:creationId xmlns:a16="http://schemas.microsoft.com/office/drawing/2014/main" id="{0A075564-65CB-43A1-A98E-ABDB851A8A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2598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124dc3920de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124dc3920de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ead6129809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ead6129809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a:extLst>
            <a:ext uri="{FF2B5EF4-FFF2-40B4-BE49-F238E27FC236}">
              <a16:creationId xmlns:a16="http://schemas.microsoft.com/office/drawing/2014/main" id="{DE1AE89B-A1EB-9E28-D18D-8356788F16BB}"/>
            </a:ext>
          </a:extLst>
        </p:cNvPr>
        <p:cNvGrpSpPr/>
        <p:nvPr/>
      </p:nvGrpSpPr>
      <p:grpSpPr>
        <a:xfrm>
          <a:off x="0" y="0"/>
          <a:ext cx="0" cy="0"/>
          <a:chOff x="0" y="0"/>
          <a:chExt cx="0" cy="0"/>
        </a:xfrm>
      </p:grpSpPr>
      <p:sp>
        <p:nvSpPr>
          <p:cNvPr id="640" name="Google Shape;640;g124dc3920de_0_90:notes">
            <a:extLst>
              <a:ext uri="{FF2B5EF4-FFF2-40B4-BE49-F238E27FC236}">
                <a16:creationId xmlns:a16="http://schemas.microsoft.com/office/drawing/2014/main" id="{506D38BB-4AD5-53BF-091E-41EC11C88D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124dc3920de_0_90:notes">
            <a:extLst>
              <a:ext uri="{FF2B5EF4-FFF2-40B4-BE49-F238E27FC236}">
                <a16:creationId xmlns:a16="http://schemas.microsoft.com/office/drawing/2014/main" id="{0A90FDF6-03FF-33B6-CB4E-AF33A89BCE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3822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a:extLst>
            <a:ext uri="{FF2B5EF4-FFF2-40B4-BE49-F238E27FC236}">
              <a16:creationId xmlns:a16="http://schemas.microsoft.com/office/drawing/2014/main" id="{E0E16003-ED87-B997-8E3E-18806321FBE2}"/>
            </a:ext>
          </a:extLst>
        </p:cNvPr>
        <p:cNvGrpSpPr/>
        <p:nvPr/>
      </p:nvGrpSpPr>
      <p:grpSpPr>
        <a:xfrm>
          <a:off x="0" y="0"/>
          <a:ext cx="0" cy="0"/>
          <a:chOff x="0" y="0"/>
          <a:chExt cx="0" cy="0"/>
        </a:xfrm>
      </p:grpSpPr>
      <p:sp>
        <p:nvSpPr>
          <p:cNvPr id="640" name="Google Shape;640;g124dc3920de_0_90:notes">
            <a:extLst>
              <a:ext uri="{FF2B5EF4-FFF2-40B4-BE49-F238E27FC236}">
                <a16:creationId xmlns:a16="http://schemas.microsoft.com/office/drawing/2014/main" id="{433316B8-A886-1142-A8A5-7050393E64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124dc3920de_0_90:notes">
            <a:extLst>
              <a:ext uri="{FF2B5EF4-FFF2-40B4-BE49-F238E27FC236}">
                <a16:creationId xmlns:a16="http://schemas.microsoft.com/office/drawing/2014/main" id="{38FF7B87-AC1D-49D6-339F-4B2516DF9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4095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ead6129809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ead6129809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ead6129809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ead6129809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ead61298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ead61298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CB3C1B0F-EDBC-8F77-C539-CC894FF9E06B}"/>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740834FE-C267-6C70-A805-BBBA9E442A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35F7BDF1-BA21-87E6-6DBA-BE02AEF2EF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43653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00AA712E-B0C5-B1D3-C544-0DE57F3A5C82}"/>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A3B25AB2-5BE9-38EE-A024-58135757E4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25CF5013-C1D5-4083-777C-D79759EEA3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8971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7E5DE1A6-A733-59E1-89DC-70CF452AE1F4}"/>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681C86AB-3078-F338-A72B-9FCD5D877D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F00E851E-9B01-F5C1-C44B-0793F4E79A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5662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FFB80D1D-20BE-EE4E-72F6-F32357FD5012}"/>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6794F4A3-D11E-7C3A-DFFA-CBFFA651BC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8D1DF3EB-66CC-D8FF-F31B-0999551CAD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7805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EDA01B96-F135-9799-012F-9B3C579E0F8F}"/>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8A65CA99-8F0B-D838-24B9-2DC77BE1B0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AAFF3DCC-0CD1-8D2A-5630-75394553A8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4282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DD4D773D-F2E1-608F-0BE1-63A96E737E1D}"/>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A03637FE-830C-8FCF-8797-4194382A4D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6A1512AE-48DB-676A-403D-54C6DFDABF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44959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4A34C956-9594-F52B-F393-8AFC10D6F2C6}"/>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382C02FA-D95F-9268-E0CA-41861FBF59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2718B223-3CD0-CF4C-DCB9-871B1602CD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85425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05C11365-1C02-A0E6-4415-9F9DC3402FF3}"/>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17EC7C5A-F264-ECC7-5ACC-91FE63821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A9669749-9D68-22D6-BD11-2746E24FFB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2785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FC31502E-C819-3AF7-21E7-149A443DF5DD}"/>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781037AA-24FE-CD1F-C375-ABFA5CEF95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5EAB6DD2-F99D-DAE9-DAEE-9EAEE86175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06524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a:extLst>
            <a:ext uri="{FF2B5EF4-FFF2-40B4-BE49-F238E27FC236}">
              <a16:creationId xmlns:a16="http://schemas.microsoft.com/office/drawing/2014/main" id="{070C9914-F9BC-4693-1D86-D15AF532053E}"/>
            </a:ext>
          </a:extLst>
        </p:cNvPr>
        <p:cNvGrpSpPr/>
        <p:nvPr/>
      </p:nvGrpSpPr>
      <p:grpSpPr>
        <a:xfrm>
          <a:off x="0" y="0"/>
          <a:ext cx="0" cy="0"/>
          <a:chOff x="0" y="0"/>
          <a:chExt cx="0" cy="0"/>
        </a:xfrm>
      </p:grpSpPr>
      <p:sp>
        <p:nvSpPr>
          <p:cNvPr id="640" name="Google Shape;640;g124dc3920de_0_90:notes">
            <a:extLst>
              <a:ext uri="{FF2B5EF4-FFF2-40B4-BE49-F238E27FC236}">
                <a16:creationId xmlns:a16="http://schemas.microsoft.com/office/drawing/2014/main" id="{66DEBB20-13EA-3D9B-96E6-D5F36D4164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124dc3920de_0_90:notes">
            <a:extLst>
              <a:ext uri="{FF2B5EF4-FFF2-40B4-BE49-F238E27FC236}">
                <a16:creationId xmlns:a16="http://schemas.microsoft.com/office/drawing/2014/main" id="{27395157-9890-35FA-CF20-0088D7E29D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5596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08D27B6D-9FBC-E022-8865-23CD6D9B61F5}"/>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0AFE685F-7576-9C4C-2436-7E571F0DA0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229B4061-C35B-7D5C-4CB6-7F6BC0A8AA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07350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43934EED-F00B-C6F1-EAE9-26E85E12A274}"/>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6573FCC1-F50A-906C-66AB-6749B370A0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9DE20FC8-F08B-84F9-6EBF-EE6859397E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4983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3AF3672F-353E-6DE7-0D9E-5CC5CD1E97A6}"/>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654660AC-1F30-DCD7-23B0-A16C4D46C6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83F942D3-B474-76C6-6680-96816BFCFD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95152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3A22FBAE-D7BC-1367-EB58-49B1FA4A433D}"/>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A2BB8213-6AA5-D4D4-CF1E-DFFD6E6C98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86BA0F8C-7B44-57E9-0E16-EB67443D26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8201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a:extLst>
            <a:ext uri="{FF2B5EF4-FFF2-40B4-BE49-F238E27FC236}">
              <a16:creationId xmlns:a16="http://schemas.microsoft.com/office/drawing/2014/main" id="{B2CBBD0A-C5BD-6C04-AFAB-AA6E149F0592}"/>
            </a:ext>
          </a:extLst>
        </p:cNvPr>
        <p:cNvGrpSpPr/>
        <p:nvPr/>
      </p:nvGrpSpPr>
      <p:grpSpPr>
        <a:xfrm>
          <a:off x="0" y="0"/>
          <a:ext cx="0" cy="0"/>
          <a:chOff x="0" y="0"/>
          <a:chExt cx="0" cy="0"/>
        </a:xfrm>
      </p:grpSpPr>
      <p:sp>
        <p:nvSpPr>
          <p:cNvPr id="780" name="Google Shape;780;g124dc3920de_0_561:notes">
            <a:extLst>
              <a:ext uri="{FF2B5EF4-FFF2-40B4-BE49-F238E27FC236}">
                <a16:creationId xmlns:a16="http://schemas.microsoft.com/office/drawing/2014/main" id="{A59B270D-7A00-0708-A5C6-0F36440613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24dc3920de_0_561:notes">
            <a:extLst>
              <a:ext uri="{FF2B5EF4-FFF2-40B4-BE49-F238E27FC236}">
                <a16:creationId xmlns:a16="http://schemas.microsoft.com/office/drawing/2014/main" id="{A6EA9860-4597-F313-F86B-4541818906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6872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813319">
            <a:off x="-1616877"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rot="-649785" flipH="1">
            <a:off x="6475477"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125387"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8823147">
            <a:off x="-2265377"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536238" y="-142500"/>
            <a:ext cx="4935815" cy="3769836"/>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649785">
            <a:off x="716152"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244193">
            <a:off x="4086917" y="-777268"/>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9555807">
            <a:off x="-6119383"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723150" y="1494200"/>
            <a:ext cx="7697700" cy="1598100"/>
          </a:xfrm>
          <a:prstGeom prst="rect">
            <a:avLst/>
          </a:prstGeom>
        </p:spPr>
        <p:txBody>
          <a:bodyPr spcFirstLastPara="1" wrap="square" lIns="91425" tIns="91425" rIns="91425" bIns="91425" anchor="ctr" anchorCtr="0">
            <a:noAutofit/>
          </a:bodyPr>
          <a:lstStyle>
            <a:lvl1pPr lvl="0" rtl="0">
              <a:lnSpc>
                <a:spcPct val="90000"/>
              </a:lnSpc>
              <a:spcBef>
                <a:spcPts val="0"/>
              </a:spcBef>
              <a:spcAft>
                <a:spcPts val="0"/>
              </a:spcAft>
              <a:buSzPts val="5200"/>
              <a:buNone/>
              <a:defRPr sz="6600">
                <a:latin typeface="Kulim Park SemiBold"/>
                <a:ea typeface="Kulim Park SemiBold"/>
                <a:cs typeface="Kulim Park SemiBold"/>
                <a:sym typeface="Kulim Park SemiBold"/>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8" name="Google Shape;18;p2"/>
          <p:cNvSpPr txBox="1">
            <a:spLocks noGrp="1"/>
          </p:cNvSpPr>
          <p:nvPr>
            <p:ph type="subTitle" idx="1"/>
          </p:nvPr>
        </p:nvSpPr>
        <p:spPr>
          <a:xfrm>
            <a:off x="1962550" y="3100575"/>
            <a:ext cx="5218500" cy="5487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atin typeface="Manrope"/>
                <a:ea typeface="Manrope"/>
                <a:cs typeface="Manrope"/>
                <a:sym typeface="Manrop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txBox="1">
            <a:spLocks noGrp="1"/>
          </p:cNvSpPr>
          <p:nvPr>
            <p:ph type="title"/>
          </p:nvPr>
        </p:nvSpPr>
        <p:spPr>
          <a:xfrm>
            <a:off x="716550" y="1929275"/>
            <a:ext cx="7410900" cy="16101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6" name="Google Shape;26;p3"/>
          <p:cNvSpPr txBox="1">
            <a:spLocks noGrp="1"/>
          </p:cNvSpPr>
          <p:nvPr>
            <p:ph type="title" idx="2" hasCustomPrompt="1"/>
          </p:nvPr>
        </p:nvSpPr>
        <p:spPr>
          <a:xfrm>
            <a:off x="723300" y="845239"/>
            <a:ext cx="1498200" cy="11235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7" name="Google Shape;27;p3"/>
          <p:cNvSpPr txBox="1">
            <a:spLocks noGrp="1"/>
          </p:cNvSpPr>
          <p:nvPr>
            <p:ph type="subTitle" idx="1"/>
          </p:nvPr>
        </p:nvSpPr>
        <p:spPr>
          <a:xfrm>
            <a:off x="716550" y="3578850"/>
            <a:ext cx="7410900" cy="7194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8" name="Google Shape;28;p3"/>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4"/>
          <p:cNvSpPr/>
          <p:nvPr/>
        </p:nvSpPr>
        <p:spPr>
          <a:xfrm rot="813319">
            <a:off x="-704002" y="2342077"/>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rot="-5553048">
            <a:off x="-3421688" y="1600648"/>
            <a:ext cx="5990367" cy="5613156"/>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rgbClr val="AC9078">
              <a:alpha val="7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rot="-1460553" flipH="1">
            <a:off x="6702382" y="-661835"/>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3657786">
            <a:off x="7243056" y="893138"/>
            <a:ext cx="4558957" cy="1365879"/>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rot="3624623">
            <a:off x="5761668" y="608449"/>
            <a:ext cx="7826028" cy="287783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txBox="1">
            <a:spLocks noGrp="1"/>
          </p:cNvSpPr>
          <p:nvPr>
            <p:ph type="title"/>
          </p:nvPr>
        </p:nvSpPr>
        <p:spPr>
          <a:xfrm>
            <a:off x="720000" y="437700"/>
            <a:ext cx="77028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 name="Google Shape;36;p4"/>
          <p:cNvSpPr txBox="1">
            <a:spLocks noGrp="1"/>
          </p:cNvSpPr>
          <p:nvPr>
            <p:ph type="body" idx="1"/>
          </p:nvPr>
        </p:nvSpPr>
        <p:spPr>
          <a:xfrm>
            <a:off x="720000" y="1095450"/>
            <a:ext cx="7702800" cy="3610800"/>
          </a:xfrm>
          <a:prstGeom prst="rect">
            <a:avLst/>
          </a:prstGeom>
          <a:noFill/>
          <a:ln>
            <a:noFill/>
          </a:ln>
        </p:spPr>
        <p:txBody>
          <a:bodyPr spcFirstLastPara="1" wrap="square" lIns="91425" tIns="91425" rIns="91425" bIns="91425" anchor="b" anchorCtr="0">
            <a:noAutofit/>
          </a:bodyPr>
          <a:lstStyle>
            <a:lvl1pPr marL="457200" lvl="0" indent="-330200" rtl="0">
              <a:lnSpc>
                <a:spcPct val="100000"/>
              </a:lnSpc>
              <a:spcBef>
                <a:spcPts val="0"/>
              </a:spcBef>
              <a:spcAft>
                <a:spcPts val="0"/>
              </a:spcAft>
              <a:buSzPts val="1600"/>
              <a:buChar char="●"/>
              <a:defRPr sz="1250">
                <a:latin typeface="Manrope"/>
                <a:ea typeface="Manrope"/>
                <a:cs typeface="Manrope"/>
                <a:sym typeface="Manrope"/>
              </a:defRPr>
            </a:lvl1pPr>
            <a:lvl2pPr marL="914400" lvl="1" indent="-330200" rtl="0">
              <a:lnSpc>
                <a:spcPct val="100000"/>
              </a:lnSpc>
              <a:spcBef>
                <a:spcPts val="0"/>
              </a:spcBef>
              <a:spcAft>
                <a:spcPts val="0"/>
              </a:spcAft>
              <a:buSzPts val="1600"/>
              <a:buChar char="○"/>
              <a:defRPr/>
            </a:lvl2pPr>
            <a:lvl3pPr marL="1371600" lvl="2" indent="-330200" rtl="0">
              <a:lnSpc>
                <a:spcPct val="100000"/>
              </a:lnSpc>
              <a:spcBef>
                <a:spcPts val="0"/>
              </a:spcBef>
              <a:spcAft>
                <a:spcPts val="0"/>
              </a:spcAft>
              <a:buSzPts val="1600"/>
              <a:buChar char="■"/>
              <a:defRPr/>
            </a:lvl3pPr>
            <a:lvl4pPr marL="1828800" lvl="3" indent="-330200" rtl="0">
              <a:lnSpc>
                <a:spcPct val="100000"/>
              </a:lnSpc>
              <a:spcBef>
                <a:spcPts val="0"/>
              </a:spcBef>
              <a:spcAft>
                <a:spcPts val="0"/>
              </a:spcAft>
              <a:buSzPts val="1600"/>
              <a:buChar char="●"/>
              <a:defRPr/>
            </a:lvl4pPr>
            <a:lvl5pPr marL="2286000" lvl="4" indent="-330200" rtl="0">
              <a:lnSpc>
                <a:spcPct val="100000"/>
              </a:lnSpc>
              <a:spcBef>
                <a:spcPts val="0"/>
              </a:spcBef>
              <a:spcAft>
                <a:spcPts val="0"/>
              </a:spcAft>
              <a:buSzPts val="1600"/>
              <a:buChar char="○"/>
              <a:defRPr/>
            </a:lvl5pPr>
            <a:lvl6pPr marL="2743200" lvl="5" indent="-330200" rtl="0">
              <a:lnSpc>
                <a:spcPct val="100000"/>
              </a:lnSpc>
              <a:spcBef>
                <a:spcPts val="0"/>
              </a:spcBef>
              <a:spcAft>
                <a:spcPts val="0"/>
              </a:spcAft>
              <a:buSzPts val="1600"/>
              <a:buChar char="■"/>
              <a:defRPr/>
            </a:lvl6pPr>
            <a:lvl7pPr marL="3200400" lvl="6" indent="-330200" rtl="0">
              <a:lnSpc>
                <a:spcPct val="100000"/>
              </a:lnSpc>
              <a:spcBef>
                <a:spcPts val="0"/>
              </a:spcBef>
              <a:spcAft>
                <a:spcPts val="0"/>
              </a:spcAft>
              <a:buSzPts val="1600"/>
              <a:buChar char="●"/>
              <a:defRPr/>
            </a:lvl7pPr>
            <a:lvl8pPr marL="3657600" lvl="7" indent="-330200" rtl="0">
              <a:lnSpc>
                <a:spcPct val="100000"/>
              </a:lnSpc>
              <a:spcBef>
                <a:spcPts val="0"/>
              </a:spcBef>
              <a:spcAft>
                <a:spcPts val="0"/>
              </a:spcAft>
              <a:buSzPts val="1600"/>
              <a:buChar char="○"/>
              <a:defRPr/>
            </a:lvl8pPr>
            <a:lvl9pPr marL="4114800" lvl="8" indent="-330200" rtl="0">
              <a:lnSpc>
                <a:spcPct val="100000"/>
              </a:lnSpc>
              <a:spcBef>
                <a:spcPts val="0"/>
              </a:spcBef>
              <a:spcAft>
                <a:spcPts val="0"/>
              </a:spcAft>
              <a:buSzPts val="16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sp>
        <p:nvSpPr>
          <p:cNvPr id="38" name="Google Shape;38;p5"/>
          <p:cNvSpPr/>
          <p:nvPr/>
        </p:nvSpPr>
        <p:spPr>
          <a:xfrm>
            <a:off x="-4528356"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rot="-9405665" flipH="1">
            <a:off x="6846081" y="1281156"/>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rot="1478505" flipH="1">
            <a:off x="3709533"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2" name="Google Shape;42;p5"/>
          <p:cNvSpPr txBox="1">
            <a:spLocks noGrp="1"/>
          </p:cNvSpPr>
          <p:nvPr>
            <p:ph type="title" idx="2"/>
          </p:nvPr>
        </p:nvSpPr>
        <p:spPr>
          <a:xfrm>
            <a:off x="4789925" y="3371526"/>
            <a:ext cx="23253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3" name="Google Shape;43;p5"/>
          <p:cNvSpPr txBox="1">
            <a:spLocks noGrp="1"/>
          </p:cNvSpPr>
          <p:nvPr>
            <p:ph type="subTitle" idx="1"/>
          </p:nvPr>
        </p:nvSpPr>
        <p:spPr>
          <a:xfrm>
            <a:off x="4789950" y="3879601"/>
            <a:ext cx="2325300" cy="62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4" name="Google Shape;44;p5"/>
          <p:cNvSpPr txBox="1">
            <a:spLocks noGrp="1"/>
          </p:cNvSpPr>
          <p:nvPr>
            <p:ph type="title" idx="3"/>
          </p:nvPr>
        </p:nvSpPr>
        <p:spPr>
          <a:xfrm>
            <a:off x="2028750" y="3371526"/>
            <a:ext cx="23253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5" name="Google Shape;45;p5"/>
          <p:cNvSpPr txBox="1">
            <a:spLocks noGrp="1"/>
          </p:cNvSpPr>
          <p:nvPr>
            <p:ph type="subTitle" idx="4"/>
          </p:nvPr>
        </p:nvSpPr>
        <p:spPr>
          <a:xfrm>
            <a:off x="2028775" y="3879601"/>
            <a:ext cx="2325300" cy="62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6" name="Google Shape;46;p5"/>
          <p:cNvSpPr/>
          <p:nvPr/>
        </p:nvSpPr>
        <p:spPr>
          <a:xfrm rot="9524149" flipH="1">
            <a:off x="-6659422" y="-2925302"/>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rot="-9555841">
            <a:off x="-6785773"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sp>
        <p:nvSpPr>
          <p:cNvPr id="58" name="Google Shape;58;p7"/>
          <p:cNvSpPr/>
          <p:nvPr/>
        </p:nvSpPr>
        <p:spPr>
          <a:xfrm rot="3394465" flipH="1">
            <a:off x="5041484" y="22860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7"/>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p:nvPr/>
        </p:nvSpPr>
        <p:spPr>
          <a:xfrm rot="955394" flipH="1">
            <a:off x="1460861" y="-2197712"/>
            <a:ext cx="7826028" cy="287783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7"/>
          <p:cNvSpPr txBox="1">
            <a:spLocks noGrp="1"/>
          </p:cNvSpPr>
          <p:nvPr>
            <p:ph type="body" idx="1"/>
          </p:nvPr>
        </p:nvSpPr>
        <p:spPr>
          <a:xfrm>
            <a:off x="4572000" y="1369325"/>
            <a:ext cx="3850500" cy="33327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SzPts val="1600"/>
              <a:buFont typeface="Nunito Light"/>
              <a:buChar char="●"/>
              <a:defRPr sz="1400"/>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1600"/>
              </a:spcBef>
              <a:spcAft>
                <a:spcPts val="0"/>
              </a:spcAft>
              <a:buSzPts val="1500"/>
              <a:buFont typeface="Nunito Light"/>
              <a:buChar char="■"/>
              <a:defRPr/>
            </a:lvl3pPr>
            <a:lvl4pPr marL="1828800" lvl="3" indent="-323850" rtl="0">
              <a:lnSpc>
                <a:spcPct val="100000"/>
              </a:lnSpc>
              <a:spcBef>
                <a:spcPts val="1600"/>
              </a:spcBef>
              <a:spcAft>
                <a:spcPts val="0"/>
              </a:spcAft>
              <a:buSzPts val="1500"/>
              <a:buFont typeface="Nunito Light"/>
              <a:buChar char="●"/>
              <a:defRPr/>
            </a:lvl4pPr>
            <a:lvl5pPr marL="2286000" lvl="4" indent="-330200" rtl="0">
              <a:lnSpc>
                <a:spcPct val="100000"/>
              </a:lnSpc>
              <a:spcBef>
                <a:spcPts val="1600"/>
              </a:spcBef>
              <a:spcAft>
                <a:spcPts val="0"/>
              </a:spcAft>
              <a:buSzPts val="1600"/>
              <a:buFont typeface="Nunito Light"/>
              <a:buChar char="○"/>
              <a:defRPr/>
            </a:lvl5pPr>
            <a:lvl6pPr marL="2743200" lvl="5" indent="-330200" rtl="0">
              <a:lnSpc>
                <a:spcPct val="100000"/>
              </a:lnSpc>
              <a:spcBef>
                <a:spcPts val="1600"/>
              </a:spcBef>
              <a:spcAft>
                <a:spcPts val="0"/>
              </a:spcAft>
              <a:buSzPts val="1600"/>
              <a:buFont typeface="Nunito Light"/>
              <a:buChar char="■"/>
              <a:defRPr/>
            </a:lvl6pPr>
            <a:lvl7pPr marL="3200400" lvl="6" indent="-311150" rtl="0">
              <a:lnSpc>
                <a:spcPct val="100000"/>
              </a:lnSpc>
              <a:spcBef>
                <a:spcPts val="1600"/>
              </a:spcBef>
              <a:spcAft>
                <a:spcPts val="0"/>
              </a:spcAft>
              <a:buSzPts val="1300"/>
              <a:buFont typeface="Nunito Light"/>
              <a:buChar char="●"/>
              <a:defRPr/>
            </a:lvl7pPr>
            <a:lvl8pPr marL="3657600" lvl="7" indent="-311150" rtl="0">
              <a:lnSpc>
                <a:spcPct val="100000"/>
              </a:lnSpc>
              <a:spcBef>
                <a:spcPts val="1600"/>
              </a:spcBef>
              <a:spcAft>
                <a:spcPts val="0"/>
              </a:spcAft>
              <a:buSzPts val="1300"/>
              <a:buFont typeface="Nunito Light"/>
              <a:buChar char="○"/>
              <a:defRPr/>
            </a:lvl8pPr>
            <a:lvl9pPr marL="4114800" lvl="8" indent="-330200" rtl="0">
              <a:lnSpc>
                <a:spcPct val="100000"/>
              </a:lnSpc>
              <a:spcBef>
                <a:spcPts val="1600"/>
              </a:spcBef>
              <a:spcAft>
                <a:spcPts val="1600"/>
              </a:spcAft>
              <a:buSzPts val="1600"/>
              <a:buFont typeface="Nunito Light"/>
              <a:buChar char="■"/>
              <a:defRPr/>
            </a:lvl9pPr>
          </a:lstStyle>
          <a:p>
            <a:endParaRPr/>
          </a:p>
        </p:txBody>
      </p:sp>
      <p:sp>
        <p:nvSpPr>
          <p:cNvPr id="62" name="Google Shape;62;p7"/>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3"/>
        <p:cNvGrpSpPr/>
        <p:nvPr/>
      </p:nvGrpSpPr>
      <p:grpSpPr>
        <a:xfrm>
          <a:off x="0" y="0"/>
          <a:ext cx="0" cy="0"/>
          <a:chOff x="0" y="0"/>
          <a:chExt cx="0" cy="0"/>
        </a:xfrm>
      </p:grpSpPr>
      <p:sp>
        <p:nvSpPr>
          <p:cNvPr id="74" name="Google Shape;74;p9"/>
          <p:cNvSpPr/>
          <p:nvPr/>
        </p:nvSpPr>
        <p:spPr>
          <a:xfrm rot="813319">
            <a:off x="-2477752" y="-50555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9"/>
          <p:cNvSpPr/>
          <p:nvPr/>
        </p:nvSpPr>
        <p:spPr>
          <a:xfrm rot="3394465" flipH="1">
            <a:off x="4067684" y="51096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9"/>
          <p:cNvSpPr/>
          <p:nvPr/>
        </p:nvSpPr>
        <p:spPr>
          <a:xfrm>
            <a:off x="7010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9"/>
          <p:cNvSpPr/>
          <p:nvPr/>
        </p:nvSpPr>
        <p:spPr>
          <a:xfrm rot="3406877">
            <a:off x="3098060" y="-32126"/>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9"/>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9"/>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p:nvPr/>
        </p:nvSpPr>
        <p:spPr>
          <a:xfrm rot="-7426355">
            <a:off x="-555754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9"/>
          <p:cNvSpPr txBox="1">
            <a:spLocks noGrp="1"/>
          </p:cNvSpPr>
          <p:nvPr>
            <p:ph type="title"/>
          </p:nvPr>
        </p:nvSpPr>
        <p:spPr>
          <a:xfrm>
            <a:off x="723300" y="775600"/>
            <a:ext cx="6137400" cy="17844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800"/>
              <a:buNone/>
              <a:defRPr sz="5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2" name="Google Shape;82;p9"/>
          <p:cNvSpPr txBox="1">
            <a:spLocks noGrp="1"/>
          </p:cNvSpPr>
          <p:nvPr>
            <p:ph type="subTitle" idx="1"/>
          </p:nvPr>
        </p:nvSpPr>
        <p:spPr>
          <a:xfrm>
            <a:off x="799500" y="2583500"/>
            <a:ext cx="6137400" cy="178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9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1">
  <p:cSld name="CUSTOM_17">
    <p:spTree>
      <p:nvGrpSpPr>
        <p:cNvPr id="1" name="Shape 150"/>
        <p:cNvGrpSpPr/>
        <p:nvPr/>
      </p:nvGrpSpPr>
      <p:grpSpPr>
        <a:xfrm>
          <a:off x="0" y="0"/>
          <a:ext cx="0" cy="0"/>
          <a:chOff x="0" y="0"/>
          <a:chExt cx="0" cy="0"/>
        </a:xfrm>
      </p:grpSpPr>
      <p:sp>
        <p:nvSpPr>
          <p:cNvPr id="151" name="Google Shape;151;p17"/>
          <p:cNvSpPr/>
          <p:nvPr/>
        </p:nvSpPr>
        <p:spPr>
          <a:xfrm rot="-9339447">
            <a:off x="7118442" y="32165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7"/>
          <p:cNvSpPr/>
          <p:nvPr/>
        </p:nvSpPr>
        <p:spPr>
          <a:xfrm rot="10285603" flipH="1">
            <a:off x="-6088365" y="-16178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7"/>
          <p:cNvSpPr/>
          <p:nvPr/>
        </p:nvSpPr>
        <p:spPr>
          <a:xfrm rot="-649785" flipH="1">
            <a:off x="-1251909" y="-487200"/>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7"/>
          <p:cNvSpPr/>
          <p:nvPr/>
        </p:nvSpPr>
        <p:spPr>
          <a:xfrm rot="-813319" flipH="1">
            <a:off x="7653159" y="-35663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7"/>
          <p:cNvSpPr/>
          <p:nvPr/>
        </p:nvSpPr>
        <p:spPr>
          <a:xfrm rot="-9989847" flipH="1">
            <a:off x="-4910832" y="2960605"/>
            <a:ext cx="7826215" cy="287790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7"/>
          <p:cNvSpPr/>
          <p:nvPr/>
        </p:nvSpPr>
        <p:spPr>
          <a:xfrm rot="-323977" flipH="1">
            <a:off x="6050295" y="-977077"/>
            <a:ext cx="7826148" cy="2877876"/>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7"/>
          <p:cNvSpPr txBox="1">
            <a:spLocks noGrp="1"/>
          </p:cNvSpPr>
          <p:nvPr>
            <p:ph type="title"/>
          </p:nvPr>
        </p:nvSpPr>
        <p:spPr>
          <a:xfrm>
            <a:off x="1987675" y="1412700"/>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8" name="Google Shape;158;p17"/>
          <p:cNvSpPr txBox="1">
            <a:spLocks noGrp="1"/>
          </p:cNvSpPr>
          <p:nvPr>
            <p:ph type="subTitle" idx="1"/>
          </p:nvPr>
        </p:nvSpPr>
        <p:spPr>
          <a:xfrm>
            <a:off x="1987700" y="2292125"/>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59" name="Google Shape;159;p17"/>
          <p:cNvSpPr txBox="1">
            <a:spLocks noGrp="1"/>
          </p:cNvSpPr>
          <p:nvPr>
            <p:ph type="title" idx="2" hasCustomPrompt="1"/>
          </p:nvPr>
        </p:nvSpPr>
        <p:spPr>
          <a:xfrm>
            <a:off x="845800" y="18880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0" name="Google Shape;160;p17"/>
          <p:cNvSpPr txBox="1">
            <a:spLocks noGrp="1"/>
          </p:cNvSpPr>
          <p:nvPr>
            <p:ph type="title" idx="3"/>
          </p:nvPr>
        </p:nvSpPr>
        <p:spPr>
          <a:xfrm>
            <a:off x="1928100" y="3162748"/>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 name="Google Shape;161;p17"/>
          <p:cNvSpPr txBox="1">
            <a:spLocks noGrp="1"/>
          </p:cNvSpPr>
          <p:nvPr>
            <p:ph type="subTitle" idx="4"/>
          </p:nvPr>
        </p:nvSpPr>
        <p:spPr>
          <a:xfrm>
            <a:off x="1928125" y="4042172"/>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62" name="Google Shape;162;p17"/>
          <p:cNvSpPr txBox="1">
            <a:spLocks noGrp="1"/>
          </p:cNvSpPr>
          <p:nvPr>
            <p:ph type="title" idx="5"/>
          </p:nvPr>
        </p:nvSpPr>
        <p:spPr>
          <a:xfrm>
            <a:off x="6000750" y="1412688"/>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3" name="Google Shape;163;p17"/>
          <p:cNvSpPr txBox="1">
            <a:spLocks noGrp="1"/>
          </p:cNvSpPr>
          <p:nvPr>
            <p:ph type="subTitle" idx="6"/>
          </p:nvPr>
        </p:nvSpPr>
        <p:spPr>
          <a:xfrm>
            <a:off x="6000775" y="2292102"/>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64" name="Google Shape;164;p17"/>
          <p:cNvSpPr txBox="1">
            <a:spLocks noGrp="1"/>
          </p:cNvSpPr>
          <p:nvPr>
            <p:ph type="title" idx="7"/>
          </p:nvPr>
        </p:nvSpPr>
        <p:spPr>
          <a:xfrm>
            <a:off x="5981196" y="3162738"/>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5" name="Google Shape;165;p17"/>
          <p:cNvSpPr txBox="1">
            <a:spLocks noGrp="1"/>
          </p:cNvSpPr>
          <p:nvPr>
            <p:ph type="subTitle" idx="8"/>
          </p:nvPr>
        </p:nvSpPr>
        <p:spPr>
          <a:xfrm>
            <a:off x="5981200" y="4042161"/>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66" name="Google Shape;166;p17"/>
          <p:cNvSpPr txBox="1">
            <a:spLocks noGrp="1"/>
          </p:cNvSpPr>
          <p:nvPr>
            <p:ph type="title" idx="9" hasCustomPrompt="1"/>
          </p:nvPr>
        </p:nvSpPr>
        <p:spPr>
          <a:xfrm>
            <a:off x="845798" y="36442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7" name="Google Shape;167;p17"/>
          <p:cNvSpPr txBox="1">
            <a:spLocks noGrp="1"/>
          </p:cNvSpPr>
          <p:nvPr>
            <p:ph type="title" idx="13" hasCustomPrompt="1"/>
          </p:nvPr>
        </p:nvSpPr>
        <p:spPr>
          <a:xfrm>
            <a:off x="4895098" y="18880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8" name="Google Shape;168;p17"/>
          <p:cNvSpPr txBox="1">
            <a:spLocks noGrp="1"/>
          </p:cNvSpPr>
          <p:nvPr>
            <p:ph type="title" idx="14" hasCustomPrompt="1"/>
          </p:nvPr>
        </p:nvSpPr>
        <p:spPr>
          <a:xfrm>
            <a:off x="4895098" y="36442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9" name="Google Shape;169;p17"/>
          <p:cNvSpPr txBox="1">
            <a:spLocks noGrp="1"/>
          </p:cNvSpPr>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_15">
    <p:spTree>
      <p:nvGrpSpPr>
        <p:cNvPr id="1" name="Shape 203"/>
        <p:cNvGrpSpPr/>
        <p:nvPr/>
      </p:nvGrpSpPr>
      <p:grpSpPr>
        <a:xfrm>
          <a:off x="0" y="0"/>
          <a:ext cx="0" cy="0"/>
          <a:chOff x="0" y="0"/>
          <a:chExt cx="0" cy="0"/>
        </a:xfrm>
      </p:grpSpPr>
      <p:sp>
        <p:nvSpPr>
          <p:cNvPr id="204" name="Google Shape;204;p23"/>
          <p:cNvSpPr/>
          <p:nvPr/>
        </p:nvSpPr>
        <p:spPr>
          <a:xfrm rot="-10285629">
            <a:off x="5828449" y="-26577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3"/>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3"/>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3"/>
          <p:cNvSpPr/>
          <p:nvPr/>
        </p:nvSpPr>
        <p:spPr>
          <a:xfrm rot="9405665">
            <a:off x="-4305365"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3"/>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3"/>
          <p:cNvSpPr/>
          <p:nvPr/>
        </p:nvSpPr>
        <p:spPr>
          <a:xfrm rot="9555841" flipH="1">
            <a:off x="70234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3"/>
          <p:cNvSpPr txBox="1">
            <a:spLocks noGrp="1"/>
          </p:cNvSpPr>
          <p:nvPr>
            <p:ph type="title"/>
          </p:nvPr>
        </p:nvSpPr>
        <p:spPr>
          <a:xfrm>
            <a:off x="897750" y="951837"/>
            <a:ext cx="7348500" cy="1532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11" name="Google Shape;211;p23"/>
          <p:cNvSpPr txBox="1">
            <a:spLocks noGrp="1"/>
          </p:cNvSpPr>
          <p:nvPr>
            <p:ph type="subTitle" idx="1"/>
          </p:nvPr>
        </p:nvSpPr>
        <p:spPr>
          <a:xfrm>
            <a:off x="1732950" y="2483763"/>
            <a:ext cx="5678100" cy="170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3">
  <p:cSld name="CUSTOM_18">
    <p:spTree>
      <p:nvGrpSpPr>
        <p:cNvPr id="1" name="Shape 226"/>
        <p:cNvGrpSpPr/>
        <p:nvPr/>
      </p:nvGrpSpPr>
      <p:grpSpPr>
        <a:xfrm>
          <a:off x="0" y="0"/>
          <a:ext cx="0" cy="0"/>
          <a:chOff x="0" y="0"/>
          <a:chExt cx="0" cy="0"/>
        </a:xfrm>
      </p:grpSpPr>
      <p:sp>
        <p:nvSpPr>
          <p:cNvPr id="227" name="Google Shape;227;p26"/>
          <p:cNvSpPr/>
          <p:nvPr/>
        </p:nvSpPr>
        <p:spPr>
          <a:xfrm rot="-3394465">
            <a:off x="-4398774" y="421144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flipH="1">
            <a:off x="-5777841"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rot="-3952094" flipH="1">
            <a:off x="-4776410" y="665034"/>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rot="649760">
            <a:off x="-4213998" y="5351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6"/>
          <p:cNvSpPr/>
          <p:nvPr/>
        </p:nvSpPr>
        <p:spPr>
          <a:xfrm rot="-813319" flipH="1">
            <a:off x="4527346" y="-34147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rot="10285603" flipH="1">
            <a:off x="4806347" y="33637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p:nvPr/>
        </p:nvSpPr>
        <p:spPr>
          <a:xfrm rot="5626330" flipH="1">
            <a:off x="3918525" y="675664"/>
            <a:ext cx="7826010" cy="287782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6"/>
          <p:cNvSpPr txBox="1">
            <a:spLocks noGrp="1"/>
          </p:cNvSpPr>
          <p:nvPr>
            <p:ph type="body" idx="1"/>
          </p:nvPr>
        </p:nvSpPr>
        <p:spPr>
          <a:xfrm>
            <a:off x="1133900" y="1868725"/>
            <a:ext cx="6223800" cy="23526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SzPts val="1600"/>
              <a:buFont typeface="Nunito Light"/>
              <a:buChar char="●"/>
              <a:defRPr sz="1400"/>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1600"/>
              </a:spcBef>
              <a:spcAft>
                <a:spcPts val="0"/>
              </a:spcAft>
              <a:buSzPts val="1500"/>
              <a:buFont typeface="Nunito Light"/>
              <a:buChar char="■"/>
              <a:defRPr/>
            </a:lvl3pPr>
            <a:lvl4pPr marL="1828800" lvl="3" indent="-323850" rtl="0">
              <a:lnSpc>
                <a:spcPct val="100000"/>
              </a:lnSpc>
              <a:spcBef>
                <a:spcPts val="1600"/>
              </a:spcBef>
              <a:spcAft>
                <a:spcPts val="0"/>
              </a:spcAft>
              <a:buSzPts val="1500"/>
              <a:buFont typeface="Nunito Light"/>
              <a:buChar char="●"/>
              <a:defRPr/>
            </a:lvl4pPr>
            <a:lvl5pPr marL="2286000" lvl="4" indent="-330200" rtl="0">
              <a:lnSpc>
                <a:spcPct val="100000"/>
              </a:lnSpc>
              <a:spcBef>
                <a:spcPts val="1600"/>
              </a:spcBef>
              <a:spcAft>
                <a:spcPts val="0"/>
              </a:spcAft>
              <a:buSzPts val="1600"/>
              <a:buFont typeface="Nunito Light"/>
              <a:buChar char="○"/>
              <a:defRPr/>
            </a:lvl5pPr>
            <a:lvl6pPr marL="2743200" lvl="5" indent="-330200" rtl="0">
              <a:lnSpc>
                <a:spcPct val="100000"/>
              </a:lnSpc>
              <a:spcBef>
                <a:spcPts val="1600"/>
              </a:spcBef>
              <a:spcAft>
                <a:spcPts val="0"/>
              </a:spcAft>
              <a:buSzPts val="1600"/>
              <a:buFont typeface="Nunito Light"/>
              <a:buChar char="■"/>
              <a:defRPr/>
            </a:lvl6pPr>
            <a:lvl7pPr marL="3200400" lvl="6" indent="-311150" rtl="0">
              <a:lnSpc>
                <a:spcPct val="100000"/>
              </a:lnSpc>
              <a:spcBef>
                <a:spcPts val="1600"/>
              </a:spcBef>
              <a:spcAft>
                <a:spcPts val="0"/>
              </a:spcAft>
              <a:buSzPts val="1300"/>
              <a:buFont typeface="Nunito Light"/>
              <a:buChar char="●"/>
              <a:defRPr/>
            </a:lvl7pPr>
            <a:lvl8pPr marL="3657600" lvl="7" indent="-311150" rtl="0">
              <a:lnSpc>
                <a:spcPct val="100000"/>
              </a:lnSpc>
              <a:spcBef>
                <a:spcPts val="1600"/>
              </a:spcBef>
              <a:spcAft>
                <a:spcPts val="0"/>
              </a:spcAft>
              <a:buSzPts val="1300"/>
              <a:buFont typeface="Nunito Light"/>
              <a:buChar char="○"/>
              <a:defRPr/>
            </a:lvl8pPr>
            <a:lvl9pPr marL="4114800" lvl="8" indent="-330200" rtl="0">
              <a:lnSpc>
                <a:spcPct val="100000"/>
              </a:lnSpc>
              <a:spcBef>
                <a:spcPts val="1600"/>
              </a:spcBef>
              <a:spcAft>
                <a:spcPts val="1600"/>
              </a:spcAft>
              <a:buSzPts val="1600"/>
              <a:buFont typeface="Nunito Light"/>
              <a:buChar char="■"/>
              <a:defRPr/>
            </a:lvl9pPr>
          </a:lstStyle>
          <a:p>
            <a:endParaRPr/>
          </a:p>
        </p:txBody>
      </p:sp>
      <p:sp>
        <p:nvSpPr>
          <p:cNvPr id="235" name="Google Shape;235;p26"/>
          <p:cNvSpPr txBox="1">
            <a:spLocks noGrp="1"/>
          </p:cNvSpPr>
          <p:nvPr>
            <p:ph type="title"/>
          </p:nvPr>
        </p:nvSpPr>
        <p:spPr>
          <a:xfrm>
            <a:off x="1133900" y="922175"/>
            <a:ext cx="6363600" cy="9003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800"/>
              <a:buNone/>
              <a:defRPr sz="4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6">
  <p:cSld name="CUSTOM_28">
    <p:spTree>
      <p:nvGrpSpPr>
        <p:cNvPr id="1" name="Shape 249"/>
        <p:cNvGrpSpPr/>
        <p:nvPr/>
      </p:nvGrpSpPr>
      <p:grpSpPr>
        <a:xfrm>
          <a:off x="0" y="0"/>
          <a:ext cx="0" cy="0"/>
          <a:chOff x="0" y="0"/>
          <a:chExt cx="0" cy="0"/>
        </a:xfrm>
      </p:grpSpPr>
      <p:sp>
        <p:nvSpPr>
          <p:cNvPr id="250" name="Google Shape;250;p29"/>
          <p:cNvSpPr/>
          <p:nvPr/>
        </p:nvSpPr>
        <p:spPr>
          <a:xfrm rot="3214333">
            <a:off x="-5499024" y="-2387504"/>
            <a:ext cx="9471614" cy="604907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9"/>
          <p:cNvSpPr/>
          <p:nvPr/>
        </p:nvSpPr>
        <p:spPr>
          <a:xfrm rot="-4897667" flipH="1">
            <a:off x="4234767" y="-2245089"/>
            <a:ext cx="9416513" cy="60138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9"/>
          <p:cNvSpPr/>
          <p:nvPr/>
        </p:nvSpPr>
        <p:spPr>
          <a:xfrm rot="-8186671">
            <a:off x="3376801" y="4110400"/>
            <a:ext cx="6402056" cy="568910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9"/>
          <p:cNvSpPr/>
          <p:nvPr/>
        </p:nvSpPr>
        <p:spPr>
          <a:xfrm rot="-8100000">
            <a:off x="-4461235" y="1326447"/>
            <a:ext cx="7065482" cy="539636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9"/>
          <p:cNvSpPr txBox="1">
            <a:spLocks noGrp="1"/>
          </p:cNvSpPr>
          <p:nvPr>
            <p:ph type="subTitle" idx="1"/>
          </p:nvPr>
        </p:nvSpPr>
        <p:spPr>
          <a:xfrm>
            <a:off x="1536900" y="2291463"/>
            <a:ext cx="3035100" cy="138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55" name="Google Shape;255;p29"/>
          <p:cNvSpPr/>
          <p:nvPr/>
        </p:nvSpPr>
        <p:spPr>
          <a:xfrm rot="-9649797" flipH="1">
            <a:off x="6371853" y="4455308"/>
            <a:ext cx="4974547" cy="149039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9"/>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8">
  <p:cSld name="CUSTOM_39">
    <p:spTree>
      <p:nvGrpSpPr>
        <p:cNvPr id="1" name="Shape 267"/>
        <p:cNvGrpSpPr/>
        <p:nvPr/>
      </p:nvGrpSpPr>
      <p:grpSpPr>
        <a:xfrm>
          <a:off x="0" y="0"/>
          <a:ext cx="0" cy="0"/>
          <a:chOff x="0" y="0"/>
          <a:chExt cx="0" cy="0"/>
        </a:xfrm>
      </p:grpSpPr>
      <p:sp>
        <p:nvSpPr>
          <p:cNvPr id="268" name="Google Shape;268;p31"/>
          <p:cNvSpPr>
            <a:spLocks noGrp="1"/>
          </p:cNvSpPr>
          <p:nvPr>
            <p:ph type="pic" idx="2"/>
          </p:nvPr>
        </p:nvSpPr>
        <p:spPr>
          <a:xfrm>
            <a:off x="704000" y="1274500"/>
            <a:ext cx="3546900" cy="3244200"/>
          </a:xfrm>
          <a:prstGeom prst="rect">
            <a:avLst/>
          </a:prstGeom>
          <a:noFill/>
          <a:ln>
            <a:noFill/>
          </a:ln>
        </p:spPr>
      </p:sp>
      <p:sp>
        <p:nvSpPr>
          <p:cNvPr id="269" name="Google Shape;269;p31"/>
          <p:cNvSpPr/>
          <p:nvPr/>
        </p:nvSpPr>
        <p:spPr>
          <a:xfrm rot="3394465" flipH="1">
            <a:off x="5041484" y="22860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1"/>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1"/>
          <p:cNvSpPr/>
          <p:nvPr/>
        </p:nvSpPr>
        <p:spPr>
          <a:xfrm rot="955394" flipH="1">
            <a:off x="1460861" y="-2197712"/>
            <a:ext cx="7826028" cy="287783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1"/>
          <p:cNvSpPr txBox="1">
            <a:spLocks noGrp="1"/>
          </p:cNvSpPr>
          <p:nvPr>
            <p:ph type="body" idx="1"/>
          </p:nvPr>
        </p:nvSpPr>
        <p:spPr>
          <a:xfrm>
            <a:off x="4572000" y="1369325"/>
            <a:ext cx="3850500" cy="3332700"/>
          </a:xfrm>
          <a:prstGeom prst="rect">
            <a:avLst/>
          </a:prstGeom>
        </p:spPr>
        <p:txBody>
          <a:bodyPr spcFirstLastPara="1" wrap="square" lIns="91425" tIns="91425" rIns="91425" bIns="91425" anchor="ctr" anchorCtr="0">
            <a:noAutofit/>
          </a:bodyPr>
          <a:lstStyle>
            <a:lvl1pPr marL="457200" lvl="0" indent="-330200">
              <a:lnSpc>
                <a:spcPct val="100000"/>
              </a:lnSpc>
              <a:spcBef>
                <a:spcPts val="0"/>
              </a:spcBef>
              <a:spcAft>
                <a:spcPts val="0"/>
              </a:spcAft>
              <a:buSzPts val="1600"/>
              <a:buFont typeface="Nunito Light"/>
              <a:buChar char="●"/>
              <a:defRPr sz="1400"/>
            </a:lvl1pPr>
            <a:lvl2pPr marL="914400" lvl="1" indent="-330200">
              <a:lnSpc>
                <a:spcPct val="100000"/>
              </a:lnSpc>
              <a:spcBef>
                <a:spcPts val="0"/>
              </a:spcBef>
              <a:spcAft>
                <a:spcPts val="0"/>
              </a:spcAft>
              <a:buSzPts val="1600"/>
              <a:buFont typeface="Nunito Light"/>
              <a:buChar char="○"/>
              <a:defRPr/>
            </a:lvl2pPr>
            <a:lvl3pPr marL="1371600" lvl="2" indent="-323850">
              <a:lnSpc>
                <a:spcPct val="100000"/>
              </a:lnSpc>
              <a:spcBef>
                <a:spcPts val="1600"/>
              </a:spcBef>
              <a:spcAft>
                <a:spcPts val="0"/>
              </a:spcAft>
              <a:buSzPts val="1500"/>
              <a:buFont typeface="Nunito Light"/>
              <a:buChar char="■"/>
              <a:defRPr/>
            </a:lvl3pPr>
            <a:lvl4pPr marL="1828800" lvl="3" indent="-323850">
              <a:lnSpc>
                <a:spcPct val="100000"/>
              </a:lnSpc>
              <a:spcBef>
                <a:spcPts val="1600"/>
              </a:spcBef>
              <a:spcAft>
                <a:spcPts val="0"/>
              </a:spcAft>
              <a:buSzPts val="1500"/>
              <a:buFont typeface="Nunito Light"/>
              <a:buChar char="●"/>
              <a:defRPr/>
            </a:lvl4pPr>
            <a:lvl5pPr marL="2286000" lvl="4" indent="-330200">
              <a:lnSpc>
                <a:spcPct val="100000"/>
              </a:lnSpc>
              <a:spcBef>
                <a:spcPts val="1600"/>
              </a:spcBef>
              <a:spcAft>
                <a:spcPts val="0"/>
              </a:spcAft>
              <a:buSzPts val="1600"/>
              <a:buFont typeface="Nunito Light"/>
              <a:buChar char="○"/>
              <a:defRPr/>
            </a:lvl5pPr>
            <a:lvl6pPr marL="2743200" lvl="5" indent="-330200">
              <a:lnSpc>
                <a:spcPct val="100000"/>
              </a:lnSpc>
              <a:spcBef>
                <a:spcPts val="1600"/>
              </a:spcBef>
              <a:spcAft>
                <a:spcPts val="0"/>
              </a:spcAft>
              <a:buSzPts val="1600"/>
              <a:buFont typeface="Nunito Light"/>
              <a:buChar char="■"/>
              <a:defRPr/>
            </a:lvl6pPr>
            <a:lvl7pPr marL="3200400" lvl="6" indent="-311150">
              <a:lnSpc>
                <a:spcPct val="100000"/>
              </a:lnSpc>
              <a:spcBef>
                <a:spcPts val="1600"/>
              </a:spcBef>
              <a:spcAft>
                <a:spcPts val="0"/>
              </a:spcAft>
              <a:buSzPts val="1300"/>
              <a:buFont typeface="Nunito Light"/>
              <a:buChar char="●"/>
              <a:defRPr/>
            </a:lvl7pPr>
            <a:lvl8pPr marL="3657600" lvl="7" indent="-311150">
              <a:lnSpc>
                <a:spcPct val="100000"/>
              </a:lnSpc>
              <a:spcBef>
                <a:spcPts val="1600"/>
              </a:spcBef>
              <a:spcAft>
                <a:spcPts val="0"/>
              </a:spcAft>
              <a:buSzPts val="1300"/>
              <a:buFont typeface="Nunito Light"/>
              <a:buChar char="○"/>
              <a:defRPr/>
            </a:lvl8pPr>
            <a:lvl9pPr marL="4114800" lvl="8" indent="-330200">
              <a:lnSpc>
                <a:spcPct val="100000"/>
              </a:lnSpc>
              <a:spcBef>
                <a:spcPts val="1600"/>
              </a:spcBef>
              <a:spcAft>
                <a:spcPts val="1600"/>
              </a:spcAft>
              <a:buSzPts val="1600"/>
              <a:buFont typeface="Nunito Light"/>
              <a:buChar char="■"/>
              <a:defRPr/>
            </a:lvl9pPr>
          </a:lstStyle>
          <a:p>
            <a:endParaRPr/>
          </a:p>
        </p:txBody>
      </p:sp>
      <p:sp>
        <p:nvSpPr>
          <p:cNvPr id="273" name="Google Shape;273;p31"/>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800"/>
              <a:buNone/>
              <a:defRPr>
                <a:latin typeface="Kulim Park"/>
                <a:ea typeface="Kulim Park"/>
                <a:cs typeface="Kulim Park"/>
                <a:sym typeface="Kulim Park"/>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2">
  <p:cSld name="CUSTOM_19">
    <p:spTree>
      <p:nvGrpSpPr>
        <p:cNvPr id="1" name="Shape 286"/>
        <p:cNvGrpSpPr/>
        <p:nvPr/>
      </p:nvGrpSpPr>
      <p:grpSpPr>
        <a:xfrm>
          <a:off x="0" y="0"/>
          <a:ext cx="0" cy="0"/>
          <a:chOff x="0" y="0"/>
          <a:chExt cx="0" cy="0"/>
        </a:xfrm>
      </p:grpSpPr>
      <p:sp>
        <p:nvSpPr>
          <p:cNvPr id="287" name="Google Shape;287;p33"/>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8" name="Google Shape;288;p33"/>
          <p:cNvSpPr txBox="1">
            <a:spLocks noGrp="1"/>
          </p:cNvSpPr>
          <p:nvPr>
            <p:ph type="title" idx="2"/>
          </p:nvPr>
        </p:nvSpPr>
        <p:spPr>
          <a:xfrm>
            <a:off x="4572012" y="3186751"/>
            <a:ext cx="23253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9" name="Google Shape;289;p33"/>
          <p:cNvSpPr txBox="1">
            <a:spLocks noGrp="1"/>
          </p:cNvSpPr>
          <p:nvPr>
            <p:ph type="subTitle" idx="1"/>
          </p:nvPr>
        </p:nvSpPr>
        <p:spPr>
          <a:xfrm>
            <a:off x="4572037" y="3694826"/>
            <a:ext cx="2325300" cy="62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90" name="Google Shape;290;p33"/>
          <p:cNvSpPr txBox="1">
            <a:spLocks noGrp="1"/>
          </p:cNvSpPr>
          <p:nvPr>
            <p:ph type="title" idx="3"/>
          </p:nvPr>
        </p:nvSpPr>
        <p:spPr>
          <a:xfrm>
            <a:off x="4572000" y="1747851"/>
            <a:ext cx="23253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1" name="Google Shape;291;p33"/>
          <p:cNvSpPr txBox="1">
            <a:spLocks noGrp="1"/>
          </p:cNvSpPr>
          <p:nvPr>
            <p:ph type="subTitle" idx="4"/>
          </p:nvPr>
        </p:nvSpPr>
        <p:spPr>
          <a:xfrm>
            <a:off x="4572025" y="2255926"/>
            <a:ext cx="2325300" cy="62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92" name="Google Shape;292;p33"/>
          <p:cNvSpPr/>
          <p:nvPr/>
        </p:nvSpPr>
        <p:spPr>
          <a:xfrm rot="-813319" flipH="1">
            <a:off x="7030742"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05"/>
        <p:cNvGrpSpPr/>
        <p:nvPr/>
      </p:nvGrpSpPr>
      <p:grpSpPr>
        <a:xfrm>
          <a:off x="0" y="0"/>
          <a:ext cx="0" cy="0"/>
          <a:chOff x="0" y="0"/>
          <a:chExt cx="0" cy="0"/>
        </a:xfrm>
      </p:grpSpPr>
      <p:sp>
        <p:nvSpPr>
          <p:cNvPr id="306" name="Google Shape;306;p35"/>
          <p:cNvSpPr/>
          <p:nvPr/>
        </p:nvSpPr>
        <p:spPr>
          <a:xfrm rot="-10285629">
            <a:off x="6057524"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5"/>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5"/>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5"/>
          <p:cNvSpPr/>
          <p:nvPr/>
        </p:nvSpPr>
        <p:spPr>
          <a:xfrm rot="9405665">
            <a:off x="-4880740"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5"/>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5"/>
          <p:cNvSpPr/>
          <p:nvPr/>
        </p:nvSpPr>
        <p:spPr>
          <a:xfrm rot="9555841" flipH="1">
            <a:off x="780170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5"/>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3" name="Google Shape;313;p35"/>
          <p:cNvSpPr txBox="1">
            <a:spLocks noGrp="1"/>
          </p:cNvSpPr>
          <p:nvPr>
            <p:ph type="title" idx="2"/>
          </p:nvPr>
        </p:nvSpPr>
        <p:spPr>
          <a:xfrm>
            <a:off x="1164025" y="1617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4" name="Google Shape;314;p35"/>
          <p:cNvSpPr txBox="1">
            <a:spLocks noGrp="1"/>
          </p:cNvSpPr>
          <p:nvPr>
            <p:ph type="subTitle" idx="1"/>
          </p:nvPr>
        </p:nvSpPr>
        <p:spPr>
          <a:xfrm>
            <a:off x="1164075" y="2151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15" name="Google Shape;315;p35"/>
          <p:cNvSpPr txBox="1">
            <a:spLocks noGrp="1"/>
          </p:cNvSpPr>
          <p:nvPr>
            <p:ph type="title" idx="3"/>
          </p:nvPr>
        </p:nvSpPr>
        <p:spPr>
          <a:xfrm>
            <a:off x="3549063" y="1617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6" name="Google Shape;316;p35"/>
          <p:cNvSpPr txBox="1">
            <a:spLocks noGrp="1"/>
          </p:cNvSpPr>
          <p:nvPr>
            <p:ph type="subTitle" idx="4"/>
          </p:nvPr>
        </p:nvSpPr>
        <p:spPr>
          <a:xfrm>
            <a:off x="3549150" y="2151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17" name="Google Shape;317;p35"/>
          <p:cNvSpPr txBox="1">
            <a:spLocks noGrp="1"/>
          </p:cNvSpPr>
          <p:nvPr>
            <p:ph type="title" idx="5"/>
          </p:nvPr>
        </p:nvSpPr>
        <p:spPr>
          <a:xfrm>
            <a:off x="5934100" y="1617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8" name="Google Shape;318;p35"/>
          <p:cNvSpPr txBox="1">
            <a:spLocks noGrp="1"/>
          </p:cNvSpPr>
          <p:nvPr>
            <p:ph type="subTitle" idx="6"/>
          </p:nvPr>
        </p:nvSpPr>
        <p:spPr>
          <a:xfrm>
            <a:off x="5934225" y="2151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16"/>
        <p:cNvGrpSpPr/>
        <p:nvPr/>
      </p:nvGrpSpPr>
      <p:grpSpPr>
        <a:xfrm>
          <a:off x="0" y="0"/>
          <a:ext cx="0" cy="0"/>
          <a:chOff x="0" y="0"/>
          <a:chExt cx="0" cy="0"/>
        </a:xfrm>
      </p:grpSpPr>
      <p:sp>
        <p:nvSpPr>
          <p:cNvPr id="517" name="Google Shape;517;p49"/>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9"/>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9"/>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9"/>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9"/>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9"/>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23"/>
        <p:cNvGrpSpPr/>
        <p:nvPr/>
      </p:nvGrpSpPr>
      <p:grpSpPr>
        <a:xfrm>
          <a:off x="0" y="0"/>
          <a:ext cx="0" cy="0"/>
          <a:chOff x="0" y="0"/>
          <a:chExt cx="0" cy="0"/>
        </a:xfrm>
      </p:grpSpPr>
      <p:sp>
        <p:nvSpPr>
          <p:cNvPr id="524" name="Google Shape;524;p50"/>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0"/>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0"/>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0"/>
          <p:cNvSpPr/>
          <p:nvPr/>
        </p:nvSpPr>
        <p:spPr>
          <a:xfrm rot="-10285603">
            <a:off x="633647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0"/>
          <p:cNvSpPr/>
          <p:nvPr/>
        </p:nvSpPr>
        <p:spPr>
          <a:xfrm rot="-2238616">
            <a:off x="-4635728" y="470344"/>
            <a:ext cx="7826078" cy="287785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2">
  <p:cSld name="CUSTOM_36">
    <p:spTree>
      <p:nvGrpSpPr>
        <p:cNvPr id="1" name="Shape 529"/>
        <p:cNvGrpSpPr/>
        <p:nvPr/>
      </p:nvGrpSpPr>
      <p:grpSpPr>
        <a:xfrm>
          <a:off x="0" y="0"/>
          <a:ext cx="0" cy="0"/>
          <a:chOff x="0" y="0"/>
          <a:chExt cx="0" cy="0"/>
        </a:xfrm>
      </p:grpSpPr>
      <p:sp>
        <p:nvSpPr>
          <p:cNvPr id="530" name="Google Shape;530;p51"/>
          <p:cNvSpPr/>
          <p:nvPr/>
        </p:nvSpPr>
        <p:spPr>
          <a:xfrm rot="813319">
            <a:off x="-1121291"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1"/>
          <p:cNvSpPr/>
          <p:nvPr/>
        </p:nvSpPr>
        <p:spPr>
          <a:xfrm rot="-649785" flipH="1">
            <a:off x="6971064"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1"/>
          <p:cNvSpPr/>
          <p:nvPr/>
        </p:nvSpPr>
        <p:spPr>
          <a:xfrm>
            <a:off x="1620973"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1"/>
          <p:cNvSpPr/>
          <p:nvPr/>
        </p:nvSpPr>
        <p:spPr>
          <a:xfrm rot="8823147">
            <a:off x="-2081090"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1"/>
          <p:cNvSpPr/>
          <p:nvPr/>
        </p:nvSpPr>
        <p:spPr>
          <a:xfrm rot="-8100000">
            <a:off x="7300672" y="494176"/>
            <a:ext cx="4935837" cy="3769884"/>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1"/>
          <p:cNvSpPr/>
          <p:nvPr/>
        </p:nvSpPr>
        <p:spPr>
          <a:xfrm rot="649785">
            <a:off x="1211739"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1"/>
          <p:cNvSpPr/>
          <p:nvPr/>
        </p:nvSpPr>
        <p:spPr>
          <a:xfrm rot="2128845">
            <a:off x="3591964" y="-1767729"/>
            <a:ext cx="7826192" cy="287789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1"/>
          <p:cNvSpPr/>
          <p:nvPr/>
        </p:nvSpPr>
        <p:spPr>
          <a:xfrm rot="-9555807">
            <a:off x="-5772621"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3">
  <p:cSld name="CUSTOM_37">
    <p:spTree>
      <p:nvGrpSpPr>
        <p:cNvPr id="1" name="Shape 538"/>
        <p:cNvGrpSpPr/>
        <p:nvPr/>
      </p:nvGrpSpPr>
      <p:grpSpPr>
        <a:xfrm>
          <a:off x="0" y="0"/>
          <a:ext cx="0" cy="0"/>
          <a:chOff x="0" y="0"/>
          <a:chExt cx="0" cy="0"/>
        </a:xfrm>
      </p:grpSpPr>
      <p:sp>
        <p:nvSpPr>
          <p:cNvPr id="539" name="Google Shape;539;p52"/>
          <p:cNvSpPr/>
          <p:nvPr/>
        </p:nvSpPr>
        <p:spPr>
          <a:xfrm rot="-7405535" flipH="1">
            <a:off x="-3234670" y="-39524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52"/>
          <p:cNvSpPr/>
          <p:nvPr/>
        </p:nvSpPr>
        <p:spPr>
          <a:xfrm rot="10800000">
            <a:off x="-4386762" y="886054"/>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52"/>
          <p:cNvSpPr/>
          <p:nvPr/>
        </p:nvSpPr>
        <p:spPr>
          <a:xfrm rot="-6847906">
            <a:off x="-4259206" y="2193197"/>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52"/>
          <p:cNvSpPr/>
          <p:nvPr/>
        </p:nvSpPr>
        <p:spPr>
          <a:xfrm rot="10150240" flipH="1">
            <a:off x="-3503869" y="4261834"/>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2"/>
          <p:cNvSpPr/>
          <p:nvPr/>
        </p:nvSpPr>
        <p:spPr>
          <a:xfrm rot="-9986681">
            <a:off x="4621400" y="2424119"/>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2"/>
          <p:cNvSpPr/>
          <p:nvPr/>
        </p:nvSpPr>
        <p:spPr>
          <a:xfrm rot="514397">
            <a:off x="5775901" y="-348575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2"/>
          <p:cNvSpPr/>
          <p:nvPr/>
        </p:nvSpPr>
        <p:spPr>
          <a:xfrm rot="3373645">
            <a:off x="6277252" y="102828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1075" y="438900"/>
            <a:ext cx="7698600" cy="572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2800"/>
              <a:buFont typeface="Kulim Park"/>
              <a:buNone/>
              <a:defRPr sz="2800">
                <a:solidFill>
                  <a:schemeClr val="dk1"/>
                </a:solidFill>
                <a:latin typeface="Kulim Park"/>
                <a:ea typeface="Kulim Park"/>
                <a:cs typeface="Kulim Park"/>
                <a:sym typeface="Kulim Park"/>
              </a:defRPr>
            </a:lvl1pPr>
            <a:lvl2pPr lvl="1"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2pPr>
            <a:lvl3pPr lvl="2"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3pPr>
            <a:lvl4pPr lvl="3"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4pPr>
            <a:lvl5pPr lvl="4"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5pPr>
            <a:lvl6pPr lvl="5"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6pPr>
            <a:lvl7pPr lvl="6"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7pPr>
            <a:lvl8pPr lvl="7"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8pPr>
            <a:lvl9pPr lvl="8"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9pPr>
          </a:lstStyle>
          <a:p>
            <a:endParaRPr/>
          </a:p>
        </p:txBody>
      </p:sp>
      <p:sp>
        <p:nvSpPr>
          <p:cNvPr id="7" name="Google Shape;7;p1"/>
          <p:cNvSpPr txBox="1">
            <a:spLocks noGrp="1"/>
          </p:cNvSpPr>
          <p:nvPr>
            <p:ph type="body" idx="1"/>
          </p:nvPr>
        </p:nvSpPr>
        <p:spPr>
          <a:xfrm>
            <a:off x="721075" y="1351868"/>
            <a:ext cx="7701900" cy="32475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1pPr>
            <a:lvl2pPr marL="914400" lvl="1"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2pPr>
            <a:lvl3pPr marL="1371600" lvl="2"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3pPr>
            <a:lvl4pPr marL="1828800" lvl="3"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4pPr>
            <a:lvl5pPr marL="2286000" lvl="4"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5pPr>
            <a:lvl6pPr marL="2743200" lvl="5"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6pPr>
            <a:lvl7pPr marL="3200400" lvl="6"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7pPr>
            <a:lvl8pPr marL="3657600" lvl="7"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8pPr>
            <a:lvl9pPr marL="4114800" lvl="8"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5" r:id="rId6"/>
    <p:sldLayoutId id="2147483658" r:id="rId7"/>
    <p:sldLayoutId id="2147483663" r:id="rId8"/>
    <p:sldLayoutId id="2147483669" r:id="rId9"/>
    <p:sldLayoutId id="2147483672" r:id="rId10"/>
    <p:sldLayoutId id="2147483675" r:id="rId11"/>
    <p:sldLayoutId id="2147483677" r:id="rId12"/>
    <p:sldLayoutId id="2147483679" r:id="rId13"/>
    <p:sldLayoutId id="2147483681" r:id="rId14"/>
    <p:sldLayoutId id="2147483695" r:id="rId15"/>
    <p:sldLayoutId id="2147483696" r:id="rId16"/>
    <p:sldLayoutId id="2147483697" r:id="rId17"/>
    <p:sldLayoutId id="2147483698"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hyperlink" Target="https://screamguard.netlify.app/"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hyperlink" Target="https://thesai.org/Downloads/Volume9No8/Paper_9-A_Review_on_Scream_Classification_for_Situation_Understanding.pdf" TargetMode="External"/><Relationship Id="rId2" Type="http://schemas.openxmlformats.org/officeDocument/2006/relationships/notesSlide" Target="../notesSlides/notesSlide28.xml"/><Relationship Id="rId1" Type="http://schemas.openxmlformats.org/officeDocument/2006/relationships/slideLayout" Target="../slideLayouts/slideLayout11.xml"/><Relationship Id="rId5" Type="http://schemas.openxmlformats.org/officeDocument/2006/relationships/hyperlink" Target="https://jnao-nu.com/Vol.%2015%2C%20Issue.%2001%2C%20January-June%20%3A%202024/98.15.pdf" TargetMode="External"/><Relationship Id="rId4" Type="http://schemas.openxmlformats.org/officeDocument/2006/relationships/hyperlink" Target="https://www.mdpi.com/2076-3417/11/18/8425"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indusedu.org/pdfs/IJREISS/IJREISS_4399_12524.pdf" TargetMode="External"/><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hyperlink" Target="https://journals.lww.com/ijam/fulltext/2017/03020/workplace_violence_in_the_emergency_department_in.6.aspx" TargetMode="External"/><Relationship Id="rId5" Type="http://schemas.openxmlformats.org/officeDocument/2006/relationships/hyperlink" Target="https://en.wikipedia.org/wiki/Crime_in_India" TargetMode="External"/><Relationship Id="rId4" Type="http://schemas.openxmlformats.org/officeDocument/2006/relationships/hyperlink" Target="https://arxiv.org/pdf/2411.030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pic>
        <p:nvPicPr>
          <p:cNvPr id="20" name="Picture 19">
            <a:extLst>
              <a:ext uri="{FF2B5EF4-FFF2-40B4-BE49-F238E27FC236}">
                <a16:creationId xmlns:a16="http://schemas.microsoft.com/office/drawing/2014/main" id="{62CE7973-2E43-D90A-B731-16B450FCE2B3}"/>
              </a:ext>
            </a:extLst>
          </p:cNvPr>
          <p:cNvPicPr>
            <a:picLocks noChangeAspect="1"/>
          </p:cNvPicPr>
          <p:nvPr/>
        </p:nvPicPr>
        <p:blipFill>
          <a:blip r:embed="rId3"/>
          <a:srcRect l="21497" t="-44328" r="-1955" b="50603"/>
          <a:stretch/>
        </p:blipFill>
        <p:spPr>
          <a:xfrm>
            <a:off x="1973281" y="-113516"/>
            <a:ext cx="5958183" cy="908241"/>
          </a:xfrm>
          <a:prstGeom prst="rect">
            <a:avLst/>
          </a:prstGeom>
        </p:spPr>
      </p:pic>
      <p:sp>
        <p:nvSpPr>
          <p:cNvPr id="21" name="TextBox 20">
            <a:extLst>
              <a:ext uri="{FF2B5EF4-FFF2-40B4-BE49-F238E27FC236}">
                <a16:creationId xmlns:a16="http://schemas.microsoft.com/office/drawing/2014/main" id="{A207F43A-BAAB-A8D4-EDED-EB0B757ACA4F}"/>
              </a:ext>
            </a:extLst>
          </p:cNvPr>
          <p:cNvSpPr txBox="1"/>
          <p:nvPr/>
        </p:nvSpPr>
        <p:spPr>
          <a:xfrm>
            <a:off x="2287955" y="1146124"/>
            <a:ext cx="4846321" cy="646331"/>
          </a:xfrm>
          <a:prstGeom prst="rect">
            <a:avLst/>
          </a:prstGeom>
          <a:noFill/>
        </p:spPr>
        <p:txBody>
          <a:bodyPr wrap="square">
            <a:spAutoFit/>
          </a:bodyPr>
          <a:lstStyle/>
          <a:p>
            <a:pPr algn="ctr"/>
            <a:r>
              <a:rPr lang="en-US" sz="1200" dirty="0">
                <a:solidFill>
                  <a:schemeClr val="bg2">
                    <a:lumMod val="25000"/>
                  </a:schemeClr>
                </a:solidFill>
                <a:latin typeface="Gelasio Semi Bold" pitchFamily="34" charset="0"/>
                <a:ea typeface="Gelasio Semi Bold" pitchFamily="34" charset="-122"/>
                <a:cs typeface="Gelasio Semi Bold" pitchFamily="34" charset="-120"/>
              </a:rPr>
              <a:t>Department of Computer Science &amp; Engineering</a:t>
            </a:r>
          </a:p>
          <a:p>
            <a:pPr algn="ctr"/>
            <a:r>
              <a:rPr lang="en-US" sz="1200" dirty="0">
                <a:solidFill>
                  <a:schemeClr val="bg2">
                    <a:lumMod val="25000"/>
                  </a:schemeClr>
                </a:solidFill>
                <a:latin typeface="Gelasio Semi Bold" pitchFamily="34" charset="0"/>
                <a:ea typeface="Gelasio Semi Bold" pitchFamily="34" charset="-122"/>
                <a:cs typeface="Gelasio Semi Bold" pitchFamily="34" charset="-120"/>
              </a:rPr>
              <a:t>End-Sem Evaluation Mini Project : CS-604</a:t>
            </a:r>
          </a:p>
          <a:p>
            <a:pPr algn="ctr"/>
            <a:endParaRPr lang="en-US" sz="1200" dirty="0">
              <a:solidFill>
                <a:schemeClr val="bg2">
                  <a:lumMod val="10000"/>
                </a:schemeClr>
              </a:solidFill>
              <a:latin typeface="Gelasio Semi Bold" pitchFamily="34" charset="0"/>
              <a:ea typeface="Gelasio Semi Bold" pitchFamily="34" charset="-122"/>
              <a:cs typeface="Gelasio Semi Bold" pitchFamily="34" charset="-120"/>
            </a:endParaRPr>
          </a:p>
        </p:txBody>
      </p:sp>
      <p:pic>
        <p:nvPicPr>
          <p:cNvPr id="22" name="Picture 21">
            <a:extLst>
              <a:ext uri="{FF2B5EF4-FFF2-40B4-BE49-F238E27FC236}">
                <a16:creationId xmlns:a16="http://schemas.microsoft.com/office/drawing/2014/main" id="{0EF4BEB3-C4BF-879E-5D5A-8E75542FBBEB}"/>
              </a:ext>
            </a:extLst>
          </p:cNvPr>
          <p:cNvPicPr>
            <a:picLocks noChangeAspect="1"/>
          </p:cNvPicPr>
          <p:nvPr/>
        </p:nvPicPr>
        <p:blipFill>
          <a:blip r:embed="rId4"/>
          <a:stretch>
            <a:fillRect/>
          </a:stretch>
        </p:blipFill>
        <p:spPr>
          <a:xfrm>
            <a:off x="8150832" y="167513"/>
            <a:ext cx="609255" cy="797454"/>
          </a:xfrm>
          <a:prstGeom prst="rect">
            <a:avLst/>
          </a:prstGeom>
        </p:spPr>
      </p:pic>
      <p:sp>
        <p:nvSpPr>
          <p:cNvPr id="24" name="TextBox 23">
            <a:extLst>
              <a:ext uri="{FF2B5EF4-FFF2-40B4-BE49-F238E27FC236}">
                <a16:creationId xmlns:a16="http://schemas.microsoft.com/office/drawing/2014/main" id="{647AEA57-9216-8135-2821-07ADDE1F1096}"/>
              </a:ext>
            </a:extLst>
          </p:cNvPr>
          <p:cNvSpPr txBox="1"/>
          <p:nvPr/>
        </p:nvSpPr>
        <p:spPr>
          <a:xfrm>
            <a:off x="-434340" y="1632712"/>
            <a:ext cx="9142044" cy="1056700"/>
          </a:xfrm>
          <a:prstGeom prst="rect">
            <a:avLst/>
          </a:prstGeom>
          <a:noFill/>
        </p:spPr>
        <p:txBody>
          <a:bodyPr wrap="square">
            <a:spAutoFit/>
          </a:bodyPr>
          <a:lstStyle/>
          <a:p>
            <a:pPr marL="0" indent="0" algn="ctr">
              <a:lnSpc>
                <a:spcPts val="5550"/>
              </a:lnSpc>
              <a:buNone/>
            </a:pPr>
            <a:r>
              <a:rPr lang="en-US" sz="2400" spc="-150" dirty="0">
                <a:solidFill>
                  <a:srgbClr val="484237"/>
                </a:solidFill>
                <a:latin typeface="Gelasio Semi Bold" pitchFamily="34" charset="0"/>
                <a:ea typeface="Gelasio Semi Bold" pitchFamily="34" charset="-122"/>
                <a:cs typeface="Gelasio Semi Bold" pitchFamily="34" charset="-120"/>
              </a:rPr>
              <a:t>          Scream Detection and Alert System </a:t>
            </a:r>
          </a:p>
          <a:p>
            <a:pPr algn="ctr"/>
            <a:r>
              <a:rPr lang="en-US" spc="-150" dirty="0">
                <a:solidFill>
                  <a:srgbClr val="484237"/>
                </a:solidFill>
                <a:latin typeface="Gelasio Semi Bold" pitchFamily="34" charset="0"/>
                <a:ea typeface="Gelasio Semi Bold" pitchFamily="34" charset="-122"/>
                <a:cs typeface="Gelasio Semi Bold" pitchFamily="34" charset="-120"/>
              </a:rPr>
              <a:t>	</a:t>
            </a:r>
            <a:r>
              <a:rPr lang="en-US" dirty="0">
                <a:solidFill>
                  <a:schemeClr val="bg1">
                    <a:lumMod val="50000"/>
                  </a:schemeClr>
                </a:solidFill>
                <a:latin typeface="Gelasio Semi Bold" pitchFamily="34" charset="0"/>
                <a:ea typeface="Gelasio Semi Bold" pitchFamily="34" charset="-122"/>
                <a:cs typeface="Gelasio Semi Bold" pitchFamily="34" charset="-120"/>
              </a:rPr>
              <a:t>A CNN Model for Real-Time Audio Analysis and Location Based SMS Alerts</a:t>
            </a:r>
          </a:p>
        </p:txBody>
      </p:sp>
      <p:sp>
        <p:nvSpPr>
          <p:cNvPr id="26" name="TextBox 25">
            <a:extLst>
              <a:ext uri="{FF2B5EF4-FFF2-40B4-BE49-F238E27FC236}">
                <a16:creationId xmlns:a16="http://schemas.microsoft.com/office/drawing/2014/main" id="{CACAFF46-4490-ACE1-58FB-9A0488340641}"/>
              </a:ext>
            </a:extLst>
          </p:cNvPr>
          <p:cNvSpPr txBox="1"/>
          <p:nvPr/>
        </p:nvSpPr>
        <p:spPr>
          <a:xfrm>
            <a:off x="2361324" y="2534614"/>
            <a:ext cx="4699584" cy="3016210"/>
          </a:xfrm>
          <a:prstGeom prst="rect">
            <a:avLst/>
          </a:prstGeom>
          <a:noFill/>
        </p:spPr>
        <p:txBody>
          <a:bodyPr wrap="square">
            <a:spAutoFit/>
          </a:bodyPr>
          <a:lstStyle/>
          <a:p>
            <a:pPr algn="ctr"/>
            <a:r>
              <a:rPr lang="en-US" sz="2800" dirty="0">
                <a:solidFill>
                  <a:schemeClr val="bg2">
                    <a:lumMod val="10000"/>
                  </a:schemeClr>
                </a:solidFill>
                <a:latin typeface="Gelasio Semi Bold" pitchFamily="34" charset="0"/>
                <a:ea typeface="Gelasio Semi Bold" pitchFamily="34" charset="-122"/>
                <a:cs typeface="Gelasio Semi Bold" pitchFamily="34" charset="-120"/>
              </a:rPr>
              <a:t>       </a:t>
            </a:r>
          </a:p>
          <a:p>
            <a:pPr algn="ctr"/>
            <a:r>
              <a:rPr lang="en-US" sz="1800" dirty="0">
                <a:solidFill>
                  <a:schemeClr val="bg2">
                    <a:lumMod val="10000"/>
                  </a:schemeClr>
                </a:solidFill>
                <a:latin typeface="Gelasio Semi Bold" pitchFamily="34" charset="0"/>
                <a:ea typeface="Gelasio Semi Bold" pitchFamily="34" charset="-122"/>
                <a:cs typeface="Gelasio Semi Bold" pitchFamily="34" charset="-120"/>
              </a:rPr>
              <a:t>Team:</a:t>
            </a:r>
          </a:p>
          <a:p>
            <a:pPr algn="ctr"/>
            <a:r>
              <a:rPr lang="en-US" sz="1200" dirty="0">
                <a:solidFill>
                  <a:srgbClr val="746558"/>
                </a:solidFill>
                <a:latin typeface="Gelasio Semi Bold" pitchFamily="34" charset="0"/>
                <a:ea typeface="Gelasio Semi Bold" pitchFamily="34" charset="-122"/>
                <a:cs typeface="Gelasio Semi Bold" pitchFamily="34" charset="-120"/>
              </a:rPr>
              <a:t>Eslavath Aditya  (</a:t>
            </a:r>
            <a:r>
              <a:rPr lang="en-US" sz="1200" dirty="0">
                <a:solidFill>
                  <a:srgbClr val="746558"/>
                </a:solidFill>
                <a:latin typeface="Calisto MT" panose="02040603050505030304" pitchFamily="18" charset="0"/>
                <a:ea typeface="Gelasio Semi Bold" pitchFamily="34" charset="-122"/>
                <a:cs typeface="Gelasio Semi Bold" pitchFamily="34" charset="-120"/>
              </a:rPr>
              <a:t>UI22CS24</a:t>
            </a:r>
            <a:r>
              <a:rPr lang="en-US" sz="1200" dirty="0">
                <a:solidFill>
                  <a:srgbClr val="746558"/>
                </a:solidFill>
                <a:latin typeface="Gelasio Semi Bold" pitchFamily="34" charset="0"/>
                <a:ea typeface="Gelasio Semi Bold" pitchFamily="34" charset="-122"/>
                <a:cs typeface="Gelasio Semi Bold" pitchFamily="34" charset="-120"/>
              </a:rPr>
              <a:t>)</a:t>
            </a:r>
            <a:endParaRPr lang="en-US" sz="1200" dirty="0">
              <a:solidFill>
                <a:schemeClr val="bg2">
                  <a:lumMod val="10000"/>
                </a:schemeClr>
              </a:solidFill>
              <a:latin typeface="Gelasio Semi Bold" pitchFamily="34" charset="0"/>
              <a:ea typeface="Gelasio Semi Bold" pitchFamily="34" charset="-122"/>
              <a:cs typeface="Gelasio Semi Bold" pitchFamily="34" charset="-120"/>
            </a:endParaRPr>
          </a:p>
          <a:p>
            <a:pPr algn="ctr">
              <a:lnSpc>
                <a:spcPct val="150000"/>
              </a:lnSpc>
            </a:pPr>
            <a:r>
              <a:rPr lang="en-US" sz="1200" dirty="0">
                <a:solidFill>
                  <a:srgbClr val="746558"/>
                </a:solidFill>
                <a:latin typeface="Gelasio Semi Bold" pitchFamily="34" charset="0"/>
                <a:ea typeface="Gelasio Semi Bold" pitchFamily="34" charset="-122"/>
                <a:cs typeface="Gelasio Semi Bold" pitchFamily="34" charset="-120"/>
              </a:rPr>
              <a:t>Doddapneni Dhanush (</a:t>
            </a:r>
            <a:r>
              <a:rPr lang="en-US" sz="1200" dirty="0">
                <a:solidFill>
                  <a:srgbClr val="746558"/>
                </a:solidFill>
                <a:latin typeface="Calisto MT" panose="02040603050505030304" pitchFamily="18" charset="0"/>
                <a:ea typeface="Gelasio Semi Bold" pitchFamily="34" charset="-122"/>
                <a:cs typeface="Gelasio Semi Bold" pitchFamily="34" charset="-120"/>
              </a:rPr>
              <a:t>UI22CS21</a:t>
            </a:r>
            <a:r>
              <a:rPr lang="en-US" sz="1200" dirty="0">
                <a:solidFill>
                  <a:srgbClr val="746558"/>
                </a:solidFill>
                <a:latin typeface="Gelasio Semi Bold" pitchFamily="34" charset="0"/>
                <a:ea typeface="Gelasio Semi Bold" pitchFamily="34" charset="-122"/>
                <a:cs typeface="Gelasio Semi Bold" pitchFamily="34" charset="-120"/>
              </a:rPr>
              <a:t>)</a:t>
            </a:r>
          </a:p>
          <a:p>
            <a:pPr algn="ctr"/>
            <a:r>
              <a:rPr lang="en-US" sz="1200" dirty="0">
                <a:solidFill>
                  <a:srgbClr val="746558"/>
                </a:solidFill>
                <a:latin typeface="Gelasio Semi Bold" pitchFamily="34" charset="0"/>
                <a:ea typeface="Gelasio Semi Bold" pitchFamily="34" charset="-122"/>
                <a:cs typeface="Gelasio Semi Bold" pitchFamily="34" charset="-120"/>
              </a:rPr>
              <a:t>Kondeti Lara Praneeth (</a:t>
            </a:r>
            <a:r>
              <a:rPr lang="en-US" sz="1200" dirty="0">
                <a:solidFill>
                  <a:srgbClr val="746558"/>
                </a:solidFill>
                <a:latin typeface="Calisto MT" panose="02040603050505030304" pitchFamily="18" charset="0"/>
                <a:ea typeface="Gelasio Semi Bold" pitchFamily="34" charset="-122"/>
                <a:cs typeface="Gelasio Semi Bold" pitchFamily="34" charset="-120"/>
              </a:rPr>
              <a:t>UI22CS38</a:t>
            </a:r>
            <a:r>
              <a:rPr lang="en-US" sz="1200" dirty="0">
                <a:solidFill>
                  <a:srgbClr val="746558"/>
                </a:solidFill>
                <a:latin typeface="Gelasio Semi Bold" pitchFamily="34" charset="0"/>
                <a:ea typeface="Gelasio Semi Bold" pitchFamily="34" charset="-122"/>
                <a:cs typeface="Gelasio Semi Bold" pitchFamily="34" charset="-120"/>
              </a:rPr>
              <a:t>)</a:t>
            </a:r>
          </a:p>
          <a:p>
            <a:pPr algn="ctr"/>
            <a:endParaRPr lang="en-US" sz="1800" dirty="0">
              <a:solidFill>
                <a:schemeClr val="bg2">
                  <a:lumMod val="10000"/>
                </a:schemeClr>
              </a:solidFill>
              <a:latin typeface="Gelasio Semi Bold" pitchFamily="34" charset="0"/>
              <a:ea typeface="Gelasio Semi Bold" pitchFamily="34" charset="-122"/>
              <a:cs typeface="Gelasio Semi Bold" pitchFamily="34" charset="-120"/>
            </a:endParaRPr>
          </a:p>
          <a:p>
            <a:pPr algn="ctr"/>
            <a:r>
              <a:rPr lang="en-US" dirty="0">
                <a:solidFill>
                  <a:schemeClr val="bg2">
                    <a:lumMod val="10000"/>
                  </a:schemeClr>
                </a:solidFill>
                <a:latin typeface="Gelasio Semi Bold" pitchFamily="34" charset="0"/>
                <a:ea typeface="Gelasio Semi Bold" pitchFamily="34" charset="-122"/>
                <a:cs typeface="Gelasio Semi Bold" pitchFamily="34" charset="-120"/>
              </a:rPr>
              <a:t>Under the guidance of</a:t>
            </a:r>
          </a:p>
          <a:p>
            <a:pPr algn="ctr">
              <a:lnSpc>
                <a:spcPct val="150000"/>
              </a:lnSpc>
            </a:pPr>
            <a:r>
              <a:rPr lang="en-US" dirty="0">
                <a:solidFill>
                  <a:schemeClr val="bg2">
                    <a:lumMod val="50000"/>
                  </a:schemeClr>
                </a:solidFill>
                <a:latin typeface="Gelasio Semi Bold" pitchFamily="34" charset="0"/>
                <a:ea typeface="Gelasio Semi Bold" pitchFamily="34" charset="-122"/>
                <a:cs typeface="Gelasio Semi Bold" pitchFamily="34" charset="-120"/>
              </a:rPr>
              <a:t>Ms. Jiby C</a:t>
            </a:r>
            <a:endParaRPr lang="en-US" sz="1100" dirty="0">
              <a:solidFill>
                <a:schemeClr val="bg2">
                  <a:lumMod val="50000"/>
                </a:schemeClr>
              </a:solidFill>
              <a:latin typeface="Gelasio Semi Bold" pitchFamily="34" charset="0"/>
              <a:ea typeface="Gelasio Semi Bold" pitchFamily="34" charset="-122"/>
              <a:cs typeface="Gelasio Semi Bold" pitchFamily="34" charset="-120"/>
            </a:endParaRPr>
          </a:p>
          <a:p>
            <a:pPr algn="ctr">
              <a:lnSpc>
                <a:spcPct val="200000"/>
              </a:lnSpc>
            </a:pPr>
            <a:r>
              <a:rPr lang="en-US" sz="1100" dirty="0">
                <a:solidFill>
                  <a:schemeClr val="bg2">
                    <a:lumMod val="50000"/>
                  </a:schemeClr>
                </a:solidFill>
                <a:latin typeface="Gelasio Semi Bold" pitchFamily="34" charset="0"/>
                <a:ea typeface="Gelasio Semi Bold" pitchFamily="34" charset="-122"/>
                <a:cs typeface="Gelasio Semi Bold" pitchFamily="34" charset="-120"/>
              </a:rPr>
              <a:t>May, 2025</a:t>
            </a:r>
          </a:p>
          <a:p>
            <a:pPr algn="ctr"/>
            <a:r>
              <a:rPr lang="en-US" sz="2000" dirty="0">
                <a:solidFill>
                  <a:srgbClr val="484237"/>
                </a:solidFill>
                <a:latin typeface="Gelasio Semi Bold" pitchFamily="34" charset="0"/>
                <a:ea typeface="Gelasio Semi Bold" pitchFamily="34" charset="-122"/>
                <a:cs typeface="Gelasio Semi Bold" pitchFamily="34" charset="-120"/>
              </a:rPr>
              <a:t> </a:t>
            </a:r>
            <a:endParaRPr lang="en-IN" sz="2000" dirty="0"/>
          </a:p>
        </p:txBody>
      </p:sp>
      <p:sp>
        <p:nvSpPr>
          <p:cNvPr id="28" name="TextBox 27">
            <a:extLst>
              <a:ext uri="{FF2B5EF4-FFF2-40B4-BE49-F238E27FC236}">
                <a16:creationId xmlns:a16="http://schemas.microsoft.com/office/drawing/2014/main" id="{CFF0A154-B898-7286-7E28-5943D9354DA6}"/>
              </a:ext>
            </a:extLst>
          </p:cNvPr>
          <p:cNvSpPr txBox="1"/>
          <p:nvPr/>
        </p:nvSpPr>
        <p:spPr>
          <a:xfrm>
            <a:off x="-1743075" y="2063532"/>
            <a:ext cx="9284970" cy="307777"/>
          </a:xfrm>
          <a:prstGeom prst="rect">
            <a:avLst/>
          </a:prstGeom>
          <a:noFill/>
        </p:spPr>
        <p:txBody>
          <a:bodyPr wrap="square">
            <a:spAutoFit/>
          </a:bodyPr>
          <a:lstStyle/>
          <a:p>
            <a:r>
              <a:rPr lang="en-US" sz="1400" b="1" dirty="0">
                <a:solidFill>
                  <a:schemeClr val="bg2">
                    <a:lumMod val="25000"/>
                  </a:schemeClr>
                </a:solidFill>
                <a:latin typeface="Gelasio Semi Bold" pitchFamily="34" charset="0"/>
                <a:ea typeface="Gelasio Semi Bold" pitchFamily="34" charset="-122"/>
                <a:cs typeface="Gelasio Semi Bold" pitchFamily="34" charset="-120"/>
              </a:rPr>
              <a:t>g</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61"/>
          <p:cNvSpPr txBox="1">
            <a:spLocks noGrp="1"/>
          </p:cNvSpPr>
          <p:nvPr>
            <p:ph type="title" idx="15"/>
          </p:nvPr>
        </p:nvSpPr>
        <p:spPr>
          <a:xfrm flipH="1">
            <a:off x="67928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a:t>
            </a:r>
            <a:r>
              <a:rPr lang="en">
                <a:solidFill>
                  <a:schemeClr val="lt1"/>
                </a:solidFill>
              </a:rPr>
              <a:t>CONTENTS</a:t>
            </a:r>
            <a:endParaRPr/>
          </a:p>
        </p:txBody>
      </p:sp>
      <p:sp>
        <p:nvSpPr>
          <p:cNvPr id="27" name="TextBox 26">
            <a:extLst>
              <a:ext uri="{FF2B5EF4-FFF2-40B4-BE49-F238E27FC236}">
                <a16:creationId xmlns:a16="http://schemas.microsoft.com/office/drawing/2014/main" id="{9D6DBB01-A84B-5B1C-4DC0-02B6598F5546}"/>
              </a:ext>
            </a:extLst>
          </p:cNvPr>
          <p:cNvSpPr txBox="1"/>
          <p:nvPr/>
        </p:nvSpPr>
        <p:spPr>
          <a:xfrm>
            <a:off x="881200" y="1339440"/>
            <a:ext cx="8262800" cy="5298886"/>
          </a:xfrm>
          <a:prstGeom prst="rect">
            <a:avLst/>
          </a:prstGeom>
          <a:noFill/>
        </p:spPr>
        <p:txBody>
          <a:bodyPr wrap="square" numCol="2" spcCol="720000">
            <a:spAutoFit/>
          </a:bodyPr>
          <a:lstStyle/>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Problem Statement</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Current Scenario</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Objective</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Literature Survey</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Proposed System and Methodology</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Data Flow – DFD Diagram</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Technology Stack for Model Building</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Technology Stack for Android App</a:t>
            </a:r>
          </a:p>
          <a:p>
            <a:pPr marL="342900" indent="-342900">
              <a:lnSpc>
                <a:spcPts val="2850"/>
              </a:lnSpc>
              <a:buFont typeface="Wingdings" panose="05000000000000000000" pitchFamily="2" charset="2"/>
              <a:buChar char="§"/>
            </a:pPr>
            <a:endParaRPr lang="en-US" sz="1600" dirty="0">
              <a:solidFill>
                <a:srgbClr val="746558"/>
              </a:solidFill>
              <a:latin typeface="Gelasio" pitchFamily="34" charset="0"/>
              <a:ea typeface="Gelasio" pitchFamily="34" charset="-122"/>
              <a:cs typeface="Gelasio" pitchFamily="34" charset="-120"/>
            </a:endParaRPr>
          </a:p>
          <a:p>
            <a:pPr>
              <a:lnSpc>
                <a:spcPts val="2850"/>
              </a:lnSpc>
            </a:pPr>
            <a:endParaRPr lang="en-US" sz="1600" dirty="0">
              <a:solidFill>
                <a:srgbClr val="746558"/>
              </a:solidFill>
              <a:latin typeface="Gelasio" pitchFamily="34" charset="0"/>
              <a:ea typeface="Gelasio" pitchFamily="34" charset="-122"/>
              <a:cs typeface="Gelasio" pitchFamily="34" charset="-120"/>
            </a:endParaRPr>
          </a:p>
          <a:p>
            <a:pPr>
              <a:lnSpc>
                <a:spcPts val="2850"/>
              </a:lnSpc>
            </a:pPr>
            <a:endParaRPr lang="en-US" sz="1600" dirty="0">
              <a:solidFill>
                <a:srgbClr val="746558"/>
              </a:solidFill>
              <a:latin typeface="Gelasio" pitchFamily="34" charset="0"/>
              <a:ea typeface="Gelasio" pitchFamily="34" charset="-122"/>
              <a:cs typeface="Gelasio" pitchFamily="34" charset="-120"/>
            </a:endParaRPr>
          </a:p>
          <a:p>
            <a:pPr>
              <a:lnSpc>
                <a:spcPts val="2850"/>
              </a:lnSpc>
            </a:pPr>
            <a:endParaRPr lang="en-US" sz="1600" dirty="0">
              <a:solidFill>
                <a:srgbClr val="746558"/>
              </a:solidFill>
              <a:latin typeface="Gelasio" pitchFamily="34" charset="0"/>
              <a:ea typeface="Gelasio" pitchFamily="34" charset="-122"/>
              <a:cs typeface="Gelasio" pitchFamily="34" charset="-120"/>
            </a:endParaRPr>
          </a:p>
          <a:p>
            <a:pPr>
              <a:lnSpc>
                <a:spcPts val="2850"/>
              </a:lnSpc>
            </a:pPr>
            <a:endParaRPr lang="en-US" sz="1600" dirty="0">
              <a:solidFill>
                <a:srgbClr val="746558"/>
              </a:solidFill>
              <a:latin typeface="Gelasio" pitchFamily="34" charset="0"/>
              <a:ea typeface="Gelasio" pitchFamily="34" charset="-122"/>
              <a:cs typeface="Gelasio" pitchFamily="34" charset="-120"/>
            </a:endParaRPr>
          </a:p>
          <a:p>
            <a:pPr>
              <a:lnSpc>
                <a:spcPts val="2850"/>
              </a:lnSpc>
            </a:pPr>
            <a:endParaRPr lang="en-US" sz="1600" dirty="0">
              <a:solidFill>
                <a:srgbClr val="746558"/>
              </a:solidFill>
              <a:latin typeface="Gelasio" pitchFamily="34" charset="0"/>
              <a:ea typeface="Gelasio" pitchFamily="34" charset="-122"/>
              <a:cs typeface="Gelasio" pitchFamily="34" charset="-120"/>
            </a:endParaRP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Android App Integration</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Android App UI</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Website UI</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Validation</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Current Challenges</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Future Enhancements</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Conclusion</a:t>
            </a:r>
          </a:p>
          <a:p>
            <a:pPr marL="342900" indent="-342900">
              <a:lnSpc>
                <a:spcPts val="2850"/>
              </a:lnSpc>
              <a:buFont typeface="Wingdings" panose="05000000000000000000" pitchFamily="2" charset="2"/>
              <a:buChar char="§"/>
            </a:pPr>
            <a:r>
              <a:rPr lang="en-US" sz="1600" dirty="0">
                <a:solidFill>
                  <a:srgbClr val="746558"/>
                </a:solidFill>
                <a:latin typeface="Gelasio" pitchFamily="34" charset="0"/>
                <a:ea typeface="Gelasio" pitchFamily="34" charset="-122"/>
                <a:cs typeface="Gelasio" pitchFamily="34" charset="-120"/>
              </a:rPr>
              <a:t>References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612"/>
        <p:cNvGrpSpPr/>
        <p:nvPr/>
      </p:nvGrpSpPr>
      <p:grpSpPr>
        <a:xfrm>
          <a:off x="0" y="0"/>
          <a:ext cx="0" cy="0"/>
          <a:chOff x="0" y="0"/>
          <a:chExt cx="0" cy="0"/>
        </a:xfrm>
      </p:grpSpPr>
      <p:sp>
        <p:nvSpPr>
          <p:cNvPr id="614" name="Google Shape;614;p62"/>
          <p:cNvSpPr/>
          <p:nvPr/>
        </p:nvSpPr>
        <p:spPr>
          <a:xfrm>
            <a:off x="348650" y="804585"/>
            <a:ext cx="4180934" cy="4180628"/>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62"/>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62"/>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 Placeholder 2">
            <a:extLst>
              <a:ext uri="{FF2B5EF4-FFF2-40B4-BE49-F238E27FC236}">
                <a16:creationId xmlns:a16="http://schemas.microsoft.com/office/drawing/2014/main" id="{4D470EB4-C9E7-1B0E-1EDC-100E45DEE588}"/>
              </a:ext>
            </a:extLst>
          </p:cNvPr>
          <p:cNvSpPr>
            <a:spLocks noGrp="1"/>
          </p:cNvSpPr>
          <p:nvPr>
            <p:ph type="body" idx="1"/>
          </p:nvPr>
        </p:nvSpPr>
        <p:spPr>
          <a:xfrm>
            <a:off x="4571925" y="1095600"/>
            <a:ext cx="3850500" cy="3332700"/>
          </a:xfrm>
        </p:spPr>
        <p:txBody>
          <a:bodyPr/>
          <a:lstStyle/>
          <a:p>
            <a:pPr marL="285750" indent="-285750" algn="just">
              <a:buFont typeface="Wingdings" panose="05000000000000000000" pitchFamily="2" charset="2"/>
              <a:buChar char="§"/>
            </a:pPr>
            <a:r>
              <a:rPr lang="en-US" dirty="0">
                <a:solidFill>
                  <a:schemeClr val="bg2">
                    <a:lumMod val="50000"/>
                  </a:schemeClr>
                </a:solidFill>
                <a:latin typeface="Gelasio" pitchFamily="34" charset="0"/>
                <a:ea typeface="Sans Serif Collection" panose="020B0502040504020204" pitchFamily="34" charset="0"/>
                <a:cs typeface="Gelasio" pitchFamily="34" charset="-120"/>
              </a:rPr>
              <a:t>Emergency situations often go unnoticed, resulting in delayed response and potential harm.</a:t>
            </a:r>
          </a:p>
          <a:p>
            <a:pPr marL="342900" indent="-342900" algn="just">
              <a:buFont typeface="Wingdings" panose="05000000000000000000" pitchFamily="2" charset="2"/>
              <a:buChar char="§"/>
            </a:pPr>
            <a:endParaRPr lang="en-US" dirty="0">
              <a:solidFill>
                <a:schemeClr val="bg2">
                  <a:lumMod val="50000"/>
                </a:schemeClr>
              </a:solidFill>
              <a:latin typeface="Gelasio" pitchFamily="34" charset="0"/>
              <a:ea typeface="Sans Serif Collection" panose="020B0502040504020204" pitchFamily="34" charset="0"/>
              <a:cs typeface="Gelasio" pitchFamily="34" charset="-120"/>
            </a:endParaRPr>
          </a:p>
          <a:p>
            <a:pPr marL="285750" indent="-285750" algn="just">
              <a:buFont typeface="Wingdings" panose="05000000000000000000" pitchFamily="2" charset="2"/>
              <a:buChar char="§"/>
            </a:pPr>
            <a:r>
              <a:rPr lang="en-US" dirty="0">
                <a:solidFill>
                  <a:schemeClr val="bg2">
                    <a:lumMod val="50000"/>
                  </a:schemeClr>
                </a:solidFill>
                <a:latin typeface="Gelasio" pitchFamily="34" charset="0"/>
                <a:ea typeface="Sans Serif Collection" panose="020B0502040504020204" pitchFamily="34" charset="0"/>
                <a:cs typeface="Gelasio" pitchFamily="34" charset="-120"/>
              </a:rPr>
              <a:t>Existing solutions may struggle with:</a:t>
            </a:r>
          </a:p>
          <a:p>
            <a:pPr marL="742950" lvl="1" indent="-285750">
              <a:buFont typeface="Arial" panose="020B0604020202020204" pitchFamily="34" charset="0"/>
              <a:buChar char="•"/>
            </a:pPr>
            <a:r>
              <a:rPr lang="en-US" sz="1400" dirty="0">
                <a:solidFill>
                  <a:schemeClr val="bg2">
                    <a:lumMod val="50000"/>
                  </a:schemeClr>
                </a:solidFill>
                <a:latin typeface="Gelasio" pitchFamily="34" charset="0"/>
                <a:ea typeface="Sans Serif Collection" panose="020B0502040504020204" pitchFamily="34" charset="0"/>
                <a:cs typeface="Gelasio" pitchFamily="34" charset="-120"/>
              </a:rPr>
              <a:t>Detecting distress screams accurately in noisy environments.</a:t>
            </a:r>
          </a:p>
          <a:p>
            <a:pPr marL="742950" lvl="1" indent="-285750">
              <a:buFont typeface="Arial" panose="020B0604020202020204" pitchFamily="34" charset="0"/>
              <a:buChar char="•"/>
            </a:pPr>
            <a:r>
              <a:rPr lang="en-US" sz="1400" dirty="0">
                <a:solidFill>
                  <a:schemeClr val="bg2">
                    <a:lumMod val="50000"/>
                  </a:schemeClr>
                </a:solidFill>
                <a:latin typeface="Gelasio" pitchFamily="34" charset="0"/>
                <a:ea typeface="Sans Serif Collection" panose="020B0502040504020204" pitchFamily="34" charset="0"/>
                <a:cs typeface="Gelasio" pitchFamily="34" charset="-120"/>
              </a:rPr>
              <a:t>Providing real-time alerts with precise location details.</a:t>
            </a:r>
          </a:p>
          <a:p>
            <a:pPr marL="342900" indent="-342900" algn="just">
              <a:buFont typeface="Wingdings" panose="05000000000000000000" pitchFamily="2" charset="2"/>
              <a:buChar char="§"/>
            </a:pPr>
            <a:endParaRPr lang="en-US" dirty="0">
              <a:solidFill>
                <a:schemeClr val="bg2">
                  <a:lumMod val="50000"/>
                </a:schemeClr>
              </a:solidFill>
              <a:latin typeface="Gelasio" pitchFamily="34" charset="0"/>
              <a:ea typeface="Sans Serif Collection" panose="020B0502040504020204" pitchFamily="34" charset="0"/>
              <a:cs typeface="Gelasio" pitchFamily="34" charset="-120"/>
            </a:endParaRPr>
          </a:p>
          <a:p>
            <a:pPr marL="285750" indent="-285750" algn="just">
              <a:buFont typeface="Wingdings" panose="05000000000000000000" pitchFamily="2" charset="2"/>
              <a:buChar char="§"/>
            </a:pPr>
            <a:r>
              <a:rPr lang="en-US" dirty="0">
                <a:solidFill>
                  <a:schemeClr val="bg2">
                    <a:lumMod val="50000"/>
                  </a:schemeClr>
                </a:solidFill>
                <a:latin typeface="Gelasio" pitchFamily="34" charset="0"/>
                <a:ea typeface="Sans Serif Collection" panose="020B0502040504020204" pitchFamily="34" charset="0"/>
                <a:cs typeface="Gelasio" pitchFamily="34" charset="-120"/>
              </a:rPr>
              <a:t>A reliable system that identifies screams and alerts emergency contacts is essential for improving safety.</a:t>
            </a:r>
            <a:endParaRPr lang="en-US" dirty="0">
              <a:solidFill>
                <a:schemeClr val="bg1">
                  <a:lumMod val="50000"/>
                </a:schemeClr>
              </a:solidFill>
            </a:endParaRPr>
          </a:p>
          <a:p>
            <a:endParaRPr lang="en-IN" sz="1000" dirty="0"/>
          </a:p>
        </p:txBody>
      </p:sp>
      <p:sp>
        <p:nvSpPr>
          <p:cNvPr id="5" name="Title 4">
            <a:extLst>
              <a:ext uri="{FF2B5EF4-FFF2-40B4-BE49-F238E27FC236}">
                <a16:creationId xmlns:a16="http://schemas.microsoft.com/office/drawing/2014/main" id="{96024956-CDC5-6AE6-820D-8944800A5D34}"/>
              </a:ext>
            </a:extLst>
          </p:cNvPr>
          <p:cNvSpPr>
            <a:spLocks noGrp="1"/>
          </p:cNvSpPr>
          <p:nvPr>
            <p:ph type="title"/>
          </p:nvPr>
        </p:nvSpPr>
        <p:spPr/>
        <p:txBody>
          <a:bodyPr/>
          <a:lstStyle/>
          <a:p>
            <a:r>
              <a:rPr lang="en-US" sz="2800" dirty="0">
                <a:solidFill>
                  <a:srgbClr val="484237"/>
                </a:solidFill>
                <a:latin typeface="Gelasio Semi Bold" pitchFamily="34" charset="0"/>
                <a:ea typeface="Gelasio Semi Bold" pitchFamily="34" charset="-122"/>
                <a:cs typeface="Gelasio Semi Bold" pitchFamily="34" charset="-120"/>
              </a:rPr>
              <a:t>Problem Statement</a:t>
            </a:r>
            <a:br>
              <a:rPr lang="en-US" sz="2800" dirty="0"/>
            </a:br>
            <a:endParaRPr lang="en-IN" dirty="0"/>
          </a:p>
        </p:txBody>
      </p:sp>
      <p:pic>
        <p:nvPicPr>
          <p:cNvPr id="45" name="Picture Placeholder 44">
            <a:extLst>
              <a:ext uri="{FF2B5EF4-FFF2-40B4-BE49-F238E27FC236}">
                <a16:creationId xmlns:a16="http://schemas.microsoft.com/office/drawing/2014/main" id="{0BFB00B6-819E-BCD2-9FFB-0A7B1A124C94}"/>
              </a:ext>
            </a:extLst>
          </p:cNvPr>
          <p:cNvPicPr>
            <a:picLocks noGrp="1" noChangeAspect="1"/>
          </p:cNvPicPr>
          <p:nvPr>
            <p:ph type="pic" idx="2"/>
          </p:nvPr>
        </p:nvPicPr>
        <p:blipFill>
          <a:blip r:embed="rId3"/>
          <a:srcRect l="13536" r="13536"/>
          <a:stretch>
            <a:fillRect/>
          </a:stretch>
        </p:blip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63"/>
          <p:cNvSpPr txBox="1">
            <a:spLocks noGrp="1"/>
          </p:cNvSpPr>
          <p:nvPr>
            <p:ph type="title"/>
          </p:nvPr>
        </p:nvSpPr>
        <p:spPr>
          <a:xfrm>
            <a:off x="1133900" y="922175"/>
            <a:ext cx="6363600" cy="900300"/>
          </a:xfrm>
          <a:prstGeom prst="rect">
            <a:avLst/>
          </a:prstGeom>
        </p:spPr>
        <p:txBody>
          <a:bodyPr spcFirstLastPara="1" wrap="square" lIns="91425" tIns="91425" rIns="91425" bIns="91425" anchor="ctr" anchorCtr="0">
            <a:noAutofit/>
          </a:bodyPr>
          <a:lstStyle/>
          <a:p>
            <a:pPr marL="0" indent="0">
              <a:lnSpc>
                <a:spcPts val="5550"/>
              </a:lnSpc>
              <a:buNone/>
            </a:pPr>
            <a:r>
              <a:rPr lang="en-US" sz="4000" dirty="0">
                <a:solidFill>
                  <a:srgbClr val="484237"/>
                </a:solidFill>
                <a:latin typeface="Gelasio Semi Bold" pitchFamily="34" charset="0"/>
                <a:ea typeface="Gelasio Semi Bold" pitchFamily="34" charset="-122"/>
                <a:cs typeface="Gelasio Semi Bold" pitchFamily="34" charset="-120"/>
              </a:rPr>
              <a:t>Current Scenario</a:t>
            </a:r>
            <a:endParaRPr lang="en-US" sz="4000" dirty="0"/>
          </a:p>
        </p:txBody>
      </p:sp>
      <p:sp>
        <p:nvSpPr>
          <p:cNvPr id="624" name="Google Shape;624;p63"/>
          <p:cNvSpPr txBox="1">
            <a:spLocks noGrp="1"/>
          </p:cNvSpPr>
          <p:nvPr>
            <p:ph type="body" idx="1"/>
          </p:nvPr>
        </p:nvSpPr>
        <p:spPr>
          <a:xfrm>
            <a:off x="1133900" y="1822475"/>
            <a:ext cx="7400500" cy="2352600"/>
          </a:xfrm>
          <a:prstGeom prst="rect">
            <a:avLst/>
          </a:prstGeom>
        </p:spPr>
        <p:txBody>
          <a:bodyPr spcFirstLastPara="1" wrap="square" lIns="91425" tIns="91425" rIns="91425" bIns="91425" anchor="ctr" anchorCtr="0">
            <a:noAutofit/>
          </a:bodyPr>
          <a:lstStyle/>
          <a:p>
            <a:pPr marL="0" lvl="0" indent="0">
              <a:buSzPts val="1100"/>
              <a:buNone/>
            </a:pPr>
            <a:r>
              <a:rPr lang="en-US" sz="1600" dirty="0"/>
              <a:t>Public safety is a growing concern in India, with crimes like harassment and assault happening frequently—one crime against women every 3 minutes, a kidnapping every 8 minutes, and a violent crime every 2 minutes. While scream detection systems exist, most lack real-time alerts and accurate location tracking. Our system fills this gap by detecting distress screams and instantly sharing the victim’s location, enabling faster assistance and aiming to make India safer.</a:t>
            </a:r>
            <a:endParaRPr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24"/>
                                        </p:tgtEl>
                                        <p:attrNameLst>
                                          <p:attrName>style.visibility</p:attrName>
                                        </p:attrNameLst>
                                      </p:cBhvr>
                                      <p:to>
                                        <p:strVal val="visible"/>
                                      </p:to>
                                    </p:set>
                                    <p:anim calcmode="lin" valueType="num">
                                      <p:cBhvr additive="base">
                                        <p:cTn id="7" dur="1000"/>
                                        <p:tgtEl>
                                          <p:spTgt spid="62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2">
          <a:extLst>
            <a:ext uri="{FF2B5EF4-FFF2-40B4-BE49-F238E27FC236}">
              <a16:creationId xmlns:a16="http://schemas.microsoft.com/office/drawing/2014/main" id="{00E96D5A-F365-5C59-0972-BC3365190314}"/>
            </a:ext>
          </a:extLst>
        </p:cNvPr>
        <p:cNvGrpSpPr/>
        <p:nvPr/>
      </p:nvGrpSpPr>
      <p:grpSpPr>
        <a:xfrm>
          <a:off x="0" y="0"/>
          <a:ext cx="0" cy="0"/>
          <a:chOff x="0" y="0"/>
          <a:chExt cx="0" cy="0"/>
        </a:xfrm>
      </p:grpSpPr>
      <p:sp>
        <p:nvSpPr>
          <p:cNvPr id="623" name="Google Shape;623;p63">
            <a:extLst>
              <a:ext uri="{FF2B5EF4-FFF2-40B4-BE49-F238E27FC236}">
                <a16:creationId xmlns:a16="http://schemas.microsoft.com/office/drawing/2014/main" id="{2AA79DE9-2460-88DF-6B52-555918D7AD77}"/>
              </a:ext>
            </a:extLst>
          </p:cNvPr>
          <p:cNvSpPr txBox="1">
            <a:spLocks noGrp="1"/>
          </p:cNvSpPr>
          <p:nvPr>
            <p:ph type="title"/>
          </p:nvPr>
        </p:nvSpPr>
        <p:spPr>
          <a:xfrm>
            <a:off x="517260" y="353267"/>
            <a:ext cx="6363600" cy="900300"/>
          </a:xfrm>
          <a:prstGeom prst="rect">
            <a:avLst/>
          </a:prstGeom>
        </p:spPr>
        <p:txBody>
          <a:bodyPr spcFirstLastPara="1" wrap="square" lIns="91425" tIns="91425" rIns="91425" bIns="91425" anchor="ctr" anchorCtr="0">
            <a:noAutofit/>
          </a:bodyPr>
          <a:lstStyle/>
          <a:p>
            <a:pPr marL="0" indent="0">
              <a:lnSpc>
                <a:spcPts val="5550"/>
              </a:lnSpc>
              <a:buNone/>
            </a:pPr>
            <a:r>
              <a:rPr lang="en-US" sz="4000" dirty="0">
                <a:solidFill>
                  <a:srgbClr val="484237"/>
                </a:solidFill>
                <a:latin typeface="Gelasio Semi Bold" pitchFamily="34" charset="0"/>
                <a:ea typeface="Gelasio Semi Bold" pitchFamily="34" charset="-122"/>
                <a:cs typeface="Gelasio Semi Bold" pitchFamily="34" charset="-120"/>
              </a:rPr>
              <a:t>Objective</a:t>
            </a:r>
            <a:endParaRPr lang="en-US" sz="4000" dirty="0"/>
          </a:p>
        </p:txBody>
      </p:sp>
      <p:sp>
        <p:nvSpPr>
          <p:cNvPr id="624" name="Google Shape;624;p63">
            <a:extLst>
              <a:ext uri="{FF2B5EF4-FFF2-40B4-BE49-F238E27FC236}">
                <a16:creationId xmlns:a16="http://schemas.microsoft.com/office/drawing/2014/main" id="{3A66B9FF-E0E6-2919-96E5-F4CE2BF76EED}"/>
              </a:ext>
            </a:extLst>
          </p:cNvPr>
          <p:cNvSpPr txBox="1">
            <a:spLocks noGrp="1"/>
          </p:cNvSpPr>
          <p:nvPr>
            <p:ph type="body" idx="1"/>
          </p:nvPr>
        </p:nvSpPr>
        <p:spPr>
          <a:xfrm>
            <a:off x="388621" y="1638431"/>
            <a:ext cx="6223800" cy="2397605"/>
          </a:xfrm>
          <a:prstGeom prst="rect">
            <a:avLst/>
          </a:prstGeom>
        </p:spPr>
        <p:txBody>
          <a:bodyPr spcFirstLastPara="1" wrap="square" lIns="91425" tIns="91425" rIns="91425" bIns="91425" anchor="ctr" anchorCtr="0">
            <a:noAutofit/>
          </a:bodyPr>
          <a:lstStyle/>
          <a:p>
            <a:pPr marL="285750" indent="-285750">
              <a:buFont typeface="Wingdings" panose="05000000000000000000" pitchFamily="2" charset="2"/>
              <a:buChar char="§"/>
            </a:pPr>
            <a:r>
              <a:rPr lang="en-US" sz="1600" dirty="0">
                <a:solidFill>
                  <a:srgbClr val="746558"/>
                </a:solidFill>
                <a:latin typeface="Manrope" panose="020B0604020202020204" charset="0"/>
                <a:ea typeface="Gelasio" pitchFamily="34" charset="-122"/>
                <a:cs typeface="Gelasio" pitchFamily="34" charset="-120"/>
              </a:rPr>
              <a:t>Develop and evaluate a robust scream detection system.</a:t>
            </a:r>
          </a:p>
          <a:p>
            <a:pPr marL="285750" indent="-285750">
              <a:buFont typeface="Wingdings" panose="05000000000000000000" pitchFamily="2" charset="2"/>
              <a:buChar char="§"/>
            </a:pPr>
            <a:endParaRPr lang="en-US" sz="1600" dirty="0">
              <a:solidFill>
                <a:srgbClr val="746558"/>
              </a:solidFill>
              <a:latin typeface="Manrope" panose="020B0604020202020204" charset="0"/>
              <a:ea typeface="Gelasio" pitchFamily="34" charset="-122"/>
              <a:cs typeface="Gelasio" pitchFamily="34" charset="-120"/>
            </a:endParaRPr>
          </a:p>
          <a:p>
            <a:pPr marL="285750" indent="-285750">
              <a:buFont typeface="Wingdings" panose="05000000000000000000" pitchFamily="2" charset="2"/>
              <a:buChar char="§"/>
            </a:pPr>
            <a:r>
              <a:rPr lang="en-US" sz="1600" dirty="0">
                <a:solidFill>
                  <a:srgbClr val="746558"/>
                </a:solidFill>
                <a:latin typeface="Manrope" panose="020B0604020202020204" charset="0"/>
                <a:ea typeface="Gelasio" pitchFamily="34" charset="-122"/>
                <a:cs typeface="Gelasio" pitchFamily="34" charset="-120"/>
              </a:rPr>
              <a:t>Integrate real-time audio processing and location tracking to enable emergency response.</a:t>
            </a:r>
          </a:p>
          <a:p>
            <a:pPr marL="285750" indent="-285750">
              <a:buFont typeface="Wingdings" panose="05000000000000000000" pitchFamily="2" charset="2"/>
              <a:buChar char="§"/>
            </a:pPr>
            <a:endParaRPr lang="en-US" sz="1600" dirty="0">
              <a:solidFill>
                <a:srgbClr val="746558"/>
              </a:solidFill>
              <a:latin typeface="Manrope" panose="020B0604020202020204" charset="0"/>
              <a:ea typeface="Gelasio" pitchFamily="34" charset="-122"/>
              <a:cs typeface="Gelasio" pitchFamily="34" charset="-120"/>
            </a:endParaRPr>
          </a:p>
          <a:p>
            <a:pPr marL="285750" indent="-285750">
              <a:buFont typeface="Wingdings" panose="05000000000000000000" pitchFamily="2" charset="2"/>
              <a:buChar char="§"/>
            </a:pPr>
            <a:r>
              <a:rPr lang="en-US" sz="1600" dirty="0">
                <a:solidFill>
                  <a:srgbClr val="746558"/>
                </a:solidFill>
                <a:latin typeface="Manrope" panose="020B0604020202020204" charset="0"/>
                <a:ea typeface="Gelasio" pitchFamily="34" charset="-122"/>
                <a:cs typeface="Gelasio" pitchFamily="34" charset="-120"/>
              </a:rPr>
              <a:t>Design a user-friendly Android application.</a:t>
            </a:r>
          </a:p>
          <a:p>
            <a:pPr marL="285750" indent="-285750">
              <a:buFont typeface="Wingdings" panose="05000000000000000000" pitchFamily="2" charset="2"/>
              <a:buChar char="§"/>
            </a:pPr>
            <a:endParaRPr lang="en-US" sz="1600" dirty="0">
              <a:solidFill>
                <a:srgbClr val="746558"/>
              </a:solidFill>
              <a:latin typeface="Manrope" panose="020B0604020202020204" charset="0"/>
              <a:ea typeface="Gelasio" pitchFamily="34" charset="-122"/>
              <a:cs typeface="Gelasio" pitchFamily="34" charset="-120"/>
            </a:endParaRPr>
          </a:p>
          <a:p>
            <a:pPr marL="285750" indent="-285750">
              <a:buFont typeface="Wingdings" panose="05000000000000000000" pitchFamily="2" charset="2"/>
              <a:buChar char="§"/>
            </a:pPr>
            <a:r>
              <a:rPr lang="en-US" sz="1600" dirty="0">
                <a:solidFill>
                  <a:srgbClr val="746558"/>
                </a:solidFill>
                <a:latin typeface="Manrope" panose="020B0604020202020204" charset="0"/>
                <a:ea typeface="Gelasio" pitchFamily="34" charset="-122"/>
                <a:cs typeface="Gelasio" pitchFamily="34" charset="-120"/>
              </a:rPr>
              <a:t>Design a Webpage where users can download our application.</a:t>
            </a:r>
          </a:p>
          <a:p>
            <a:pPr marL="285750" indent="-285750">
              <a:buFont typeface="Wingdings" panose="05000000000000000000" pitchFamily="2" charset="2"/>
              <a:buChar char="§"/>
            </a:pPr>
            <a:endParaRPr lang="en-US" sz="1600" dirty="0">
              <a:solidFill>
                <a:srgbClr val="746558"/>
              </a:solidFill>
              <a:latin typeface="Manrope" panose="020B0604020202020204" charset="0"/>
              <a:ea typeface="Gelasio" pitchFamily="34" charset="-122"/>
              <a:cs typeface="Gelasio" pitchFamily="34" charset="-120"/>
            </a:endParaRPr>
          </a:p>
        </p:txBody>
      </p:sp>
      <p:pic>
        <p:nvPicPr>
          <p:cNvPr id="2" name="Image 0" descr="Phone alert">
            <a:extLst>
              <a:ext uri="{FF2B5EF4-FFF2-40B4-BE49-F238E27FC236}">
                <a16:creationId xmlns:a16="http://schemas.microsoft.com/office/drawing/2014/main" id="{7ABA6ED2-4CC1-3A36-1A73-E56B6229410C}"/>
              </a:ext>
            </a:extLst>
          </p:cNvPr>
          <p:cNvPicPr>
            <a:picLocks noChangeAspect="1"/>
          </p:cNvPicPr>
          <p:nvPr/>
        </p:nvPicPr>
        <p:blipFill>
          <a:blip r:embed="rId3"/>
          <a:srcRect l="12521" t="24255" r="14867" b="9569"/>
          <a:stretch/>
        </p:blipFill>
        <p:spPr>
          <a:xfrm>
            <a:off x="6987540" y="1431007"/>
            <a:ext cx="1767839" cy="2940426"/>
          </a:xfrm>
          <a:prstGeom prst="rect">
            <a:avLst/>
          </a:prstGeom>
        </p:spPr>
      </p:pic>
      <p:sp>
        <p:nvSpPr>
          <p:cNvPr id="4" name="TextBox 3">
            <a:extLst>
              <a:ext uri="{FF2B5EF4-FFF2-40B4-BE49-F238E27FC236}">
                <a16:creationId xmlns:a16="http://schemas.microsoft.com/office/drawing/2014/main" id="{8AFA61FC-9BFB-D031-6A7F-4B462F551905}"/>
              </a:ext>
            </a:extLst>
          </p:cNvPr>
          <p:cNvSpPr txBox="1"/>
          <p:nvPr/>
        </p:nvSpPr>
        <p:spPr>
          <a:xfrm>
            <a:off x="6814819" y="4420901"/>
            <a:ext cx="2739390" cy="369332"/>
          </a:xfrm>
          <a:prstGeom prst="rect">
            <a:avLst/>
          </a:prstGeom>
          <a:noFill/>
        </p:spPr>
        <p:txBody>
          <a:bodyPr wrap="square">
            <a:spAutoFit/>
          </a:bodyPr>
          <a:lstStyle/>
          <a:p>
            <a:r>
              <a:rPr lang="en-US" sz="900" dirty="0">
                <a:solidFill>
                  <a:srgbClr val="746558"/>
                </a:solidFill>
                <a:latin typeface="Gelasio" panose="020B0604020202020204" charset="0"/>
                <a:cs typeface="Gelasio" panose="020B0604020202020204" charset="0"/>
              </a:rPr>
              <a:t>Figure 1.1: Sample Illustration of an Alert Message Displayed on the phone</a:t>
            </a:r>
            <a:endParaRPr lang="en-IN" sz="900" dirty="0">
              <a:solidFill>
                <a:srgbClr val="746558"/>
              </a:solidFill>
              <a:latin typeface="Gelasio" panose="020B0604020202020204" charset="0"/>
              <a:cs typeface="Gelasio" panose="020B0604020202020204" charset="0"/>
            </a:endParaRPr>
          </a:p>
        </p:txBody>
      </p:sp>
    </p:spTree>
    <p:extLst>
      <p:ext uri="{BB962C8B-B14F-4D97-AF65-F5344CB8AC3E}">
        <p14:creationId xmlns:p14="http://schemas.microsoft.com/office/powerpoint/2010/main" val="409810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24"/>
                                        </p:tgtEl>
                                        <p:attrNameLst>
                                          <p:attrName>style.visibility</p:attrName>
                                        </p:attrNameLst>
                                      </p:cBhvr>
                                      <p:to>
                                        <p:strVal val="visible"/>
                                      </p:to>
                                    </p:set>
                                    <p:anim calcmode="lin" valueType="num">
                                      <p:cBhvr additive="base">
                                        <p:cTn id="7" dur="1000"/>
                                        <p:tgtEl>
                                          <p:spTgt spid="62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31" name="Google Shape;631;p64"/>
          <p:cNvSpPr/>
          <p:nvPr/>
        </p:nvSpPr>
        <p:spPr>
          <a:xfrm rot="10800000">
            <a:off x="4756162" y="976004"/>
            <a:ext cx="2449433" cy="2449433"/>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64"/>
          <p:cNvSpPr/>
          <p:nvPr/>
        </p:nvSpPr>
        <p:spPr>
          <a:xfrm flipH="1">
            <a:off x="1995067" y="1072150"/>
            <a:ext cx="2449433" cy="2449433"/>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IN" dirty="0"/>
          </a:p>
        </p:txBody>
      </p:sp>
      <p:sp>
        <p:nvSpPr>
          <p:cNvPr id="633" name="Google Shape;633;p64"/>
          <p:cNvSpPr/>
          <p:nvPr/>
        </p:nvSpPr>
        <p:spPr>
          <a:xfrm rot="-4376525" flipH="1">
            <a:off x="5282846" y="2467084"/>
            <a:ext cx="4772728" cy="424129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64"/>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p>
            <a:pPr marL="0" indent="0">
              <a:lnSpc>
                <a:spcPts val="5550"/>
              </a:lnSpc>
              <a:buNone/>
            </a:pPr>
            <a:r>
              <a:rPr lang="en-US" sz="2800" dirty="0">
                <a:solidFill>
                  <a:srgbClr val="484237"/>
                </a:solidFill>
                <a:latin typeface="Gelasio Semi Bold" pitchFamily="34" charset="0"/>
                <a:ea typeface="Gelasio Semi Bold" pitchFamily="34" charset="-122"/>
                <a:cs typeface="Gelasio Semi Bold" pitchFamily="34" charset="-120"/>
              </a:rPr>
              <a:t>Literature Survey</a:t>
            </a:r>
            <a:br>
              <a:rPr lang="en-US" sz="2800" dirty="0">
                <a:solidFill>
                  <a:srgbClr val="484237"/>
                </a:solidFill>
                <a:latin typeface="Gelasio Semi Bold" pitchFamily="34" charset="0"/>
                <a:ea typeface="Gelasio Semi Bold" pitchFamily="34" charset="-122"/>
                <a:cs typeface="Gelasio Semi Bold" pitchFamily="34" charset="-120"/>
              </a:rPr>
            </a:br>
            <a:endParaRPr lang="en-US" sz="2800" dirty="0"/>
          </a:p>
        </p:txBody>
      </p:sp>
      <p:graphicFrame>
        <p:nvGraphicFramePr>
          <p:cNvPr id="10" name="Table 9">
            <a:extLst>
              <a:ext uri="{FF2B5EF4-FFF2-40B4-BE49-F238E27FC236}">
                <a16:creationId xmlns:a16="http://schemas.microsoft.com/office/drawing/2014/main" id="{5356C6B0-4727-4FFF-B78C-932C1CE66000}"/>
              </a:ext>
            </a:extLst>
          </p:cNvPr>
          <p:cNvGraphicFramePr>
            <a:graphicFrameLocks noGrp="1"/>
          </p:cNvGraphicFramePr>
          <p:nvPr>
            <p:extLst>
              <p:ext uri="{D42A27DB-BD31-4B8C-83A1-F6EECF244321}">
                <p14:modId xmlns:p14="http://schemas.microsoft.com/office/powerpoint/2010/main" val="3592366039"/>
              </p:ext>
            </p:extLst>
          </p:nvPr>
        </p:nvGraphicFramePr>
        <p:xfrm>
          <a:off x="843280" y="814875"/>
          <a:ext cx="7395861" cy="4023360"/>
        </p:xfrm>
        <a:graphic>
          <a:graphicData uri="http://schemas.openxmlformats.org/drawingml/2006/table">
            <a:tbl>
              <a:tblPr firstRow="1" bandRow="1">
                <a:tableStyleId>{B5600F13-CF2D-4DA7-90BE-4EADB61D465A}</a:tableStyleId>
              </a:tblPr>
              <a:tblGrid>
                <a:gridCol w="1216865">
                  <a:extLst>
                    <a:ext uri="{9D8B030D-6E8A-4147-A177-3AD203B41FA5}">
                      <a16:colId xmlns:a16="http://schemas.microsoft.com/office/drawing/2014/main" val="2833332197"/>
                    </a:ext>
                  </a:extLst>
                </a:gridCol>
                <a:gridCol w="844275">
                  <a:extLst>
                    <a:ext uri="{9D8B030D-6E8A-4147-A177-3AD203B41FA5}">
                      <a16:colId xmlns:a16="http://schemas.microsoft.com/office/drawing/2014/main" val="3479613871"/>
                    </a:ext>
                  </a:extLst>
                </a:gridCol>
                <a:gridCol w="626691">
                  <a:extLst>
                    <a:ext uri="{9D8B030D-6E8A-4147-A177-3AD203B41FA5}">
                      <a16:colId xmlns:a16="http://schemas.microsoft.com/office/drawing/2014/main" val="3904938865"/>
                    </a:ext>
                  </a:extLst>
                </a:gridCol>
                <a:gridCol w="1237229">
                  <a:extLst>
                    <a:ext uri="{9D8B030D-6E8A-4147-A177-3AD203B41FA5}">
                      <a16:colId xmlns:a16="http://schemas.microsoft.com/office/drawing/2014/main" val="2317554810"/>
                    </a:ext>
                  </a:extLst>
                </a:gridCol>
                <a:gridCol w="1469526">
                  <a:extLst>
                    <a:ext uri="{9D8B030D-6E8A-4147-A177-3AD203B41FA5}">
                      <a16:colId xmlns:a16="http://schemas.microsoft.com/office/drawing/2014/main" val="3225713899"/>
                    </a:ext>
                  </a:extLst>
                </a:gridCol>
                <a:gridCol w="2001275">
                  <a:extLst>
                    <a:ext uri="{9D8B030D-6E8A-4147-A177-3AD203B41FA5}">
                      <a16:colId xmlns:a16="http://schemas.microsoft.com/office/drawing/2014/main" val="2355026725"/>
                    </a:ext>
                  </a:extLst>
                </a:gridCol>
              </a:tblGrid>
              <a:tr h="165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dirty="0">
                          <a:ln>
                            <a:noFill/>
                          </a:ln>
                          <a:solidFill>
                            <a:schemeClr val="bg2">
                              <a:lumMod val="10000"/>
                            </a:schemeClr>
                          </a:solidFill>
                          <a:effectLst/>
                          <a:uLnTx/>
                          <a:uFillTx/>
                        </a:rPr>
                        <a:t>Publication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u="none" strike="noStrike" kern="1200" cap="none" spc="0" normalizeH="0" baseline="0" noProof="0" dirty="0">
                          <a:ln>
                            <a:noFill/>
                          </a:ln>
                          <a:solidFill>
                            <a:schemeClr val="bg2">
                              <a:lumMod val="10000"/>
                            </a:schemeClr>
                          </a:solidFill>
                          <a:effectLst/>
                          <a:uLnTx/>
                          <a:uFillTx/>
                        </a:rPr>
                        <a:t>Identifiers</a:t>
                      </a:r>
                      <a:endParaRPr lang="en-IN" sz="1000" b="0" dirty="0">
                        <a:solidFill>
                          <a:schemeClr val="bg2">
                            <a:lumMod val="10000"/>
                          </a:schemeClr>
                        </a:solidFill>
                      </a:endParaRPr>
                    </a:p>
                    <a:p>
                      <a:endParaRPr lang="en-IN" sz="1000" b="0" dirty="0">
                        <a:solidFill>
                          <a:schemeClr val="tx1"/>
                        </a:solidFill>
                        <a:latin typeface="Gelasio Semi Bold" panose="020B0604020202020204" charset="0"/>
                        <a:cs typeface="Gelasio Semi Bold" panose="020B0604020202020204" charset="0"/>
                      </a:endParaRPr>
                    </a:p>
                  </a:txBody>
                  <a:tcPr/>
                </a:tc>
                <a:tc>
                  <a:txBody>
                    <a:bodyPr/>
                    <a:lstStyle/>
                    <a:p>
                      <a:r>
                        <a:rPr kumimoji="0" lang="en-IN" sz="1000" b="0" u="none" strike="noStrike" kern="1200" cap="none" spc="0" normalizeH="0" baseline="0" noProof="0" dirty="0">
                          <a:ln>
                            <a:noFill/>
                          </a:ln>
                          <a:solidFill>
                            <a:schemeClr val="bg2">
                              <a:lumMod val="10000"/>
                            </a:schemeClr>
                          </a:solidFill>
                          <a:effectLst/>
                          <a:uLnTx/>
                          <a:uFillTx/>
                        </a:rPr>
                        <a:t>Authors</a:t>
                      </a:r>
                      <a:endParaRPr lang="en-IN" sz="1000" b="0" dirty="0">
                        <a:solidFill>
                          <a:schemeClr val="tx1"/>
                        </a:solidFill>
                        <a:latin typeface="Gelasio Semi Bold" panose="020B0604020202020204" charset="0"/>
                        <a:cs typeface="Gelasio Semi Bold" panose="020B0604020202020204" charset="0"/>
                      </a:endParaRPr>
                    </a:p>
                  </a:txBody>
                  <a:tcPr/>
                </a:tc>
                <a:tc>
                  <a:txBody>
                    <a:bodyPr/>
                    <a:lstStyle/>
                    <a:p>
                      <a:r>
                        <a:rPr kumimoji="0" lang="en-IN" sz="1000" b="0" u="none" strike="noStrike" kern="1200" cap="none" spc="0" normalizeH="0" baseline="0" noProof="0" dirty="0">
                          <a:ln>
                            <a:noFill/>
                          </a:ln>
                          <a:solidFill>
                            <a:schemeClr val="tx1"/>
                          </a:solidFill>
                          <a:effectLst/>
                          <a:uLnTx/>
                          <a:uFillTx/>
                        </a:rPr>
                        <a:t>Year</a:t>
                      </a:r>
                      <a:endParaRPr lang="en-IN" sz="1000" b="0" dirty="0">
                        <a:solidFill>
                          <a:schemeClr val="tx1"/>
                        </a:solidFill>
                        <a:latin typeface="Gelasio Semi Bold" panose="020B0604020202020204" charset="0"/>
                        <a:cs typeface="Gelasio Semi Bold" panose="020B0604020202020204" charset="0"/>
                      </a:endParaRPr>
                    </a:p>
                  </a:txBody>
                  <a:tcPr/>
                </a:tc>
                <a:tc>
                  <a:txBody>
                    <a:bodyPr/>
                    <a:lstStyle/>
                    <a:p>
                      <a:r>
                        <a:rPr kumimoji="0" lang="en-IN" sz="1000" b="0" u="none" strike="noStrike" kern="1200" cap="none" spc="0" normalizeH="0" baseline="0" noProof="0" dirty="0">
                          <a:ln>
                            <a:noFill/>
                          </a:ln>
                          <a:solidFill>
                            <a:schemeClr val="tx1"/>
                          </a:solidFill>
                          <a:effectLst/>
                          <a:uLnTx/>
                          <a:uFillTx/>
                        </a:rPr>
                        <a:t>Title</a:t>
                      </a:r>
                      <a:endParaRPr lang="en-IN" sz="1000" b="0" dirty="0">
                        <a:solidFill>
                          <a:schemeClr val="tx1"/>
                        </a:solidFill>
                        <a:latin typeface="Gelasio Semi Bold" panose="020B0604020202020204" charset="0"/>
                        <a:cs typeface="Gelasio Semi Bold" panose="020B0604020202020204" charset="0"/>
                      </a:endParaRPr>
                    </a:p>
                  </a:txBody>
                  <a:tcPr/>
                </a:tc>
                <a:tc>
                  <a:txBody>
                    <a:bodyPr/>
                    <a:lstStyle/>
                    <a:p>
                      <a:r>
                        <a:rPr kumimoji="0" lang="en-IN" sz="1000" b="0" u="none" strike="noStrike" kern="1200" cap="none" spc="0" normalizeH="0" baseline="0" noProof="0" dirty="0">
                          <a:ln>
                            <a:noFill/>
                          </a:ln>
                          <a:solidFill>
                            <a:schemeClr val="tx1"/>
                          </a:solidFill>
                          <a:effectLst/>
                          <a:uLnTx/>
                          <a:uFillTx/>
                        </a:rPr>
                        <a:t>Algorithms</a:t>
                      </a:r>
                      <a:endParaRPr lang="en-IN" sz="1000" b="0" dirty="0">
                        <a:solidFill>
                          <a:schemeClr val="tx1"/>
                        </a:solidFill>
                        <a:latin typeface="Gelasio Semi Bold" panose="020B0604020202020204" charset="0"/>
                        <a:cs typeface="Gelasio Semi Bold" panose="020B0604020202020204" charset="0"/>
                      </a:endParaRPr>
                    </a:p>
                  </a:txBody>
                  <a:tcPr/>
                </a:tc>
                <a:tc>
                  <a:txBody>
                    <a:bodyPr/>
                    <a:lstStyle/>
                    <a:p>
                      <a:r>
                        <a:rPr kumimoji="0" lang="en-IN" sz="1000" b="0" u="none" strike="noStrike" kern="1200" cap="none" spc="0" normalizeH="0" baseline="0" noProof="0" dirty="0">
                          <a:ln>
                            <a:noFill/>
                          </a:ln>
                          <a:solidFill>
                            <a:schemeClr val="tx1"/>
                          </a:solidFill>
                          <a:effectLst/>
                          <a:uLnTx/>
                          <a:uFillTx/>
                        </a:rPr>
                        <a:t>Research Gap</a:t>
                      </a:r>
                      <a:endParaRPr lang="en-IN" sz="1000" b="0" dirty="0">
                        <a:solidFill>
                          <a:schemeClr val="tx1"/>
                        </a:solidFill>
                        <a:latin typeface="Gelasio Semi Bold" panose="020B0604020202020204" charset="0"/>
                        <a:cs typeface="Gelasio Semi Bold" panose="020B0604020202020204" charset="0"/>
                      </a:endParaRPr>
                    </a:p>
                  </a:txBody>
                  <a:tcPr/>
                </a:tc>
                <a:extLst>
                  <a:ext uri="{0D108BD9-81ED-4DB2-BD59-A6C34878D82A}">
                    <a16:rowId xmlns:a16="http://schemas.microsoft.com/office/drawing/2014/main" val="318832998"/>
                  </a:ext>
                </a:extLst>
              </a:tr>
              <a:tr h="773258">
                <a:tc>
                  <a:txBody>
                    <a:bodyPr/>
                    <a:lstStyle/>
                    <a:p>
                      <a:r>
                        <a:rPr lang="en-IN" sz="1000" b="0" dirty="0">
                          <a:solidFill>
                            <a:srgbClr val="746558"/>
                          </a:solidFill>
                        </a:rPr>
                        <a:t>IJACSA: </a:t>
                      </a:r>
                    </a:p>
                    <a:p>
                      <a:r>
                        <a:rPr lang="en-IN" sz="1000" b="0" dirty="0">
                          <a:solidFill>
                            <a:srgbClr val="746558"/>
                          </a:solidFill>
                        </a:rPr>
                        <a:t>Vol. 9, No. 8, 2018</a:t>
                      </a:r>
                      <a:endParaRPr lang="en-IN" sz="1000" b="0" dirty="0">
                        <a:solidFill>
                          <a:srgbClr val="746558"/>
                        </a:solidFill>
                        <a:latin typeface="Gelasio" panose="020B0604020202020204" charset="0"/>
                        <a:cs typeface="Gelasio" panose="020B0604020202020204" charset="0"/>
                      </a:endParaRPr>
                    </a:p>
                  </a:txBody>
                  <a:tcPr/>
                </a:tc>
                <a:tc>
                  <a:txBody>
                    <a:bodyPr/>
                    <a:lstStyle/>
                    <a:p>
                      <a:r>
                        <a:rPr lang="en-IN" sz="1000" b="0" dirty="0" err="1">
                          <a:solidFill>
                            <a:srgbClr val="746558"/>
                          </a:solidFill>
                        </a:rPr>
                        <a:t>Yusnita</a:t>
                      </a:r>
                      <a:r>
                        <a:rPr lang="en-IN" sz="1000" b="0" dirty="0">
                          <a:solidFill>
                            <a:srgbClr val="746558"/>
                          </a:solidFill>
                        </a:rPr>
                        <a:t> Yusof, Aini Hussain, Mohd </a:t>
                      </a:r>
                      <a:r>
                        <a:rPr lang="en-IN" sz="1000" b="0" dirty="0" err="1">
                          <a:solidFill>
                            <a:srgbClr val="746558"/>
                          </a:solidFill>
                        </a:rPr>
                        <a:t>Marzuki</a:t>
                      </a:r>
                      <a:r>
                        <a:rPr lang="en-IN" sz="1000" b="0" dirty="0">
                          <a:solidFill>
                            <a:srgbClr val="746558"/>
                          </a:solidFill>
                        </a:rPr>
                        <a:t> Mustafa, Mohd Zikri Razak</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IN" sz="1000" b="0" u="none" strike="noStrike" kern="1200" cap="none" spc="0" normalizeH="0" baseline="0" noProof="0" dirty="0">
                          <a:ln>
                            <a:noFill/>
                          </a:ln>
                          <a:solidFill>
                            <a:srgbClr val="746558"/>
                          </a:solidFill>
                          <a:effectLst/>
                          <a:uLnTx/>
                          <a:uFillTx/>
                        </a:rPr>
                        <a:t>2018</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A Review on Scream Classification for Situation Understanding</a:t>
                      </a:r>
                      <a:endParaRPr lang="en-IN" sz="1000" b="0" dirty="0">
                        <a:solidFill>
                          <a:srgbClr val="746558"/>
                        </a:solidFill>
                        <a:latin typeface="Gelasio" panose="020B0604020202020204" charset="0"/>
                        <a:cs typeface="Gelasio" panose="020B0604020202020204" charset="0"/>
                      </a:endParaRPr>
                    </a:p>
                  </a:txBody>
                  <a:tcPr/>
                </a:tc>
                <a:tc>
                  <a:txBody>
                    <a:bodyPr/>
                    <a:lstStyle/>
                    <a:p>
                      <a:pPr algn="l"/>
                      <a:r>
                        <a:rPr kumimoji="0" lang="en-IN" sz="1000" b="0" u="none" strike="noStrike" kern="1200" cap="none" spc="0" normalizeH="0" baseline="0" noProof="0" dirty="0">
                          <a:ln>
                            <a:noFill/>
                          </a:ln>
                          <a:solidFill>
                            <a:srgbClr val="746558"/>
                          </a:solidFill>
                          <a:effectLst/>
                          <a:uLnTx/>
                          <a:uFillTx/>
                        </a:rPr>
                        <a:t>Support Vector Machines (SVM), Deep Neural Networks (DNN), Hidden Markov Models (HMM)</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No alert mechanism</a:t>
                      </a:r>
                    </a:p>
                    <a:p>
                      <a:r>
                        <a:rPr kumimoji="0" lang="en-US" sz="1000" b="0" u="none" strike="noStrike" kern="1200" cap="none" spc="0" normalizeH="0" baseline="0" noProof="0" dirty="0">
                          <a:ln>
                            <a:noFill/>
                          </a:ln>
                          <a:solidFill>
                            <a:srgbClr val="746558"/>
                          </a:solidFill>
                          <a:effectLst/>
                          <a:uLnTx/>
                          <a:uFillTx/>
                        </a:rPr>
                        <a:t>Lacks real-time listening and location tracking</a:t>
                      </a:r>
                      <a:endParaRPr kumimoji="0" lang="en-US" sz="1000" b="0" i="0" u="none" strike="noStrike" kern="1200" cap="none" spc="0" normalizeH="0" baseline="0" noProof="0" dirty="0">
                        <a:ln>
                          <a:noFill/>
                        </a:ln>
                        <a:solidFill>
                          <a:srgbClr val="746558"/>
                        </a:solidFill>
                        <a:effectLst/>
                        <a:uLnTx/>
                        <a:uFillTx/>
                        <a:latin typeface="Gelasio" panose="020B0604020202020204" charset="0"/>
                        <a:ea typeface="+mn-ea"/>
                        <a:cs typeface="Gelasio" panose="020B0604020202020204" charset="0"/>
                      </a:endParaRPr>
                    </a:p>
                  </a:txBody>
                  <a:tcPr/>
                </a:tc>
                <a:extLst>
                  <a:ext uri="{0D108BD9-81ED-4DB2-BD59-A6C34878D82A}">
                    <a16:rowId xmlns:a16="http://schemas.microsoft.com/office/drawing/2014/main" val="691967715"/>
                  </a:ext>
                </a:extLst>
              </a:tr>
              <a:tr h="895178">
                <a:tc>
                  <a:txBody>
                    <a:bodyPr/>
                    <a:lstStyle/>
                    <a:p>
                      <a:r>
                        <a:rPr lang="en-IN" sz="1000" b="0" dirty="0">
                          <a:solidFill>
                            <a:srgbClr val="746558"/>
                          </a:solidFill>
                        </a:rPr>
                        <a:t>MDPI:</a:t>
                      </a:r>
                    </a:p>
                    <a:p>
                      <a:r>
                        <a:rPr lang="en-IN" sz="1000" b="0" dirty="0">
                          <a:solidFill>
                            <a:srgbClr val="746558"/>
                          </a:solidFill>
                        </a:rPr>
                        <a:t>2076-3417</a:t>
                      </a:r>
                      <a:endParaRPr lang="en-IN" sz="1000" b="0" dirty="0">
                        <a:solidFill>
                          <a:srgbClr val="746558"/>
                        </a:solidFill>
                        <a:latin typeface="Gelasio" panose="020B0604020202020204" charset="0"/>
                        <a:cs typeface="Gelasio" panose="020B0604020202020204" charset="0"/>
                      </a:endParaRPr>
                    </a:p>
                  </a:txBody>
                  <a:tcPr/>
                </a:tc>
                <a:tc>
                  <a:txBody>
                    <a:bodyPr/>
                    <a:lstStyle/>
                    <a:p>
                      <a:r>
                        <a:rPr lang="en-IN" sz="1000" b="0" dirty="0">
                          <a:solidFill>
                            <a:srgbClr val="746558"/>
                          </a:solidFill>
                        </a:rPr>
                        <a:t> Abdulaziz </a:t>
                      </a:r>
                      <a:r>
                        <a:rPr lang="en-IN" sz="1000" b="0" dirty="0" err="1">
                          <a:solidFill>
                            <a:srgbClr val="746558"/>
                          </a:solidFill>
                        </a:rPr>
                        <a:t>Alhujaili</a:t>
                      </a:r>
                      <a:r>
                        <a:rPr lang="en-IN" sz="1000" b="0" dirty="0">
                          <a:solidFill>
                            <a:srgbClr val="746558"/>
                          </a:solidFill>
                        </a:rPr>
                        <a:t>, Fahad S, Md </a:t>
                      </a:r>
                      <a:r>
                        <a:rPr lang="en-IN" sz="1000" b="0" dirty="0" err="1">
                          <a:solidFill>
                            <a:srgbClr val="746558"/>
                          </a:solidFill>
                        </a:rPr>
                        <a:t>Aldossari</a:t>
                      </a:r>
                      <a:r>
                        <a:rPr lang="en-IN" sz="1000" b="0" dirty="0">
                          <a:solidFill>
                            <a:srgbClr val="746558"/>
                          </a:solidFill>
                        </a:rPr>
                        <a:t>, Hussain M. Alharbi</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IN" sz="1000" b="0" u="none" strike="noStrike" kern="1200" cap="none" spc="0" normalizeH="0" baseline="0" noProof="0" dirty="0">
                          <a:ln>
                            <a:noFill/>
                          </a:ln>
                          <a:solidFill>
                            <a:srgbClr val="746558"/>
                          </a:solidFill>
                          <a:effectLst/>
                          <a:uLnTx/>
                          <a:uFillTx/>
                        </a:rPr>
                        <a:t>2021</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 An Initial Machine Learning-Based Victim's Scream Detection in Fire Emergencies</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Support Vector Machines (SVM), </a:t>
                      </a:r>
                    </a:p>
                    <a:p>
                      <a:r>
                        <a:rPr kumimoji="0" lang="en-US" sz="1000" b="0" u="none" strike="noStrike" kern="1200" cap="none" spc="0" normalizeH="0" baseline="0" noProof="0" dirty="0">
                          <a:ln>
                            <a:noFill/>
                          </a:ln>
                          <a:solidFill>
                            <a:srgbClr val="746558"/>
                          </a:solidFill>
                          <a:effectLst/>
                          <a:uLnTx/>
                          <a:uFillTx/>
                        </a:rPr>
                        <a:t>Long Short-Term Memory (LSTM)</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No integrated alert system for emergency response,</a:t>
                      </a:r>
                    </a:p>
                    <a:p>
                      <a:r>
                        <a:rPr kumimoji="0" lang="en-US" sz="1000" b="0" u="none" strike="noStrike" kern="1200" cap="none" spc="0" normalizeH="0" baseline="0" noProof="0" dirty="0">
                          <a:ln>
                            <a:noFill/>
                          </a:ln>
                          <a:solidFill>
                            <a:srgbClr val="746558"/>
                          </a:solidFill>
                          <a:effectLst/>
                          <a:uLnTx/>
                          <a:uFillTx/>
                        </a:rPr>
                        <a:t>No location tracking for victims</a:t>
                      </a:r>
                      <a:endParaRPr lang="en-IN" sz="1000" b="0" dirty="0">
                        <a:solidFill>
                          <a:srgbClr val="746558"/>
                        </a:solidFill>
                        <a:latin typeface="Gelasio" panose="020B0604020202020204" charset="0"/>
                        <a:cs typeface="Gelasio" panose="020B0604020202020204" charset="0"/>
                      </a:endParaRPr>
                    </a:p>
                  </a:txBody>
                  <a:tcPr/>
                </a:tc>
                <a:extLst>
                  <a:ext uri="{0D108BD9-81ED-4DB2-BD59-A6C34878D82A}">
                    <a16:rowId xmlns:a16="http://schemas.microsoft.com/office/drawing/2014/main" val="3053765886"/>
                  </a:ext>
                </a:extLst>
              </a:tr>
              <a:tr h="681818">
                <a:tc>
                  <a:txBody>
                    <a:bodyPr/>
                    <a:lstStyle/>
                    <a:p>
                      <a:r>
                        <a:rPr lang="en-IN" sz="1000" b="0" dirty="0">
                          <a:solidFill>
                            <a:srgbClr val="746558"/>
                          </a:solidFill>
                        </a:rPr>
                        <a:t>ISSN : 1906-9685</a:t>
                      </a:r>
                      <a:endParaRPr lang="en-IN" sz="1000" b="0" dirty="0">
                        <a:solidFill>
                          <a:srgbClr val="746558"/>
                        </a:solidFill>
                        <a:latin typeface="Gelasio" panose="020B0604020202020204" charset="0"/>
                        <a:cs typeface="Gelasio" panose="020B0604020202020204" charset="0"/>
                      </a:endParaRPr>
                    </a:p>
                  </a:txBody>
                  <a:tcPr/>
                </a:tc>
                <a:tc>
                  <a:txBody>
                    <a:bodyPr/>
                    <a:lstStyle/>
                    <a:p>
                      <a:r>
                        <a:rPr lang="en-IN" sz="1000" b="0" dirty="0" err="1">
                          <a:solidFill>
                            <a:srgbClr val="746558"/>
                          </a:solidFill>
                        </a:rPr>
                        <a:t>Dr.A.Shiva</a:t>
                      </a:r>
                      <a:r>
                        <a:rPr lang="en-IN" sz="1000" b="0" dirty="0">
                          <a:solidFill>
                            <a:srgbClr val="746558"/>
                          </a:solidFill>
                        </a:rPr>
                        <a:t> Kumar, </a:t>
                      </a:r>
                      <a:r>
                        <a:rPr lang="en-IN" sz="1000" b="0" dirty="0" err="1">
                          <a:solidFill>
                            <a:srgbClr val="746558"/>
                          </a:solidFill>
                        </a:rPr>
                        <a:t>P.Manogna</a:t>
                      </a:r>
                      <a:r>
                        <a:rPr lang="en-IN" sz="1000" b="0" dirty="0">
                          <a:solidFill>
                            <a:srgbClr val="746558"/>
                          </a:solidFill>
                        </a:rPr>
                        <a:t> Reddy, </a:t>
                      </a:r>
                      <a:r>
                        <a:rPr lang="en-IN" sz="1000" b="0" dirty="0" err="1">
                          <a:solidFill>
                            <a:srgbClr val="746558"/>
                          </a:solidFill>
                        </a:rPr>
                        <a:t>Akshitha</a:t>
                      </a:r>
                      <a:r>
                        <a:rPr lang="en-IN" sz="1000" b="0" dirty="0">
                          <a:solidFill>
                            <a:srgbClr val="746558"/>
                          </a:solidFill>
                        </a:rPr>
                        <a:t>, </a:t>
                      </a:r>
                      <a:r>
                        <a:rPr lang="en-IN" sz="1000" b="0" dirty="0" err="1">
                          <a:solidFill>
                            <a:srgbClr val="746558"/>
                          </a:solidFill>
                        </a:rPr>
                        <a:t>G.Sowmya</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IN" sz="1000" b="0" u="none" strike="noStrike" kern="1200" cap="none" spc="0" normalizeH="0" baseline="0" noProof="0" dirty="0">
                          <a:ln>
                            <a:noFill/>
                          </a:ln>
                          <a:solidFill>
                            <a:srgbClr val="746558"/>
                          </a:solidFill>
                          <a:effectLst/>
                          <a:uLnTx/>
                          <a:uFillTx/>
                        </a:rPr>
                        <a:t>2024</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Human Scream Detection Using SVM and MLP</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IN" sz="1000" b="0" u="none" strike="noStrike" kern="1200" cap="none" spc="0" normalizeH="0" baseline="0" noProof="0" dirty="0">
                          <a:ln>
                            <a:noFill/>
                          </a:ln>
                          <a:solidFill>
                            <a:srgbClr val="746558"/>
                          </a:solidFill>
                          <a:effectLst/>
                          <a:uLnTx/>
                          <a:uFillTx/>
                        </a:rPr>
                        <a:t>Support Vector Machine (SVM), Multilayer Perceptron (MLP)</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No SMS alert system integrated</a:t>
                      </a:r>
                    </a:p>
                    <a:p>
                      <a:r>
                        <a:rPr kumimoji="0" lang="en-US" sz="1000" b="0" u="none" strike="noStrike" kern="1200" cap="none" spc="0" normalizeH="0" baseline="0" noProof="0" dirty="0">
                          <a:ln>
                            <a:noFill/>
                          </a:ln>
                          <a:solidFill>
                            <a:srgbClr val="746558"/>
                          </a:solidFill>
                          <a:effectLst/>
                          <a:uLnTx/>
                          <a:uFillTx/>
                        </a:rPr>
                        <a:t>No location retrieval mechanism</a:t>
                      </a:r>
                    </a:p>
                    <a:p>
                      <a:r>
                        <a:rPr kumimoji="0" lang="en-US" sz="1000" b="0" u="none" strike="noStrike" kern="1200" cap="none" spc="0" normalizeH="0" baseline="0" noProof="0" dirty="0">
                          <a:ln>
                            <a:noFill/>
                          </a:ln>
                          <a:solidFill>
                            <a:srgbClr val="746558"/>
                          </a:solidFill>
                          <a:effectLst/>
                          <a:uLnTx/>
                          <a:uFillTx/>
                        </a:rPr>
                        <a:t>Requires manual monitoring instead of automated notifications</a:t>
                      </a:r>
                      <a:endParaRPr lang="en-IN" sz="1000" b="0" dirty="0">
                        <a:solidFill>
                          <a:srgbClr val="746558"/>
                        </a:solidFill>
                        <a:latin typeface="Gelasio" panose="020B0604020202020204" charset="0"/>
                        <a:cs typeface="Gelasio" panose="020B0604020202020204" charset="0"/>
                      </a:endParaRPr>
                    </a:p>
                  </a:txBody>
                  <a:tcPr/>
                </a:tc>
                <a:extLst>
                  <a:ext uri="{0D108BD9-81ED-4DB2-BD59-A6C34878D82A}">
                    <a16:rowId xmlns:a16="http://schemas.microsoft.com/office/drawing/2014/main" val="299551202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8">
          <a:extLst>
            <a:ext uri="{FF2B5EF4-FFF2-40B4-BE49-F238E27FC236}">
              <a16:creationId xmlns:a16="http://schemas.microsoft.com/office/drawing/2014/main" id="{F5C8C138-6B6C-E63C-7644-AE74ABF5E2FE}"/>
            </a:ext>
          </a:extLst>
        </p:cNvPr>
        <p:cNvGrpSpPr/>
        <p:nvPr/>
      </p:nvGrpSpPr>
      <p:grpSpPr>
        <a:xfrm>
          <a:off x="0" y="0"/>
          <a:ext cx="0" cy="0"/>
          <a:chOff x="0" y="0"/>
          <a:chExt cx="0" cy="0"/>
        </a:xfrm>
      </p:grpSpPr>
      <p:sp>
        <p:nvSpPr>
          <p:cNvPr id="631" name="Google Shape;631;p64">
            <a:extLst>
              <a:ext uri="{FF2B5EF4-FFF2-40B4-BE49-F238E27FC236}">
                <a16:creationId xmlns:a16="http://schemas.microsoft.com/office/drawing/2014/main" id="{A0031F3C-D7B9-9B35-0FE9-B4BBB8E473EC}"/>
              </a:ext>
            </a:extLst>
          </p:cNvPr>
          <p:cNvSpPr/>
          <p:nvPr/>
        </p:nvSpPr>
        <p:spPr>
          <a:xfrm rot="10800000">
            <a:off x="4756162" y="976004"/>
            <a:ext cx="2449433" cy="2449433"/>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64">
            <a:extLst>
              <a:ext uri="{FF2B5EF4-FFF2-40B4-BE49-F238E27FC236}">
                <a16:creationId xmlns:a16="http://schemas.microsoft.com/office/drawing/2014/main" id="{15A1C968-33CE-C4FF-9A1D-D56C42C71D38}"/>
              </a:ext>
            </a:extLst>
          </p:cNvPr>
          <p:cNvSpPr/>
          <p:nvPr/>
        </p:nvSpPr>
        <p:spPr>
          <a:xfrm flipH="1">
            <a:off x="1995067" y="1072150"/>
            <a:ext cx="2449433" cy="2449433"/>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IN" dirty="0"/>
          </a:p>
        </p:txBody>
      </p:sp>
      <p:sp>
        <p:nvSpPr>
          <p:cNvPr id="633" name="Google Shape;633;p64">
            <a:extLst>
              <a:ext uri="{FF2B5EF4-FFF2-40B4-BE49-F238E27FC236}">
                <a16:creationId xmlns:a16="http://schemas.microsoft.com/office/drawing/2014/main" id="{1CA09D7E-C7E5-DA12-17B1-3C8B623FAA85}"/>
              </a:ext>
            </a:extLst>
          </p:cNvPr>
          <p:cNvSpPr/>
          <p:nvPr/>
        </p:nvSpPr>
        <p:spPr>
          <a:xfrm rot="-4376525" flipH="1">
            <a:off x="5282846" y="2467084"/>
            <a:ext cx="4772728" cy="424129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64">
            <a:extLst>
              <a:ext uri="{FF2B5EF4-FFF2-40B4-BE49-F238E27FC236}">
                <a16:creationId xmlns:a16="http://schemas.microsoft.com/office/drawing/2014/main" id="{C6317377-D13C-149E-D084-9AA8B2AE3CB0}"/>
              </a:ext>
            </a:extLst>
          </p:cNvPr>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p>
            <a:pPr marL="0" indent="0">
              <a:lnSpc>
                <a:spcPts val="5550"/>
              </a:lnSpc>
              <a:buNone/>
            </a:pPr>
            <a:r>
              <a:rPr lang="en-US" sz="2800" dirty="0">
                <a:solidFill>
                  <a:srgbClr val="484237"/>
                </a:solidFill>
                <a:latin typeface="Gelasio Semi Bold" pitchFamily="34" charset="0"/>
                <a:ea typeface="Gelasio Semi Bold" pitchFamily="34" charset="-122"/>
                <a:cs typeface="Gelasio Semi Bold" pitchFamily="34" charset="-120"/>
              </a:rPr>
              <a:t>Literature Survey</a:t>
            </a:r>
            <a:br>
              <a:rPr lang="en-US" sz="2800" dirty="0">
                <a:solidFill>
                  <a:srgbClr val="484237"/>
                </a:solidFill>
                <a:latin typeface="Gelasio Semi Bold" pitchFamily="34" charset="0"/>
                <a:ea typeface="Gelasio Semi Bold" pitchFamily="34" charset="-122"/>
                <a:cs typeface="Gelasio Semi Bold" pitchFamily="34" charset="-120"/>
              </a:rPr>
            </a:br>
            <a:endParaRPr lang="en-US" sz="2800" dirty="0"/>
          </a:p>
        </p:txBody>
      </p:sp>
      <p:graphicFrame>
        <p:nvGraphicFramePr>
          <p:cNvPr id="2" name="Table 1">
            <a:extLst>
              <a:ext uri="{FF2B5EF4-FFF2-40B4-BE49-F238E27FC236}">
                <a16:creationId xmlns:a16="http://schemas.microsoft.com/office/drawing/2014/main" id="{01B35ECE-4A76-7372-0EC4-11576D65A0AE}"/>
              </a:ext>
            </a:extLst>
          </p:cNvPr>
          <p:cNvGraphicFramePr>
            <a:graphicFrameLocks noGrp="1"/>
          </p:cNvGraphicFramePr>
          <p:nvPr>
            <p:extLst>
              <p:ext uri="{D42A27DB-BD31-4B8C-83A1-F6EECF244321}">
                <p14:modId xmlns:p14="http://schemas.microsoft.com/office/powerpoint/2010/main" val="1082456005"/>
              </p:ext>
            </p:extLst>
          </p:nvPr>
        </p:nvGraphicFramePr>
        <p:xfrm>
          <a:off x="914400" y="1188720"/>
          <a:ext cx="7315200" cy="3335440"/>
        </p:xfrm>
        <a:graphic>
          <a:graphicData uri="http://schemas.openxmlformats.org/drawingml/2006/table">
            <a:tbl>
              <a:tblPr firstRow="1" bandRow="1">
                <a:tableStyleId>{B5600F13-CF2D-4DA7-90BE-4EADB61D465A}</a:tableStyleId>
              </a:tblPr>
              <a:tblGrid>
                <a:gridCol w="1154296">
                  <a:extLst>
                    <a:ext uri="{9D8B030D-6E8A-4147-A177-3AD203B41FA5}">
                      <a16:colId xmlns:a16="http://schemas.microsoft.com/office/drawing/2014/main" val="795463293"/>
                    </a:ext>
                  </a:extLst>
                </a:gridCol>
                <a:gridCol w="1085745">
                  <a:extLst>
                    <a:ext uri="{9D8B030D-6E8A-4147-A177-3AD203B41FA5}">
                      <a16:colId xmlns:a16="http://schemas.microsoft.com/office/drawing/2014/main" val="3114107352"/>
                    </a:ext>
                  </a:extLst>
                </a:gridCol>
                <a:gridCol w="584439">
                  <a:extLst>
                    <a:ext uri="{9D8B030D-6E8A-4147-A177-3AD203B41FA5}">
                      <a16:colId xmlns:a16="http://schemas.microsoft.com/office/drawing/2014/main" val="3904938865"/>
                    </a:ext>
                  </a:extLst>
                </a:gridCol>
                <a:gridCol w="1363697">
                  <a:extLst>
                    <a:ext uri="{9D8B030D-6E8A-4147-A177-3AD203B41FA5}">
                      <a16:colId xmlns:a16="http://schemas.microsoft.com/office/drawing/2014/main" val="2317554810"/>
                    </a:ext>
                  </a:extLst>
                </a:gridCol>
                <a:gridCol w="1507635">
                  <a:extLst>
                    <a:ext uri="{9D8B030D-6E8A-4147-A177-3AD203B41FA5}">
                      <a16:colId xmlns:a16="http://schemas.microsoft.com/office/drawing/2014/main" val="3225713899"/>
                    </a:ext>
                  </a:extLst>
                </a:gridCol>
                <a:gridCol w="1619388">
                  <a:extLst>
                    <a:ext uri="{9D8B030D-6E8A-4147-A177-3AD203B41FA5}">
                      <a16:colId xmlns:a16="http://schemas.microsoft.com/office/drawing/2014/main" val="2355026725"/>
                    </a:ext>
                  </a:extLst>
                </a:gridCol>
              </a:tblGrid>
              <a:tr h="4783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u="none" strike="noStrike" kern="1200" cap="none" spc="0" normalizeH="0" baseline="0" noProof="0" dirty="0">
                          <a:ln>
                            <a:noFill/>
                          </a:ln>
                          <a:solidFill>
                            <a:schemeClr val="bg2">
                              <a:lumMod val="10000"/>
                            </a:schemeClr>
                          </a:solidFill>
                          <a:effectLst/>
                          <a:uLnTx/>
                          <a:uFillTx/>
                        </a:rPr>
                        <a:t>Publication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u="none" strike="noStrike" kern="1200" cap="none" spc="0" normalizeH="0" baseline="0" noProof="0" dirty="0">
                          <a:ln>
                            <a:noFill/>
                          </a:ln>
                          <a:solidFill>
                            <a:schemeClr val="bg2">
                              <a:lumMod val="10000"/>
                            </a:schemeClr>
                          </a:solidFill>
                          <a:effectLst/>
                          <a:uLnTx/>
                          <a:uFillTx/>
                        </a:rPr>
                        <a:t>Identifiers</a:t>
                      </a:r>
                      <a:endParaRPr lang="en-IN" sz="1100" b="0" dirty="0">
                        <a:solidFill>
                          <a:schemeClr val="bg2">
                            <a:lumMod val="10000"/>
                          </a:schemeClr>
                        </a:solidFill>
                        <a:latin typeface="Gelasio Semi Bold" panose="020B0604020202020204" charset="0"/>
                        <a:cs typeface="Gelasio Semi Bold" panose="020B0604020202020204" charset="0"/>
                      </a:endParaRPr>
                    </a:p>
                  </a:txBody>
                  <a:tcPr/>
                </a:tc>
                <a:tc>
                  <a:txBody>
                    <a:bodyPr/>
                    <a:lstStyle/>
                    <a:p>
                      <a:r>
                        <a:rPr kumimoji="0" lang="en-IN" sz="1100" b="0" u="none" strike="noStrike" kern="1200" cap="none" spc="0" normalizeH="0" baseline="0" noProof="0" dirty="0">
                          <a:ln>
                            <a:noFill/>
                          </a:ln>
                          <a:solidFill>
                            <a:schemeClr val="bg2">
                              <a:lumMod val="10000"/>
                            </a:schemeClr>
                          </a:solidFill>
                          <a:effectLst/>
                          <a:uLnTx/>
                          <a:uFillTx/>
                        </a:rPr>
                        <a:t>Authors</a:t>
                      </a:r>
                      <a:endParaRPr lang="en-IN" sz="1100" b="0" dirty="0">
                        <a:solidFill>
                          <a:schemeClr val="bg2">
                            <a:lumMod val="10000"/>
                          </a:schemeClr>
                        </a:solidFill>
                        <a:latin typeface="Gelasio Semi Bold" panose="020B0604020202020204" charset="0"/>
                        <a:cs typeface="Gelasio Semi Bold" panose="020B0604020202020204" charset="0"/>
                      </a:endParaRPr>
                    </a:p>
                  </a:txBody>
                  <a:tcPr/>
                </a:tc>
                <a:tc>
                  <a:txBody>
                    <a:bodyPr/>
                    <a:lstStyle/>
                    <a:p>
                      <a:r>
                        <a:rPr kumimoji="0" lang="en-IN" sz="1100" b="0" u="none" strike="noStrike" kern="1200" cap="none" spc="0" normalizeH="0" baseline="0" noProof="0" dirty="0">
                          <a:ln>
                            <a:noFill/>
                          </a:ln>
                          <a:solidFill>
                            <a:schemeClr val="bg2">
                              <a:lumMod val="10000"/>
                            </a:schemeClr>
                          </a:solidFill>
                          <a:effectLst/>
                          <a:uLnTx/>
                          <a:uFillTx/>
                        </a:rPr>
                        <a:t>Year</a:t>
                      </a:r>
                      <a:endParaRPr lang="en-IN" sz="1100" b="0" dirty="0">
                        <a:solidFill>
                          <a:schemeClr val="bg2">
                            <a:lumMod val="10000"/>
                          </a:schemeClr>
                        </a:solidFill>
                        <a:latin typeface="Gelasio Semi Bold" panose="020B0604020202020204" charset="0"/>
                        <a:cs typeface="Gelasio Semi Bold" panose="020B0604020202020204" charset="0"/>
                      </a:endParaRPr>
                    </a:p>
                  </a:txBody>
                  <a:tcPr/>
                </a:tc>
                <a:tc>
                  <a:txBody>
                    <a:bodyPr/>
                    <a:lstStyle/>
                    <a:p>
                      <a:r>
                        <a:rPr kumimoji="0" lang="en-IN" sz="1100" b="0" u="none" strike="noStrike" kern="1200" cap="none" spc="0" normalizeH="0" baseline="0" noProof="0">
                          <a:ln>
                            <a:noFill/>
                          </a:ln>
                          <a:solidFill>
                            <a:schemeClr val="bg2">
                              <a:lumMod val="10000"/>
                            </a:schemeClr>
                          </a:solidFill>
                          <a:effectLst/>
                          <a:uLnTx/>
                          <a:uFillTx/>
                        </a:rPr>
                        <a:t>Title</a:t>
                      </a:r>
                      <a:endParaRPr lang="en-IN" sz="1100" b="0" dirty="0">
                        <a:solidFill>
                          <a:schemeClr val="bg2">
                            <a:lumMod val="10000"/>
                          </a:schemeClr>
                        </a:solidFill>
                        <a:latin typeface="Gelasio Semi Bold" panose="020B0604020202020204" charset="0"/>
                        <a:cs typeface="Gelasio Semi Bold" panose="020B0604020202020204" charset="0"/>
                      </a:endParaRPr>
                    </a:p>
                  </a:txBody>
                  <a:tcPr/>
                </a:tc>
                <a:tc>
                  <a:txBody>
                    <a:bodyPr/>
                    <a:lstStyle/>
                    <a:p>
                      <a:r>
                        <a:rPr kumimoji="0" lang="en-IN" sz="1100" b="0" u="none" strike="noStrike" kern="1200" cap="none" spc="0" normalizeH="0" baseline="0" noProof="0" dirty="0">
                          <a:ln>
                            <a:noFill/>
                          </a:ln>
                          <a:solidFill>
                            <a:schemeClr val="bg2">
                              <a:lumMod val="10000"/>
                            </a:schemeClr>
                          </a:solidFill>
                          <a:effectLst/>
                          <a:uLnTx/>
                          <a:uFillTx/>
                        </a:rPr>
                        <a:t>Algorithms</a:t>
                      </a:r>
                      <a:endParaRPr lang="en-IN" sz="1100" b="0" dirty="0">
                        <a:solidFill>
                          <a:schemeClr val="bg2">
                            <a:lumMod val="10000"/>
                          </a:schemeClr>
                        </a:solidFill>
                        <a:latin typeface="Gelasio Semi Bold" panose="020B0604020202020204" charset="0"/>
                        <a:cs typeface="Gelasio Semi Bold" panose="020B0604020202020204" charset="0"/>
                      </a:endParaRPr>
                    </a:p>
                  </a:txBody>
                  <a:tcPr/>
                </a:tc>
                <a:tc>
                  <a:txBody>
                    <a:bodyPr/>
                    <a:lstStyle/>
                    <a:p>
                      <a:r>
                        <a:rPr kumimoji="0" lang="en-IN" sz="1100" b="0" u="none" strike="noStrike" kern="1200" cap="none" spc="0" normalizeH="0" baseline="0" noProof="0" dirty="0">
                          <a:ln>
                            <a:noFill/>
                          </a:ln>
                          <a:solidFill>
                            <a:schemeClr val="bg2">
                              <a:lumMod val="10000"/>
                            </a:schemeClr>
                          </a:solidFill>
                          <a:effectLst/>
                          <a:uLnTx/>
                          <a:uFillTx/>
                        </a:rPr>
                        <a:t>Research Gap</a:t>
                      </a:r>
                      <a:endParaRPr lang="en-IN" sz="1100" b="0" dirty="0">
                        <a:solidFill>
                          <a:schemeClr val="bg2">
                            <a:lumMod val="10000"/>
                          </a:schemeClr>
                        </a:solidFill>
                        <a:latin typeface="Gelasio Semi Bold" panose="020B0604020202020204" charset="0"/>
                        <a:cs typeface="Gelasio Semi Bold" panose="020B0604020202020204" charset="0"/>
                      </a:endParaRPr>
                    </a:p>
                  </a:txBody>
                  <a:tcPr/>
                </a:tc>
                <a:extLst>
                  <a:ext uri="{0D108BD9-81ED-4DB2-BD59-A6C34878D82A}">
                    <a16:rowId xmlns:a16="http://schemas.microsoft.com/office/drawing/2014/main" val="318832998"/>
                  </a:ext>
                </a:extLst>
              </a:tr>
              <a:tr h="1231514">
                <a:tc>
                  <a:txBody>
                    <a:bodyPr/>
                    <a:lstStyle/>
                    <a:p>
                      <a:r>
                        <a:rPr lang="en-IN" sz="1000" b="0" dirty="0">
                          <a:solidFill>
                            <a:srgbClr val="746558"/>
                          </a:solidFill>
                        </a:rPr>
                        <a:t>ISSN: 2250-0588</a:t>
                      </a:r>
                      <a:endParaRPr lang="en-IN" sz="1000" b="0" dirty="0">
                        <a:solidFill>
                          <a:srgbClr val="746558"/>
                        </a:solidFill>
                        <a:latin typeface="Gelasio" panose="020B0604020202020204" charset="0"/>
                        <a:cs typeface="Gelasio" panose="020B0604020202020204" charset="0"/>
                      </a:endParaRPr>
                    </a:p>
                  </a:txBody>
                  <a:tcPr/>
                </a:tc>
                <a:tc>
                  <a:txBody>
                    <a:bodyPr/>
                    <a:lstStyle/>
                    <a:p>
                      <a:r>
                        <a:rPr lang="en-IN" sz="1000" b="0" dirty="0">
                          <a:solidFill>
                            <a:srgbClr val="746558"/>
                          </a:solidFill>
                        </a:rPr>
                        <a:t>Dr. P. K. Venkateswara Lal, Ch. Sai Sowmya</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IN" sz="1000" b="0" u="none" strike="noStrike" kern="1200" cap="none" spc="0" normalizeH="0" baseline="0" noProof="0" dirty="0">
                          <a:ln>
                            <a:noFill/>
                          </a:ln>
                          <a:solidFill>
                            <a:srgbClr val="746558"/>
                          </a:solidFill>
                          <a:effectLst/>
                          <a:uLnTx/>
                          <a:uFillTx/>
                        </a:rPr>
                        <a:t>2024</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Human Scream Detection and Analysis for Controlling Crime Rate</a:t>
                      </a:r>
                      <a:endParaRPr kumimoji="0" lang="en-US" sz="1000" b="0" i="0" u="none" strike="noStrike" kern="1200" cap="none" spc="0" normalizeH="0" baseline="0" noProof="0" dirty="0">
                        <a:ln>
                          <a:noFill/>
                        </a:ln>
                        <a:solidFill>
                          <a:srgbClr val="746558"/>
                        </a:solidFill>
                        <a:effectLst/>
                        <a:uLnTx/>
                        <a:uFillTx/>
                        <a:latin typeface="Gelasio" panose="020B0604020202020204" charset="0"/>
                        <a:ea typeface="+mn-ea"/>
                        <a:cs typeface="Gelasio" panose="020B0604020202020204" charset="0"/>
                      </a:endParaRPr>
                    </a:p>
                  </a:txBody>
                  <a:tcPr/>
                </a:tc>
                <a:tc>
                  <a:txBody>
                    <a:bodyPr/>
                    <a:lstStyle/>
                    <a:p>
                      <a:pPr algn="l"/>
                      <a:r>
                        <a:rPr kumimoji="0" lang="en-IN" sz="1000" b="0" u="none" strike="noStrike" kern="1200" cap="none" spc="0" normalizeH="0" baseline="0" noProof="0" dirty="0">
                          <a:ln>
                            <a:noFill/>
                          </a:ln>
                          <a:solidFill>
                            <a:srgbClr val="746558"/>
                          </a:solidFill>
                          <a:effectLst/>
                          <a:uLnTx/>
                          <a:uFillTx/>
                        </a:rPr>
                        <a:t>Support Vector Machines (SVM), Convolutional Neural Networks (CNN)</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No automated alert system,</a:t>
                      </a:r>
                    </a:p>
                    <a:p>
                      <a:r>
                        <a:rPr kumimoji="0" lang="en-US" sz="1000" b="0" u="none" strike="noStrike" kern="1200" cap="none" spc="0" normalizeH="0" baseline="0" noProof="0" dirty="0">
                          <a:ln>
                            <a:noFill/>
                          </a:ln>
                          <a:solidFill>
                            <a:srgbClr val="746558"/>
                          </a:solidFill>
                          <a:effectLst/>
                          <a:uLnTx/>
                          <a:uFillTx/>
                        </a:rPr>
                        <a:t>No location-sharing capabilities</a:t>
                      </a:r>
                      <a:endParaRPr lang="en-IN" sz="1000" b="0" dirty="0">
                        <a:solidFill>
                          <a:srgbClr val="746558"/>
                        </a:solidFill>
                        <a:latin typeface="Gelasio" panose="020B0604020202020204" charset="0"/>
                        <a:cs typeface="Gelasio" panose="020B0604020202020204" charset="0"/>
                      </a:endParaRPr>
                    </a:p>
                  </a:txBody>
                  <a:tcPr/>
                </a:tc>
                <a:extLst>
                  <a:ext uri="{0D108BD9-81ED-4DB2-BD59-A6C34878D82A}">
                    <a16:rowId xmlns:a16="http://schemas.microsoft.com/office/drawing/2014/main" val="691967715"/>
                  </a:ext>
                </a:extLst>
              </a:tr>
              <a:tr h="1625580">
                <a:tc>
                  <a:txBody>
                    <a:bodyPr/>
                    <a:lstStyle/>
                    <a:p>
                      <a:r>
                        <a:rPr lang="en-IN" sz="1000" b="0" dirty="0">
                          <a:solidFill>
                            <a:srgbClr val="746558"/>
                          </a:solidFill>
                        </a:rPr>
                        <a:t>arXiv:</a:t>
                      </a:r>
                    </a:p>
                    <a:p>
                      <a:r>
                        <a:rPr lang="en-IN" sz="1000" b="0" dirty="0">
                          <a:solidFill>
                            <a:srgbClr val="746558"/>
                          </a:solidFill>
                        </a:rPr>
                        <a:t>2411.03016</a:t>
                      </a:r>
                      <a:endParaRPr lang="en-IN" sz="1000" b="0" dirty="0">
                        <a:solidFill>
                          <a:srgbClr val="746558"/>
                        </a:solidFill>
                        <a:latin typeface="Gelasio" panose="020B0604020202020204" charset="0"/>
                        <a:cs typeface="Gelasio" panose="020B0604020202020204" charset="0"/>
                      </a:endParaRPr>
                    </a:p>
                  </a:txBody>
                  <a:tcPr/>
                </a:tc>
                <a:tc>
                  <a:txBody>
                    <a:bodyPr/>
                    <a:lstStyle/>
                    <a:p>
                      <a:r>
                        <a:rPr lang="en-IN" sz="1000" b="0" dirty="0" err="1">
                          <a:solidFill>
                            <a:srgbClr val="746558"/>
                          </a:solidFill>
                        </a:rPr>
                        <a:t>Bikalpa</a:t>
                      </a:r>
                      <a:r>
                        <a:rPr lang="en-IN" sz="1000" b="0" dirty="0">
                          <a:solidFill>
                            <a:srgbClr val="746558"/>
                          </a:solidFill>
                        </a:rPr>
                        <a:t> Gautam, Anmol </a:t>
                      </a:r>
                      <a:r>
                        <a:rPr lang="en-IN" sz="1000" b="0" dirty="0" err="1">
                          <a:solidFill>
                            <a:srgbClr val="746558"/>
                          </a:solidFill>
                        </a:rPr>
                        <a:t>Guragain</a:t>
                      </a:r>
                      <a:r>
                        <a:rPr lang="en-IN" sz="1000" b="0" dirty="0">
                          <a:solidFill>
                            <a:srgbClr val="746558"/>
                          </a:solidFill>
                        </a:rPr>
                        <a:t>, Sarthak Giri</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IN" sz="1000" b="0" u="none" strike="noStrike" kern="1200" cap="none" spc="0" normalizeH="0" baseline="0" noProof="0">
                          <a:ln>
                            <a:noFill/>
                          </a:ln>
                          <a:solidFill>
                            <a:srgbClr val="746558"/>
                          </a:solidFill>
                          <a:effectLst/>
                          <a:uLnTx/>
                          <a:uFillTx/>
                        </a:rPr>
                        <a:t>2024</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Real-Time Scream Detection and Position Estimation for Worker Safety in Construction Sites</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US" sz="1000" b="0" u="none" strike="noStrike" kern="1200" cap="none" spc="0" normalizeH="0" baseline="0" noProof="0" dirty="0">
                          <a:ln>
                            <a:noFill/>
                          </a:ln>
                          <a:solidFill>
                            <a:srgbClr val="746558"/>
                          </a:solidFill>
                          <a:effectLst/>
                          <a:uLnTx/>
                          <a:uFillTx/>
                        </a:rPr>
                        <a:t>Wav2Vec2, Enhanced ConvNet, GCC-PHAT, Gradient Descent</a:t>
                      </a:r>
                      <a:endParaRPr lang="en-IN" sz="1000" b="0" dirty="0">
                        <a:solidFill>
                          <a:srgbClr val="746558"/>
                        </a:solidFill>
                        <a:latin typeface="Gelasio" panose="020B0604020202020204" charset="0"/>
                        <a:cs typeface="Gelasio" panose="020B0604020202020204" charset="0"/>
                      </a:endParaRPr>
                    </a:p>
                  </a:txBody>
                  <a:tcPr/>
                </a:tc>
                <a:tc>
                  <a:txBody>
                    <a:bodyPr/>
                    <a:lstStyle/>
                    <a:p>
                      <a:r>
                        <a:rPr kumimoji="0" lang="en-IN" sz="1000" b="0" u="none" strike="noStrike" kern="1200" cap="none" spc="0" normalizeH="0" baseline="0" noProof="0" dirty="0">
                          <a:ln>
                            <a:noFill/>
                          </a:ln>
                          <a:solidFill>
                            <a:srgbClr val="746558"/>
                          </a:solidFill>
                          <a:effectLst/>
                          <a:uLnTx/>
                          <a:uFillTx/>
                        </a:rPr>
                        <a:t>No Alert mechanism,</a:t>
                      </a:r>
                      <a:endParaRPr kumimoji="0" lang="en-US" sz="1000" b="0" u="none" strike="noStrike" kern="1200" cap="none" spc="0" normalizeH="0" baseline="0" noProof="0" dirty="0">
                        <a:ln>
                          <a:noFill/>
                        </a:ln>
                        <a:solidFill>
                          <a:srgbClr val="746558"/>
                        </a:solidFill>
                        <a:effectLst/>
                        <a:uLnTx/>
                        <a:uFillTx/>
                      </a:endParaRPr>
                    </a:p>
                    <a:p>
                      <a:r>
                        <a:rPr kumimoji="0" lang="en-US" sz="1000" b="0" u="none" strike="noStrike" kern="1200" cap="none" spc="0" normalizeH="0" baseline="0" noProof="0" dirty="0">
                          <a:ln>
                            <a:noFill/>
                          </a:ln>
                          <a:solidFill>
                            <a:srgbClr val="746558"/>
                          </a:solidFill>
                          <a:effectLst/>
                          <a:uLnTx/>
                          <a:uFillTx/>
                        </a:rPr>
                        <a:t>Complex setup for real-time deployment,</a:t>
                      </a:r>
                    </a:p>
                    <a:p>
                      <a:r>
                        <a:rPr kumimoji="0" lang="en-US" sz="1000" b="0" u="none" strike="noStrike" kern="1200" cap="none" spc="0" normalizeH="0" baseline="0" noProof="0" dirty="0">
                          <a:ln>
                            <a:noFill/>
                          </a:ln>
                          <a:solidFill>
                            <a:srgbClr val="746558"/>
                          </a:solidFill>
                          <a:effectLst/>
                          <a:uLnTx/>
                          <a:uFillTx/>
                        </a:rPr>
                        <a:t>Limited support for mobile device integration</a:t>
                      </a:r>
                      <a:endParaRPr lang="en-IN" sz="1000" b="0" dirty="0">
                        <a:solidFill>
                          <a:srgbClr val="746558"/>
                        </a:solidFill>
                        <a:latin typeface="Gelasio" panose="020B0604020202020204" charset="0"/>
                        <a:cs typeface="Gelasio" panose="020B0604020202020204" charset="0"/>
                      </a:endParaRPr>
                    </a:p>
                  </a:txBody>
                  <a:tcPr/>
                </a:tc>
                <a:extLst>
                  <a:ext uri="{0D108BD9-81ED-4DB2-BD59-A6C34878D82A}">
                    <a16:rowId xmlns:a16="http://schemas.microsoft.com/office/drawing/2014/main" val="3053765886"/>
                  </a:ext>
                </a:extLst>
              </a:tr>
            </a:tbl>
          </a:graphicData>
        </a:graphic>
      </p:graphicFrame>
    </p:spTree>
    <p:extLst>
      <p:ext uri="{BB962C8B-B14F-4D97-AF65-F5344CB8AC3E}">
        <p14:creationId xmlns:p14="http://schemas.microsoft.com/office/powerpoint/2010/main" val="40215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4" name="Google Shape;644;p65"/>
          <p:cNvSpPr/>
          <p:nvPr/>
        </p:nvSpPr>
        <p:spPr>
          <a:xfrm rot="-5399809">
            <a:off x="-322543" y="659319"/>
            <a:ext cx="5512835" cy="4194428"/>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65"/>
          <p:cNvSpPr/>
          <p:nvPr/>
        </p:nvSpPr>
        <p:spPr>
          <a:xfrm rot="10285629" flipH="1">
            <a:off x="-6011938" y="-431909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65"/>
          <p:cNvSpPr/>
          <p:nvPr/>
        </p:nvSpPr>
        <p:spPr>
          <a:xfrm rot="-4102346">
            <a:off x="1166603" y="3932872"/>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65"/>
          <p:cNvSpPr/>
          <p:nvPr/>
        </p:nvSpPr>
        <p:spPr>
          <a:xfrm flipH="1">
            <a:off x="580630" y="-39415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5"/>
          <p:cNvSpPr/>
          <p:nvPr/>
        </p:nvSpPr>
        <p:spPr>
          <a:xfrm rot="649760">
            <a:off x="-984002" y="419036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5"/>
          <p:cNvSpPr/>
          <p:nvPr/>
        </p:nvSpPr>
        <p:spPr>
          <a:xfrm rot="-6621704" flipH="1">
            <a:off x="-3919845" y="1710891"/>
            <a:ext cx="7826147" cy="287787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65"/>
          <p:cNvSpPr txBox="1">
            <a:spLocks noGrp="1"/>
          </p:cNvSpPr>
          <p:nvPr>
            <p:ph type="title"/>
          </p:nvPr>
        </p:nvSpPr>
        <p:spPr>
          <a:xfrm flipH="1">
            <a:off x="832214" y="66894"/>
            <a:ext cx="7704000" cy="572700"/>
          </a:xfrm>
          <a:prstGeom prst="rect">
            <a:avLst/>
          </a:prstGeom>
        </p:spPr>
        <p:txBody>
          <a:bodyPr spcFirstLastPara="1" wrap="square" lIns="91425" tIns="91425" rIns="91425" bIns="91425" anchor="ctr" anchorCtr="0">
            <a:noAutofit/>
          </a:bodyPr>
          <a:lstStyle/>
          <a:p>
            <a:pPr marL="0" indent="0">
              <a:lnSpc>
                <a:spcPts val="5550"/>
              </a:lnSpc>
              <a:buNone/>
            </a:pPr>
            <a:r>
              <a:rPr lang="en-US" sz="2800" dirty="0">
                <a:solidFill>
                  <a:srgbClr val="484237"/>
                </a:solidFill>
                <a:latin typeface="Gelasio Semi Bold" pitchFamily="34" charset="0"/>
                <a:ea typeface="Gelasio Semi Bold" pitchFamily="34" charset="-122"/>
                <a:cs typeface="Gelasio Semi Bold" pitchFamily="34" charset="-120"/>
              </a:rPr>
              <a:t>Proposed System and Methodology</a:t>
            </a:r>
            <a:endParaRPr lang="en-US" sz="2800" dirty="0"/>
          </a:p>
        </p:txBody>
      </p:sp>
      <p:sp>
        <p:nvSpPr>
          <p:cNvPr id="11" name="TextBox 10">
            <a:extLst>
              <a:ext uri="{FF2B5EF4-FFF2-40B4-BE49-F238E27FC236}">
                <a16:creationId xmlns:a16="http://schemas.microsoft.com/office/drawing/2014/main" id="{56EC21F0-7E95-69E9-FF23-A1CC749ED301}"/>
              </a:ext>
            </a:extLst>
          </p:cNvPr>
          <p:cNvSpPr txBox="1"/>
          <p:nvPr/>
        </p:nvSpPr>
        <p:spPr>
          <a:xfrm>
            <a:off x="336507" y="949314"/>
            <a:ext cx="8299493" cy="3427670"/>
          </a:xfrm>
          <a:prstGeom prst="rect">
            <a:avLst/>
          </a:prstGeom>
          <a:noFill/>
        </p:spPr>
        <p:txBody>
          <a:bodyPr wrap="square">
            <a:spAutoFit/>
          </a:bodyPr>
          <a:lstStyle/>
          <a:p>
            <a:pPr>
              <a:lnSpc>
                <a:spcPct val="150000"/>
              </a:lnSpc>
            </a:pPr>
            <a:r>
              <a:rPr lang="en-US" sz="1600" b="1" dirty="0">
                <a:solidFill>
                  <a:srgbClr val="5C564C"/>
                </a:solidFill>
                <a:latin typeface="Gelasio Semi Bold" panose="020B0604020202020204" charset="0"/>
                <a:cs typeface="Gelasio Semi Bold" panose="020B0604020202020204" charset="0"/>
              </a:rPr>
              <a:t>System Overview</a:t>
            </a:r>
          </a:p>
          <a:p>
            <a:pPr lvl="1">
              <a:lnSpc>
                <a:spcPct val="150000"/>
              </a:lnSpc>
            </a:pPr>
            <a:r>
              <a:rPr lang="en-US" dirty="0">
                <a:solidFill>
                  <a:srgbClr val="746558"/>
                </a:solidFill>
                <a:latin typeface="Gelasio Semi Bold" panose="020B0604020202020204" charset="0"/>
                <a:cs typeface="Gelasio Semi Bold" panose="020B0604020202020204" charset="0"/>
              </a:rPr>
              <a:t>"Our system captures audio data in real-time, processes it using a trained ML model, and triggers alerts with precise location details upon detecting a distress scream.“</a:t>
            </a:r>
          </a:p>
          <a:p>
            <a:pPr>
              <a:lnSpc>
                <a:spcPts val="2850"/>
              </a:lnSpc>
            </a:pPr>
            <a:endParaRPr lang="en-US" dirty="0">
              <a:solidFill>
                <a:srgbClr val="746558"/>
              </a:solidFill>
              <a:latin typeface="Gelasio Semi Bold" panose="020B0604020202020204" charset="0"/>
              <a:cs typeface="Gelasio Semi Bold" panose="020B0604020202020204" charset="0"/>
            </a:endParaRPr>
          </a:p>
          <a:p>
            <a:pPr>
              <a:lnSpc>
                <a:spcPts val="2850"/>
              </a:lnSpc>
            </a:pPr>
            <a:r>
              <a:rPr lang="en-US" b="1" dirty="0">
                <a:solidFill>
                  <a:srgbClr val="5C564C"/>
                </a:solidFill>
                <a:latin typeface="Gelasio Semi Bold" panose="020B0604020202020204" charset="0"/>
                <a:cs typeface="Gelasio Semi Bold" panose="020B0604020202020204" charset="0"/>
              </a:rPr>
              <a:t>Workflow Flow:</a:t>
            </a:r>
          </a:p>
          <a:p>
            <a:pPr marL="800100" lvl="1"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Audio Input</a:t>
            </a:r>
          </a:p>
          <a:p>
            <a:pPr marL="800100" lvl="1"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Feature Extraction</a:t>
            </a:r>
          </a:p>
          <a:p>
            <a:pPr marL="800100" lvl="1"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Model Prediction: Classifies sound as a distress scream or non-distress sound.</a:t>
            </a:r>
          </a:p>
          <a:p>
            <a:pPr marL="800100" lvl="1"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Alert System: If a scream is detected, sends an SMS alert via Twilio API with location details.</a:t>
            </a:r>
          </a:p>
          <a:p>
            <a:pPr marL="800100" lvl="1"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Android App Integration</a:t>
            </a:r>
            <a:endParaRPr lang="en-US" dirty="0">
              <a:solidFill>
                <a:srgbClr val="746558"/>
              </a:solidFill>
              <a:latin typeface="Gelasio Semi Bold" panose="020B0604020202020204" charset="0"/>
              <a:cs typeface="Gelasio Semi Bold" panose="020B060402020202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67"/>
          <p:cNvSpPr txBox="1">
            <a:spLocks noGrp="1"/>
          </p:cNvSpPr>
          <p:nvPr>
            <p:ph type="title"/>
          </p:nvPr>
        </p:nvSpPr>
        <p:spPr>
          <a:xfrm>
            <a:off x="1300480" y="-892200"/>
            <a:ext cx="7592220" cy="1784400"/>
          </a:xfrm>
          <a:prstGeom prst="rect">
            <a:avLst/>
          </a:prstGeom>
        </p:spPr>
        <p:txBody>
          <a:bodyPr spcFirstLastPara="1" wrap="square" lIns="91425" tIns="91425" rIns="91425" bIns="91425" anchor="b" anchorCtr="0">
            <a:noAutofit/>
          </a:bodyPr>
          <a:lstStyle/>
          <a:p>
            <a:pPr>
              <a:lnSpc>
                <a:spcPct val="200000"/>
              </a:lnSpc>
            </a:pPr>
            <a:r>
              <a:rPr lang="en-US" sz="2800" b="1" dirty="0">
                <a:solidFill>
                  <a:srgbClr val="5C564C"/>
                </a:solidFill>
                <a:latin typeface="Gelasio Semi Bold" panose="020B0604020202020204" charset="0"/>
                <a:cs typeface="Gelasio Semi Bold" panose="020B0604020202020204" charset="0"/>
              </a:rPr>
              <a:t>CNN Architecture for Scream Detection</a:t>
            </a:r>
          </a:p>
        </p:txBody>
      </p:sp>
      <p:sp>
        <p:nvSpPr>
          <p:cNvPr id="5" name="TextBox 4">
            <a:extLst>
              <a:ext uri="{FF2B5EF4-FFF2-40B4-BE49-F238E27FC236}">
                <a16:creationId xmlns:a16="http://schemas.microsoft.com/office/drawing/2014/main" id="{E675DDA4-D864-4942-99A5-048EE04C8B2A}"/>
              </a:ext>
            </a:extLst>
          </p:cNvPr>
          <p:cNvSpPr txBox="1"/>
          <p:nvPr/>
        </p:nvSpPr>
        <p:spPr>
          <a:xfrm>
            <a:off x="0" y="717225"/>
            <a:ext cx="9387840" cy="4253537"/>
          </a:xfrm>
          <a:prstGeom prst="rect">
            <a:avLst/>
          </a:prstGeom>
          <a:noFill/>
        </p:spPr>
        <p:txBody>
          <a:bodyPr wrap="square">
            <a:spAutoFit/>
          </a:bodyPr>
          <a:lstStyle/>
          <a:p>
            <a:pPr marL="800100" lvl="1" indent="-342900">
              <a:lnSpc>
                <a:spcPct val="20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Convolutional Layers</a:t>
            </a:r>
          </a:p>
          <a:p>
            <a:pPr marL="1257300" lvl="2"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Extracts important audio features like MFCCs (Mel-Frequency Cepstral Coefficients).</a:t>
            </a:r>
          </a:p>
          <a:p>
            <a:pPr marL="800100" lvl="1" indent="-342900">
              <a:lnSpc>
                <a:spcPct val="15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Activation Functions</a:t>
            </a:r>
          </a:p>
          <a:p>
            <a:pPr marL="1257300" lvl="2"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Adds non-linearity to detect complex audio patterns.</a:t>
            </a:r>
          </a:p>
          <a:p>
            <a:pPr marL="800100" lvl="1" indent="-342900">
              <a:lnSpc>
                <a:spcPct val="15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Pooling Layers</a:t>
            </a:r>
          </a:p>
          <a:p>
            <a:pPr marL="1257300" lvl="2"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Reduces feature dimensions while retaining Information.</a:t>
            </a:r>
          </a:p>
          <a:p>
            <a:pPr marL="800100" lvl="1" indent="-342900">
              <a:lnSpc>
                <a:spcPct val="20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Fully Connected Layers</a:t>
            </a:r>
          </a:p>
          <a:p>
            <a:pPr marL="1257300" lvl="2"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Combines extracted features to make final predictions.</a:t>
            </a:r>
          </a:p>
          <a:p>
            <a:pPr marL="800100" lvl="1" indent="-342900">
              <a:lnSpc>
                <a:spcPct val="20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Output Layer</a:t>
            </a:r>
          </a:p>
          <a:p>
            <a:pPr marL="1257300" lvl="2" indent="-342900">
              <a:lnSpc>
                <a:spcPct val="150000"/>
              </a:lnSpc>
              <a:buFont typeface="Wingdings" panose="05000000000000000000" pitchFamily="2" charset="2"/>
              <a:buChar char="ü"/>
            </a:pPr>
            <a:r>
              <a:rPr lang="en-US" dirty="0">
                <a:solidFill>
                  <a:srgbClr val="746558"/>
                </a:solidFill>
                <a:latin typeface="Gelasio" panose="020B0604020202020204" charset="0"/>
                <a:cs typeface="Gelasio" panose="020B0604020202020204" charset="0"/>
              </a:rPr>
              <a:t>Produces the final classification output: "Scream" or "No Scream".</a:t>
            </a:r>
          </a:p>
          <a:p>
            <a:pPr marL="1257300" lvl="2" indent="-342900">
              <a:lnSpc>
                <a:spcPct val="150000"/>
              </a:lnSpc>
              <a:buFont typeface="Wingdings" panose="05000000000000000000" pitchFamily="2" charset="2"/>
              <a:buChar char="ü"/>
            </a:pPr>
            <a:endParaRPr lang="en-US" dirty="0">
              <a:solidFill>
                <a:srgbClr val="746558"/>
              </a:solidFill>
              <a:latin typeface="Gelasio" panose="020B0604020202020204" charset="0"/>
              <a:cs typeface="Gelasio" panose="020B0604020202020204" charset="0"/>
            </a:endParaRPr>
          </a:p>
          <a:p>
            <a:pPr marL="1257300" lvl="2" indent="-342900">
              <a:lnSpc>
                <a:spcPct val="150000"/>
              </a:lnSpc>
              <a:buFont typeface="Wingdings" panose="05000000000000000000" pitchFamily="2" charset="2"/>
              <a:buChar char="ü"/>
            </a:pPr>
            <a:endParaRPr lang="en-US" dirty="0">
              <a:solidFill>
                <a:srgbClr val="746558"/>
              </a:solidFill>
              <a:latin typeface="Gelasio" panose="020B0604020202020204" charset="0"/>
              <a:cs typeface="Gelasio" panose="020B0604020202020204" charset="0"/>
            </a:endParaRPr>
          </a:p>
        </p:txBody>
      </p:sp>
      <p:pic>
        <p:nvPicPr>
          <p:cNvPr id="6" name="Picture 5">
            <a:extLst>
              <a:ext uri="{FF2B5EF4-FFF2-40B4-BE49-F238E27FC236}">
                <a16:creationId xmlns:a16="http://schemas.microsoft.com/office/drawing/2014/main" id="{630DAFAA-3F0C-E45C-4879-A4B9FE9107BF}"/>
              </a:ext>
            </a:extLst>
          </p:cNvPr>
          <p:cNvPicPr>
            <a:picLocks noChangeAspect="1"/>
          </p:cNvPicPr>
          <p:nvPr/>
        </p:nvPicPr>
        <p:blipFill>
          <a:blip r:embed="rId3"/>
          <a:stretch>
            <a:fillRect/>
          </a:stretch>
        </p:blipFill>
        <p:spPr>
          <a:xfrm>
            <a:off x="5962586" y="2101933"/>
            <a:ext cx="3040540" cy="1484123"/>
          </a:xfrm>
          <a:prstGeom prst="rect">
            <a:avLst/>
          </a:prstGeom>
        </p:spPr>
      </p:pic>
      <p:sp>
        <p:nvSpPr>
          <p:cNvPr id="8" name="TextBox 7">
            <a:extLst>
              <a:ext uri="{FF2B5EF4-FFF2-40B4-BE49-F238E27FC236}">
                <a16:creationId xmlns:a16="http://schemas.microsoft.com/office/drawing/2014/main" id="{973ACF2E-3636-67F8-7E89-578BD56F502B}"/>
              </a:ext>
            </a:extLst>
          </p:cNvPr>
          <p:cNvSpPr txBox="1"/>
          <p:nvPr/>
        </p:nvSpPr>
        <p:spPr>
          <a:xfrm>
            <a:off x="6568120" y="3586056"/>
            <a:ext cx="2960594" cy="261610"/>
          </a:xfrm>
          <a:prstGeom prst="rect">
            <a:avLst/>
          </a:prstGeom>
          <a:noFill/>
        </p:spPr>
        <p:txBody>
          <a:bodyPr wrap="square">
            <a:spAutoFit/>
          </a:bodyPr>
          <a:lstStyle/>
          <a:p>
            <a:r>
              <a:rPr lang="en-US" sz="1100" dirty="0">
                <a:solidFill>
                  <a:srgbClr val="746558"/>
                </a:solidFill>
                <a:latin typeface="Gelasio" panose="020B0604020202020204" charset="0"/>
                <a:cs typeface="Gelasio" panose="020B0604020202020204" charset="0"/>
              </a:rPr>
              <a:t>Figure 1.2: Architecture of CNN</a:t>
            </a:r>
            <a:endParaRPr lang="en-IN" sz="1100" dirty="0">
              <a:solidFill>
                <a:srgbClr val="746558"/>
              </a:solidFill>
              <a:latin typeface="Gelasio" panose="020B0604020202020204" charset="0"/>
              <a:cs typeface="Gelasio" panose="020B06040202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2">
          <a:extLst>
            <a:ext uri="{FF2B5EF4-FFF2-40B4-BE49-F238E27FC236}">
              <a16:creationId xmlns:a16="http://schemas.microsoft.com/office/drawing/2014/main" id="{CBA1D3B1-A3C8-E05B-B5D1-BD10AD793F62}"/>
            </a:ext>
          </a:extLst>
        </p:cNvPr>
        <p:cNvGrpSpPr/>
        <p:nvPr/>
      </p:nvGrpSpPr>
      <p:grpSpPr>
        <a:xfrm>
          <a:off x="0" y="0"/>
          <a:ext cx="0" cy="0"/>
          <a:chOff x="0" y="0"/>
          <a:chExt cx="0" cy="0"/>
        </a:xfrm>
      </p:grpSpPr>
      <p:sp>
        <p:nvSpPr>
          <p:cNvPr id="644" name="Google Shape;644;p65">
            <a:extLst>
              <a:ext uri="{FF2B5EF4-FFF2-40B4-BE49-F238E27FC236}">
                <a16:creationId xmlns:a16="http://schemas.microsoft.com/office/drawing/2014/main" id="{8DB6BEAD-07F6-DB95-8775-7F977D70C47C}"/>
              </a:ext>
            </a:extLst>
          </p:cNvPr>
          <p:cNvSpPr/>
          <p:nvPr/>
        </p:nvSpPr>
        <p:spPr>
          <a:xfrm rot="-5399809">
            <a:off x="-322543" y="659319"/>
            <a:ext cx="5512835" cy="4194428"/>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65">
            <a:extLst>
              <a:ext uri="{FF2B5EF4-FFF2-40B4-BE49-F238E27FC236}">
                <a16:creationId xmlns:a16="http://schemas.microsoft.com/office/drawing/2014/main" id="{2F3696A5-5A93-8A7A-D235-E5045BB1581A}"/>
              </a:ext>
            </a:extLst>
          </p:cNvPr>
          <p:cNvSpPr/>
          <p:nvPr/>
        </p:nvSpPr>
        <p:spPr>
          <a:xfrm rot="10285629" flipH="1">
            <a:off x="-6011938" y="-431909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65">
            <a:extLst>
              <a:ext uri="{FF2B5EF4-FFF2-40B4-BE49-F238E27FC236}">
                <a16:creationId xmlns:a16="http://schemas.microsoft.com/office/drawing/2014/main" id="{D9ED6297-554F-0147-9FC6-B067012B4EA2}"/>
              </a:ext>
            </a:extLst>
          </p:cNvPr>
          <p:cNvSpPr/>
          <p:nvPr/>
        </p:nvSpPr>
        <p:spPr>
          <a:xfrm rot="-4102346">
            <a:off x="1166603" y="3932872"/>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65">
            <a:extLst>
              <a:ext uri="{FF2B5EF4-FFF2-40B4-BE49-F238E27FC236}">
                <a16:creationId xmlns:a16="http://schemas.microsoft.com/office/drawing/2014/main" id="{6DD47D3C-A9B2-9EF5-2820-D476A078F9E5}"/>
              </a:ext>
            </a:extLst>
          </p:cNvPr>
          <p:cNvSpPr/>
          <p:nvPr/>
        </p:nvSpPr>
        <p:spPr>
          <a:xfrm flipH="1">
            <a:off x="336507" y="-3941598"/>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5">
            <a:extLst>
              <a:ext uri="{FF2B5EF4-FFF2-40B4-BE49-F238E27FC236}">
                <a16:creationId xmlns:a16="http://schemas.microsoft.com/office/drawing/2014/main" id="{43B7A704-B460-A306-756F-54B31A8F701B}"/>
              </a:ext>
            </a:extLst>
          </p:cNvPr>
          <p:cNvSpPr/>
          <p:nvPr/>
        </p:nvSpPr>
        <p:spPr>
          <a:xfrm rot="649760">
            <a:off x="-984002" y="419036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5">
            <a:extLst>
              <a:ext uri="{FF2B5EF4-FFF2-40B4-BE49-F238E27FC236}">
                <a16:creationId xmlns:a16="http://schemas.microsoft.com/office/drawing/2014/main" id="{370A21C8-D59C-3FD4-FF3E-417E9C4CDA94}"/>
              </a:ext>
            </a:extLst>
          </p:cNvPr>
          <p:cNvSpPr/>
          <p:nvPr/>
        </p:nvSpPr>
        <p:spPr>
          <a:xfrm rot="-6621704" flipH="1">
            <a:off x="-3919845" y="1710891"/>
            <a:ext cx="7826147" cy="287787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65">
            <a:extLst>
              <a:ext uri="{FF2B5EF4-FFF2-40B4-BE49-F238E27FC236}">
                <a16:creationId xmlns:a16="http://schemas.microsoft.com/office/drawing/2014/main" id="{A293DD85-0045-6E00-EAE6-C9590E19ADDE}"/>
              </a:ext>
            </a:extLst>
          </p:cNvPr>
          <p:cNvSpPr txBox="1">
            <a:spLocks noGrp="1"/>
          </p:cNvSpPr>
          <p:nvPr>
            <p:ph type="title"/>
          </p:nvPr>
        </p:nvSpPr>
        <p:spPr>
          <a:xfrm flipH="1">
            <a:off x="615988" y="66215"/>
            <a:ext cx="7704000" cy="572700"/>
          </a:xfrm>
          <a:prstGeom prst="rect">
            <a:avLst/>
          </a:prstGeom>
        </p:spPr>
        <p:txBody>
          <a:bodyPr spcFirstLastPara="1" wrap="square" lIns="91425" tIns="91425" rIns="91425" bIns="91425" anchor="ctr" anchorCtr="0">
            <a:noAutofit/>
          </a:bodyPr>
          <a:lstStyle/>
          <a:p>
            <a:pPr marL="0" indent="0">
              <a:lnSpc>
                <a:spcPts val="4950"/>
              </a:lnSpc>
              <a:buNone/>
            </a:pPr>
            <a:r>
              <a:rPr lang="en-US" sz="2800" dirty="0">
                <a:latin typeface="Gelasio Semi Bold" pitchFamily="34" charset="0"/>
                <a:ea typeface="Gelasio Semi Bold" pitchFamily="34" charset="-122"/>
                <a:cs typeface="Gelasio Semi Bold" pitchFamily="34" charset="-120"/>
              </a:rPr>
              <a:t>Data Flow</a:t>
            </a:r>
            <a:endParaRPr lang="en-US" sz="2800" dirty="0"/>
          </a:p>
        </p:txBody>
      </p:sp>
      <p:pic>
        <p:nvPicPr>
          <p:cNvPr id="19" name="Picture 18">
            <a:extLst>
              <a:ext uri="{FF2B5EF4-FFF2-40B4-BE49-F238E27FC236}">
                <a16:creationId xmlns:a16="http://schemas.microsoft.com/office/drawing/2014/main" id="{5D6CBFC0-A575-8CE6-9EB3-F7836B5B07A4}"/>
              </a:ext>
            </a:extLst>
          </p:cNvPr>
          <p:cNvPicPr>
            <a:picLocks noChangeAspect="1"/>
          </p:cNvPicPr>
          <p:nvPr/>
        </p:nvPicPr>
        <p:blipFill>
          <a:blip r:embed="rId3"/>
          <a:stretch>
            <a:fillRect/>
          </a:stretch>
        </p:blipFill>
        <p:spPr>
          <a:xfrm>
            <a:off x="760759" y="909671"/>
            <a:ext cx="7704001" cy="3758656"/>
          </a:xfrm>
          <a:prstGeom prst="rect">
            <a:avLst/>
          </a:prstGeom>
        </p:spPr>
      </p:pic>
    </p:spTree>
    <p:extLst>
      <p:ext uri="{BB962C8B-B14F-4D97-AF65-F5344CB8AC3E}">
        <p14:creationId xmlns:p14="http://schemas.microsoft.com/office/powerpoint/2010/main" val="4032698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2">
          <a:extLst>
            <a:ext uri="{FF2B5EF4-FFF2-40B4-BE49-F238E27FC236}">
              <a16:creationId xmlns:a16="http://schemas.microsoft.com/office/drawing/2014/main" id="{44F8D089-3DB9-B59F-5E06-88691B819542}"/>
            </a:ext>
          </a:extLst>
        </p:cNvPr>
        <p:cNvGrpSpPr/>
        <p:nvPr/>
      </p:nvGrpSpPr>
      <p:grpSpPr>
        <a:xfrm>
          <a:off x="0" y="0"/>
          <a:ext cx="0" cy="0"/>
          <a:chOff x="0" y="0"/>
          <a:chExt cx="0" cy="0"/>
        </a:xfrm>
      </p:grpSpPr>
      <p:sp>
        <p:nvSpPr>
          <p:cNvPr id="644" name="Google Shape;644;p65">
            <a:extLst>
              <a:ext uri="{FF2B5EF4-FFF2-40B4-BE49-F238E27FC236}">
                <a16:creationId xmlns:a16="http://schemas.microsoft.com/office/drawing/2014/main" id="{3B5205F4-E0C5-F831-BD04-6C7874C17E3B}"/>
              </a:ext>
            </a:extLst>
          </p:cNvPr>
          <p:cNvSpPr/>
          <p:nvPr/>
        </p:nvSpPr>
        <p:spPr>
          <a:xfrm rot="-5399809">
            <a:off x="-322543" y="659319"/>
            <a:ext cx="5512835" cy="4194428"/>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65">
            <a:extLst>
              <a:ext uri="{FF2B5EF4-FFF2-40B4-BE49-F238E27FC236}">
                <a16:creationId xmlns:a16="http://schemas.microsoft.com/office/drawing/2014/main" id="{923BFC86-DF85-C7CC-D081-90CD056FDF76}"/>
              </a:ext>
            </a:extLst>
          </p:cNvPr>
          <p:cNvSpPr/>
          <p:nvPr/>
        </p:nvSpPr>
        <p:spPr>
          <a:xfrm rot="10285629" flipH="1">
            <a:off x="-6011938" y="-431909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65">
            <a:extLst>
              <a:ext uri="{FF2B5EF4-FFF2-40B4-BE49-F238E27FC236}">
                <a16:creationId xmlns:a16="http://schemas.microsoft.com/office/drawing/2014/main" id="{C49F61C4-BFF0-54ED-043E-D04F266DC9B3}"/>
              </a:ext>
            </a:extLst>
          </p:cNvPr>
          <p:cNvSpPr/>
          <p:nvPr/>
        </p:nvSpPr>
        <p:spPr>
          <a:xfrm rot="-4102346">
            <a:off x="1166603" y="3932872"/>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65">
            <a:extLst>
              <a:ext uri="{FF2B5EF4-FFF2-40B4-BE49-F238E27FC236}">
                <a16:creationId xmlns:a16="http://schemas.microsoft.com/office/drawing/2014/main" id="{B731DACA-8F14-879F-F49A-6FAEAFD7D333}"/>
              </a:ext>
            </a:extLst>
          </p:cNvPr>
          <p:cNvSpPr/>
          <p:nvPr/>
        </p:nvSpPr>
        <p:spPr>
          <a:xfrm flipH="1">
            <a:off x="580630" y="-39415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5">
            <a:extLst>
              <a:ext uri="{FF2B5EF4-FFF2-40B4-BE49-F238E27FC236}">
                <a16:creationId xmlns:a16="http://schemas.microsoft.com/office/drawing/2014/main" id="{C0F4EEC0-44BF-6D3C-BB77-88EAEC68AFEF}"/>
              </a:ext>
            </a:extLst>
          </p:cNvPr>
          <p:cNvSpPr/>
          <p:nvPr/>
        </p:nvSpPr>
        <p:spPr>
          <a:xfrm rot="649760">
            <a:off x="-984002" y="419036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5">
            <a:extLst>
              <a:ext uri="{FF2B5EF4-FFF2-40B4-BE49-F238E27FC236}">
                <a16:creationId xmlns:a16="http://schemas.microsoft.com/office/drawing/2014/main" id="{EACD506B-5B71-1ACE-3E0E-654310E38D4C}"/>
              </a:ext>
            </a:extLst>
          </p:cNvPr>
          <p:cNvSpPr/>
          <p:nvPr/>
        </p:nvSpPr>
        <p:spPr>
          <a:xfrm rot="-6621704" flipH="1">
            <a:off x="-3919845" y="1710891"/>
            <a:ext cx="7826147" cy="287787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65">
            <a:extLst>
              <a:ext uri="{FF2B5EF4-FFF2-40B4-BE49-F238E27FC236}">
                <a16:creationId xmlns:a16="http://schemas.microsoft.com/office/drawing/2014/main" id="{B80C0199-79DA-F2DB-2738-7A0D2220DBE1}"/>
              </a:ext>
            </a:extLst>
          </p:cNvPr>
          <p:cNvSpPr txBox="1">
            <a:spLocks noGrp="1"/>
          </p:cNvSpPr>
          <p:nvPr>
            <p:ph type="title"/>
          </p:nvPr>
        </p:nvSpPr>
        <p:spPr>
          <a:xfrm flipH="1">
            <a:off x="859370" y="260380"/>
            <a:ext cx="7704000" cy="572700"/>
          </a:xfrm>
          <a:prstGeom prst="rect">
            <a:avLst/>
          </a:prstGeom>
        </p:spPr>
        <p:txBody>
          <a:bodyPr spcFirstLastPara="1" wrap="square" lIns="91425" tIns="91425" rIns="91425" bIns="91425" anchor="ctr" anchorCtr="0">
            <a:noAutofit/>
          </a:bodyPr>
          <a:lstStyle/>
          <a:p>
            <a:pPr>
              <a:lnSpc>
                <a:spcPct val="150000"/>
              </a:lnSpc>
            </a:pPr>
            <a:r>
              <a:rPr lang="en-US" sz="2800" b="1" dirty="0">
                <a:solidFill>
                  <a:srgbClr val="5C564C"/>
                </a:solidFill>
                <a:latin typeface="Gelasio Semi Bold" panose="020B0604020202020204" charset="0"/>
                <a:cs typeface="Gelasio Semi Bold" panose="020B0604020202020204" charset="0"/>
              </a:rPr>
              <a:t>Work Flow Diagram:</a:t>
            </a:r>
            <a:br>
              <a:rPr lang="en-US" sz="2800" b="1" dirty="0">
                <a:solidFill>
                  <a:srgbClr val="5C564C"/>
                </a:solidFill>
                <a:latin typeface="Gelasio Semi Bold" panose="020B0604020202020204" charset="0"/>
                <a:cs typeface="Gelasio Semi Bold" panose="020B0604020202020204" charset="0"/>
              </a:rPr>
            </a:br>
            <a:endParaRPr lang="en-US" dirty="0">
              <a:solidFill>
                <a:srgbClr val="746558"/>
              </a:solidFill>
              <a:latin typeface="Gelasio Semi Bold" panose="020B0604020202020204" charset="0"/>
              <a:cs typeface="Gelasio Semi Bold" panose="020B0604020202020204" charset="0"/>
            </a:endParaRPr>
          </a:p>
        </p:txBody>
      </p:sp>
      <p:pic>
        <p:nvPicPr>
          <p:cNvPr id="5" name="Picture 4">
            <a:extLst>
              <a:ext uri="{FF2B5EF4-FFF2-40B4-BE49-F238E27FC236}">
                <a16:creationId xmlns:a16="http://schemas.microsoft.com/office/drawing/2014/main" id="{A797AB0C-A17F-A20B-E639-1256BD3D3D82}"/>
              </a:ext>
            </a:extLst>
          </p:cNvPr>
          <p:cNvPicPr>
            <a:picLocks noChangeAspect="1"/>
          </p:cNvPicPr>
          <p:nvPr/>
        </p:nvPicPr>
        <p:blipFill>
          <a:blip r:embed="rId3"/>
          <a:stretch>
            <a:fillRect/>
          </a:stretch>
        </p:blipFill>
        <p:spPr>
          <a:xfrm>
            <a:off x="1950720" y="1193708"/>
            <a:ext cx="5221141" cy="3138524"/>
          </a:xfrm>
          <a:prstGeom prst="rect">
            <a:avLst/>
          </a:prstGeom>
        </p:spPr>
      </p:pic>
    </p:spTree>
    <p:extLst>
      <p:ext uri="{BB962C8B-B14F-4D97-AF65-F5344CB8AC3E}">
        <p14:creationId xmlns:p14="http://schemas.microsoft.com/office/powerpoint/2010/main" val="1444579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3" name="Title 2">
            <a:extLst>
              <a:ext uri="{FF2B5EF4-FFF2-40B4-BE49-F238E27FC236}">
                <a16:creationId xmlns:a16="http://schemas.microsoft.com/office/drawing/2014/main" id="{02EE581A-9177-02A5-53BF-692F005F90B6}"/>
              </a:ext>
            </a:extLst>
          </p:cNvPr>
          <p:cNvSpPr>
            <a:spLocks noGrp="1"/>
          </p:cNvSpPr>
          <p:nvPr>
            <p:ph type="title"/>
          </p:nvPr>
        </p:nvSpPr>
        <p:spPr>
          <a:xfrm>
            <a:off x="897750" y="-155603"/>
            <a:ext cx="7348500" cy="1532100"/>
          </a:xfrm>
        </p:spPr>
        <p:txBody>
          <a:bodyPr/>
          <a:lstStyle/>
          <a:p>
            <a:r>
              <a:rPr lang="en-US" sz="2800" dirty="0">
                <a:solidFill>
                  <a:srgbClr val="484237"/>
                </a:solidFill>
                <a:latin typeface="Gelasio Semi Bold" pitchFamily="34" charset="0"/>
                <a:ea typeface="Gelasio Semi Bold" pitchFamily="34" charset="-122"/>
                <a:cs typeface="Gelasio Semi Bold" pitchFamily="34" charset="-120"/>
              </a:rPr>
              <a:t>Technology Stack For Model Building</a:t>
            </a:r>
            <a:br>
              <a:rPr lang="en-US" sz="2800" dirty="0"/>
            </a:br>
            <a:endParaRPr lang="en-IN" sz="2800" dirty="0"/>
          </a:p>
        </p:txBody>
      </p:sp>
      <p:sp>
        <p:nvSpPr>
          <p:cNvPr id="11" name="TextBox 10">
            <a:extLst>
              <a:ext uri="{FF2B5EF4-FFF2-40B4-BE49-F238E27FC236}">
                <a16:creationId xmlns:a16="http://schemas.microsoft.com/office/drawing/2014/main" id="{AA276DD0-79C1-C9D5-00FD-34F789A807AF}"/>
              </a:ext>
            </a:extLst>
          </p:cNvPr>
          <p:cNvSpPr txBox="1"/>
          <p:nvPr/>
        </p:nvSpPr>
        <p:spPr>
          <a:xfrm>
            <a:off x="775830" y="1203777"/>
            <a:ext cx="7917460" cy="4549772"/>
          </a:xfrm>
          <a:prstGeom prst="rect">
            <a:avLst/>
          </a:prstGeom>
          <a:noFill/>
        </p:spPr>
        <p:txBody>
          <a:bodyPr wrap="square">
            <a:spAutoFit/>
          </a:bodyPr>
          <a:lstStyle/>
          <a:p>
            <a:pPr marL="457200" indent="-457200">
              <a:lnSpc>
                <a:spcPct val="25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Programming Language - </a:t>
            </a:r>
            <a:r>
              <a:rPr lang="en-US" dirty="0">
                <a:solidFill>
                  <a:srgbClr val="746558"/>
                </a:solidFill>
                <a:latin typeface="Gelasio" panose="020B0604020202020204" charset="0"/>
                <a:cs typeface="Gelasio" panose="020B0604020202020204" charset="0"/>
              </a:rPr>
              <a:t>Python</a:t>
            </a:r>
          </a:p>
          <a:p>
            <a:pPr marL="457200" indent="-457200">
              <a:lnSpc>
                <a:spcPct val="25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Machine Learning Framework -</a:t>
            </a:r>
            <a:r>
              <a:rPr lang="en-US" dirty="0">
                <a:solidFill>
                  <a:srgbClr val="746558"/>
                </a:solidFill>
                <a:latin typeface="Gelasio" panose="020B0604020202020204" charset="0"/>
                <a:cs typeface="Gelasio" panose="020B0604020202020204" charset="0"/>
              </a:rPr>
              <a:t>TensorFlow/Keras</a:t>
            </a:r>
          </a:p>
          <a:p>
            <a:pPr marL="457200" indent="-457200">
              <a:lnSpc>
                <a:spcPct val="25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Audio Processing - </a:t>
            </a:r>
            <a:r>
              <a:rPr lang="en-US" dirty="0">
                <a:solidFill>
                  <a:srgbClr val="746558"/>
                </a:solidFill>
                <a:latin typeface="Gelasio" panose="020B0604020202020204" charset="0"/>
                <a:cs typeface="Gelasio" panose="020B0604020202020204" charset="0"/>
              </a:rPr>
              <a:t>Librosa — Extracts MFCC (Mel-Frequency Cepstral Coefficients)</a:t>
            </a:r>
          </a:p>
          <a:p>
            <a:pPr marL="285750" indent="-285750">
              <a:lnSpc>
                <a:spcPct val="25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    Alert System - </a:t>
            </a:r>
            <a:r>
              <a:rPr lang="en-US" dirty="0">
                <a:solidFill>
                  <a:srgbClr val="5C564C"/>
                </a:solidFill>
                <a:latin typeface="Gelasio" panose="020B0604020202020204" charset="0"/>
                <a:cs typeface="Gelasio" panose="020B0604020202020204" charset="0"/>
              </a:rPr>
              <a:t>Twilio API</a:t>
            </a:r>
          </a:p>
          <a:p>
            <a:pPr marL="285750" indent="-285750">
              <a:lnSpc>
                <a:spcPct val="250000"/>
              </a:lnSpc>
              <a:buFont typeface="Wingdings" panose="05000000000000000000" pitchFamily="2" charset="2"/>
              <a:buChar char="Ø"/>
            </a:pPr>
            <a:r>
              <a:rPr lang="en-US" dirty="0">
                <a:solidFill>
                  <a:srgbClr val="484237"/>
                </a:solidFill>
                <a:latin typeface="Gelasio Semi Bold" panose="020B0604020202020204" charset="0"/>
                <a:cs typeface="Gelasio Semi Bold" panose="020B0604020202020204" charset="0"/>
              </a:rPr>
              <a:t>    Location Tracking - </a:t>
            </a:r>
            <a:r>
              <a:rPr lang="en-US" dirty="0">
                <a:solidFill>
                  <a:srgbClr val="5C564C"/>
                </a:solidFill>
                <a:latin typeface="Gelasio" panose="020B0604020202020204" charset="0"/>
                <a:cs typeface="Gelasio" panose="020B0604020202020204" charset="0"/>
              </a:rPr>
              <a:t>System GPS and Google Geolocation API</a:t>
            </a:r>
          </a:p>
          <a:p>
            <a:pPr marL="342900" indent="-342900">
              <a:lnSpc>
                <a:spcPct val="250000"/>
              </a:lnSpc>
              <a:buFont typeface="Wingdings" panose="05000000000000000000" pitchFamily="2" charset="2"/>
              <a:buChar char="Ø"/>
            </a:pPr>
            <a:r>
              <a:rPr lang="en-US" sz="1400" dirty="0">
                <a:solidFill>
                  <a:srgbClr val="484237"/>
                </a:solidFill>
                <a:latin typeface="Gelasio Semi Bold" panose="020B0604020202020204" charset="0"/>
                <a:cs typeface="Gelasio Semi Bold" panose="020B0604020202020204" charset="0"/>
              </a:rPr>
              <a:t>   Android </a:t>
            </a:r>
            <a:r>
              <a:rPr lang="en-US" dirty="0">
                <a:solidFill>
                  <a:srgbClr val="484237"/>
                </a:solidFill>
                <a:latin typeface="Gelasio Semi Bold" panose="020B0604020202020204" charset="0"/>
                <a:cs typeface="Gelasio Semi Bold" panose="020B0604020202020204" charset="0"/>
              </a:rPr>
              <a:t>App Development - </a:t>
            </a:r>
            <a:r>
              <a:rPr lang="en-US" dirty="0">
                <a:solidFill>
                  <a:srgbClr val="5C564C"/>
                </a:solidFill>
                <a:latin typeface="Gelasio" panose="020B0604020202020204" charset="0"/>
                <a:cs typeface="Gelasio" panose="020B0604020202020204" charset="0"/>
              </a:rPr>
              <a:t>Java and Android Studio</a:t>
            </a:r>
          </a:p>
          <a:p>
            <a:pPr marL="342900" lvl="2" indent="-342900">
              <a:lnSpc>
                <a:spcPct val="250000"/>
              </a:lnSpc>
              <a:buFont typeface="Wingdings" panose="05000000000000000000" pitchFamily="2" charset="2"/>
              <a:buChar char="Ø"/>
            </a:pPr>
            <a:r>
              <a:rPr lang="en-US" dirty="0">
                <a:solidFill>
                  <a:srgbClr val="5C564C"/>
                </a:solidFill>
                <a:latin typeface="Gelasio" panose="020B0604020202020204" charset="0"/>
                <a:cs typeface="Gelasio" panose="020B0604020202020204" charset="0"/>
              </a:rPr>
              <a:t>    Dataset – Kaggle &amp; GitHub, classified as scream and no - scream 400 wav files each.</a:t>
            </a:r>
          </a:p>
          <a:p>
            <a:pPr marL="342900" indent="-342900">
              <a:lnSpc>
                <a:spcPct val="150000"/>
              </a:lnSpc>
              <a:buFont typeface="Wingdings" panose="05000000000000000000" pitchFamily="2" charset="2"/>
              <a:buChar char="Ø"/>
            </a:pPr>
            <a:endParaRPr lang="en-US" sz="1400" dirty="0">
              <a:solidFill>
                <a:srgbClr val="484237"/>
              </a:solidFill>
              <a:latin typeface="Gelasio Semi Bold" panose="020B0604020202020204" charset="0"/>
              <a:cs typeface="Gelasio Semi Bold" panose="020B0604020202020204" charset="0"/>
            </a:endParaRPr>
          </a:p>
          <a:p>
            <a:pPr marL="285750" indent="-285750">
              <a:lnSpc>
                <a:spcPct val="200000"/>
              </a:lnSpc>
              <a:buFont typeface="Wingdings" panose="05000000000000000000" pitchFamily="2" charset="2"/>
              <a:buChar char="Ø"/>
            </a:pPr>
            <a:endParaRPr lang="en-US" dirty="0">
              <a:solidFill>
                <a:srgbClr val="746558"/>
              </a:solidFill>
              <a:latin typeface="Gelasio" panose="020B0604020202020204" charset="0"/>
              <a:cs typeface="Gelasio" panose="020B06040202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70"/>
          <p:cNvSpPr txBox="1">
            <a:spLocks noGrp="1"/>
          </p:cNvSpPr>
          <p:nvPr>
            <p:ph type="title"/>
          </p:nvPr>
        </p:nvSpPr>
        <p:spPr>
          <a:xfrm>
            <a:off x="720000" y="161279"/>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chemeClr val="lt1"/>
                </a:solidFill>
              </a:rPr>
              <a:t>Technology Stack For Android App</a:t>
            </a:r>
            <a:endParaRPr sz="3200" dirty="0">
              <a:solidFill>
                <a:schemeClr val="lt1"/>
              </a:solidFill>
            </a:endParaRPr>
          </a:p>
        </p:txBody>
      </p:sp>
      <p:sp>
        <p:nvSpPr>
          <p:cNvPr id="18" name="TextBox 17">
            <a:extLst>
              <a:ext uri="{FF2B5EF4-FFF2-40B4-BE49-F238E27FC236}">
                <a16:creationId xmlns:a16="http://schemas.microsoft.com/office/drawing/2014/main" id="{77563858-CFF7-EAD5-BD33-12D734AD13BE}"/>
              </a:ext>
            </a:extLst>
          </p:cNvPr>
          <p:cNvSpPr txBox="1"/>
          <p:nvPr/>
        </p:nvSpPr>
        <p:spPr>
          <a:xfrm>
            <a:off x="720000" y="988516"/>
            <a:ext cx="8058240" cy="3724096"/>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IN" dirty="0">
                <a:latin typeface="Manrope" panose="020B0604020202020204" charset="0"/>
              </a:rPr>
              <a:t>Language: Java (Android SDK)</a:t>
            </a:r>
          </a:p>
          <a:p>
            <a:pPr marL="285750" indent="-285750">
              <a:lnSpc>
                <a:spcPct val="200000"/>
              </a:lnSpc>
              <a:buFont typeface="Wingdings" panose="05000000000000000000" pitchFamily="2" charset="2"/>
              <a:buChar char="Ø"/>
            </a:pPr>
            <a:r>
              <a:rPr lang="en-IN" dirty="0">
                <a:latin typeface="Manrope" panose="020B0604020202020204" charset="0"/>
              </a:rPr>
              <a:t>Platform: Android (min SDK 21+)</a:t>
            </a:r>
          </a:p>
          <a:p>
            <a:pPr marL="285750" indent="-285750">
              <a:lnSpc>
                <a:spcPct val="200000"/>
              </a:lnSpc>
              <a:buFont typeface="Wingdings" panose="05000000000000000000" pitchFamily="2" charset="2"/>
              <a:buChar char="Ø"/>
            </a:pPr>
            <a:r>
              <a:rPr lang="en-IN" dirty="0">
                <a:latin typeface="Manrope" panose="020B0604020202020204" charset="0"/>
              </a:rPr>
              <a:t>UI Framework: Android XML Layouts, </a:t>
            </a:r>
            <a:r>
              <a:rPr lang="en-IN" dirty="0" err="1">
                <a:latin typeface="Manrope" panose="020B0604020202020204" charset="0"/>
              </a:rPr>
              <a:t>RecyclerView</a:t>
            </a:r>
            <a:endParaRPr lang="en-IN" dirty="0">
              <a:latin typeface="Manrope" panose="020B0604020202020204" charset="0"/>
            </a:endParaRPr>
          </a:p>
          <a:p>
            <a:pPr marL="285750" lvl="1" indent="-285750">
              <a:lnSpc>
                <a:spcPct val="200000"/>
              </a:lnSpc>
              <a:buFont typeface="Wingdings" panose="05000000000000000000" pitchFamily="2" charset="2"/>
              <a:buChar char="Ø"/>
            </a:pPr>
            <a:r>
              <a:rPr lang="en-IN" dirty="0">
                <a:latin typeface="Manrope" panose="020B0604020202020204" charset="0"/>
              </a:rPr>
              <a:t>Media APIs: </a:t>
            </a:r>
            <a:r>
              <a:rPr lang="en-IN" dirty="0" err="1">
                <a:latin typeface="Manrope" panose="020B0604020202020204" charset="0"/>
              </a:rPr>
              <a:t>AudioRecord</a:t>
            </a:r>
            <a:r>
              <a:rPr lang="en-IN" dirty="0">
                <a:latin typeface="Manrope" panose="020B0604020202020204" charset="0"/>
              </a:rPr>
              <a:t>, </a:t>
            </a:r>
            <a:r>
              <a:rPr lang="en-IN" dirty="0" err="1">
                <a:latin typeface="Manrope" panose="020B0604020202020204" charset="0"/>
              </a:rPr>
              <a:t>MediaRecorder</a:t>
            </a:r>
            <a:r>
              <a:rPr lang="en-IN" dirty="0">
                <a:latin typeface="Manrope" panose="020B0604020202020204" charset="0"/>
              </a:rPr>
              <a:t> for real-time audio capture.</a:t>
            </a:r>
          </a:p>
          <a:p>
            <a:pPr marL="285750" lvl="7" indent="-285750">
              <a:lnSpc>
                <a:spcPct val="200000"/>
              </a:lnSpc>
              <a:buFont typeface="Wingdings" panose="05000000000000000000" pitchFamily="2" charset="2"/>
              <a:buChar char="Ø"/>
            </a:pPr>
            <a:r>
              <a:rPr lang="en-IN" dirty="0">
                <a:latin typeface="Manrope" panose="020B0604020202020204" charset="0"/>
              </a:rPr>
              <a:t>Permissions &amp; System APIs: Runtime permissions </a:t>
            </a:r>
            <a:r>
              <a:rPr lang="en-IN" sz="1200" dirty="0">
                <a:latin typeface="Manrope" panose="020B0604020202020204" charset="0"/>
              </a:rPr>
              <a:t>(SEND_SMS, RECORD_AUDIO, ACCESS_FINE_LOCATION, POST_NOTIFICATIONS)</a:t>
            </a:r>
          </a:p>
          <a:p>
            <a:pPr marL="285750" lvl="7" indent="-285750">
              <a:lnSpc>
                <a:spcPct val="200000"/>
              </a:lnSpc>
              <a:buFont typeface="Wingdings" panose="05000000000000000000" pitchFamily="2" charset="2"/>
              <a:buChar char="Ø"/>
            </a:pPr>
            <a:r>
              <a:rPr lang="en-IN" dirty="0">
                <a:latin typeface="Manrope" panose="020B0604020202020204" charset="0"/>
              </a:rPr>
              <a:t>SMS: </a:t>
            </a:r>
            <a:r>
              <a:rPr lang="en-IN" dirty="0" err="1">
                <a:latin typeface="Manrope" panose="020B0604020202020204" charset="0"/>
              </a:rPr>
              <a:t>SmsManager</a:t>
            </a:r>
            <a:r>
              <a:rPr lang="en-IN" dirty="0">
                <a:latin typeface="Manrope" panose="020B0604020202020204" charset="0"/>
              </a:rPr>
              <a:t> (via </a:t>
            </a:r>
            <a:r>
              <a:rPr lang="en-IN" dirty="0" err="1">
                <a:latin typeface="Manrope" panose="020B0604020202020204" charset="0"/>
              </a:rPr>
              <a:t>SmsService</a:t>
            </a:r>
            <a:r>
              <a:rPr lang="en-IN" dirty="0">
                <a:latin typeface="Manrope" panose="020B0604020202020204" charset="0"/>
              </a:rPr>
              <a:t>)</a:t>
            </a:r>
          </a:p>
          <a:p>
            <a:pPr marL="285750" lvl="7" indent="-285750">
              <a:lnSpc>
                <a:spcPct val="200000"/>
              </a:lnSpc>
              <a:buFont typeface="Wingdings" panose="05000000000000000000" pitchFamily="2" charset="2"/>
              <a:buChar char="Ø"/>
            </a:pPr>
            <a:r>
              <a:rPr lang="en-IN" dirty="0">
                <a:latin typeface="Manrope" panose="020B0604020202020204" charset="0"/>
              </a:rPr>
              <a:t>UI Components: </a:t>
            </a:r>
            <a:r>
              <a:rPr lang="en-IN" dirty="0" err="1">
                <a:latin typeface="Manrope" panose="020B0604020202020204" charset="0"/>
              </a:rPr>
              <a:t>AlertDialog</a:t>
            </a:r>
            <a:r>
              <a:rPr lang="en-IN" dirty="0">
                <a:latin typeface="Manrope" panose="020B0604020202020204" charset="0"/>
              </a:rPr>
              <a:t>, Toast, </a:t>
            </a:r>
            <a:r>
              <a:rPr lang="en-IN" dirty="0" err="1">
                <a:latin typeface="Manrope" panose="020B0604020202020204" charset="0"/>
              </a:rPr>
              <a:t>EditText</a:t>
            </a:r>
            <a:r>
              <a:rPr lang="en-IN" dirty="0">
                <a:latin typeface="Manrope" panose="020B0604020202020204" charset="0"/>
              </a:rPr>
              <a:t>, Button, </a:t>
            </a:r>
            <a:r>
              <a:rPr lang="en-IN" dirty="0" err="1">
                <a:latin typeface="Manrope" panose="020B0604020202020204" charset="0"/>
              </a:rPr>
              <a:t>RecyclerView</a:t>
            </a:r>
            <a:endParaRPr lang="en-IN" dirty="0">
              <a:latin typeface="Manrope" panose="020B0604020202020204" charset="0"/>
            </a:endParaRPr>
          </a:p>
          <a:p>
            <a:pPr lvl="2"/>
            <a:endParaRPr lang="en-IN" sz="1600" dirty="0">
              <a:latin typeface="Manrope" panose="020B060402020202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68"/>
          <p:cNvSpPr txBox="1">
            <a:spLocks noGrp="1"/>
          </p:cNvSpPr>
          <p:nvPr>
            <p:ph type="title"/>
          </p:nvPr>
        </p:nvSpPr>
        <p:spPr>
          <a:xfrm>
            <a:off x="1844310" y="450014"/>
            <a:ext cx="7410900" cy="768126"/>
          </a:xfrm>
          <a:prstGeom prst="rect">
            <a:avLst/>
          </a:prstGeom>
        </p:spPr>
        <p:txBody>
          <a:bodyPr spcFirstLastPara="1" wrap="square" lIns="91425" tIns="91425" rIns="91425" bIns="91425" anchor="b" anchorCtr="0">
            <a:noAutofit/>
          </a:bodyPr>
          <a:lstStyle/>
          <a:p>
            <a:pPr lvl="0"/>
            <a:r>
              <a:rPr lang="en-US" sz="3200" dirty="0">
                <a:solidFill>
                  <a:srgbClr val="484237"/>
                </a:solidFill>
                <a:latin typeface="Gelasio Semi Bold" pitchFamily="34" charset="0"/>
                <a:ea typeface="Gelasio Semi Bold" pitchFamily="34" charset="-122"/>
                <a:cs typeface="Gelasio Semi Bold" pitchFamily="34" charset="-120"/>
              </a:rPr>
              <a:t>Android App Integration </a:t>
            </a:r>
            <a:endParaRPr sz="3200" dirty="0"/>
          </a:p>
        </p:txBody>
      </p:sp>
      <p:sp>
        <p:nvSpPr>
          <p:cNvPr id="7" name="TextBox 6">
            <a:extLst>
              <a:ext uri="{FF2B5EF4-FFF2-40B4-BE49-F238E27FC236}">
                <a16:creationId xmlns:a16="http://schemas.microsoft.com/office/drawing/2014/main" id="{37537E31-6D62-2AD0-DB53-99EB8EB92071}"/>
              </a:ext>
            </a:extLst>
          </p:cNvPr>
          <p:cNvSpPr txBox="1"/>
          <p:nvPr/>
        </p:nvSpPr>
        <p:spPr>
          <a:xfrm>
            <a:off x="0" y="1301526"/>
            <a:ext cx="8945880" cy="3062890"/>
          </a:xfrm>
          <a:prstGeom prst="rect">
            <a:avLst/>
          </a:prstGeom>
          <a:noFill/>
        </p:spPr>
        <p:txBody>
          <a:bodyPr wrap="square">
            <a:spAutoFit/>
          </a:bodyPr>
          <a:lstStyle/>
          <a:p>
            <a:pPr marL="800100" lvl="1" indent="-342900">
              <a:lnSpc>
                <a:spcPct val="250000"/>
              </a:lnSpc>
              <a:buFont typeface="Wingdings" panose="05000000000000000000" pitchFamily="2" charset="2"/>
              <a:buChar char="ü"/>
            </a:pPr>
            <a:r>
              <a:rPr lang="en-US" sz="1600" dirty="0">
                <a:solidFill>
                  <a:srgbClr val="484237"/>
                </a:solidFill>
                <a:latin typeface="Gelasio Semi Bold" panose="020B0604020202020204" charset="0"/>
                <a:cs typeface="Gelasio Semi Bold" panose="020B0604020202020204" charset="0"/>
              </a:rPr>
              <a:t>Wider Accessibility - </a:t>
            </a:r>
            <a:r>
              <a:rPr lang="en-US" sz="1400" dirty="0">
                <a:solidFill>
                  <a:srgbClr val="746558"/>
                </a:solidFill>
                <a:latin typeface="Gelasio Semi Bold" panose="020B0604020202020204" charset="0"/>
                <a:cs typeface="Gelasio Semi Bold" panose="020B0604020202020204" charset="0"/>
              </a:rPr>
              <a:t>Smartphones are common, ensuring the system is available to more users.</a:t>
            </a:r>
            <a:endParaRPr lang="en-US" sz="1600" dirty="0">
              <a:solidFill>
                <a:srgbClr val="484237"/>
              </a:solidFill>
              <a:latin typeface="Gelasio Semi Bold" panose="020B0604020202020204" charset="0"/>
              <a:cs typeface="Gelasio Semi Bold" panose="020B0604020202020204" charset="0"/>
            </a:endParaRPr>
          </a:p>
          <a:p>
            <a:pPr marL="800100" lvl="1" indent="-342900">
              <a:lnSpc>
                <a:spcPct val="250000"/>
              </a:lnSpc>
              <a:buFont typeface="Wingdings" panose="05000000000000000000" pitchFamily="2" charset="2"/>
              <a:buChar char="ü"/>
            </a:pPr>
            <a:r>
              <a:rPr lang="en-US" sz="1600" dirty="0">
                <a:solidFill>
                  <a:srgbClr val="484237"/>
                </a:solidFill>
                <a:latin typeface="Gelasio Semi Bold" panose="020B0604020202020204" charset="0"/>
                <a:cs typeface="Gelasio Semi Bold" panose="020B0604020202020204" charset="0"/>
              </a:rPr>
              <a:t>Real-Time Audio Monitoring - </a:t>
            </a:r>
            <a:r>
              <a:rPr lang="en-US" sz="1400" dirty="0">
                <a:solidFill>
                  <a:srgbClr val="746558"/>
                </a:solidFill>
                <a:latin typeface="Gelasio Semi Bold" panose="020B0604020202020204" charset="0"/>
                <a:cs typeface="Gelasio Semi Bold" panose="020B0604020202020204" charset="0"/>
              </a:rPr>
              <a:t>Uses the phone's microphone to detect distress sounds instantly.</a:t>
            </a:r>
          </a:p>
          <a:p>
            <a:pPr marL="800100" lvl="1" indent="-342900">
              <a:lnSpc>
                <a:spcPct val="250000"/>
              </a:lnSpc>
              <a:buFont typeface="Wingdings" panose="05000000000000000000" pitchFamily="2" charset="2"/>
              <a:buChar char="ü"/>
            </a:pPr>
            <a:r>
              <a:rPr lang="en-US" sz="1600" dirty="0">
                <a:solidFill>
                  <a:srgbClr val="484237"/>
                </a:solidFill>
                <a:latin typeface="Gelasio Semi Bold" panose="020B0604020202020204" charset="0"/>
                <a:cs typeface="Gelasio Semi Bold" panose="020B0604020202020204" charset="0"/>
              </a:rPr>
              <a:t>On-Device ML Model - </a:t>
            </a:r>
            <a:r>
              <a:rPr lang="en-US" sz="1400" dirty="0">
                <a:solidFill>
                  <a:srgbClr val="746558"/>
                </a:solidFill>
                <a:latin typeface="Gelasio Semi Bold" panose="020B0604020202020204" charset="0"/>
                <a:cs typeface="Gelasio Semi Bold" panose="020B0604020202020204" charset="0"/>
              </a:rPr>
              <a:t>Deploys a lightweight TensorFlow Lite model for faster scream detection.</a:t>
            </a:r>
          </a:p>
          <a:p>
            <a:pPr marL="800100" lvl="1" indent="-342900">
              <a:lnSpc>
                <a:spcPct val="250000"/>
              </a:lnSpc>
              <a:buFont typeface="Wingdings" panose="05000000000000000000" pitchFamily="2" charset="2"/>
              <a:buChar char="ü"/>
            </a:pPr>
            <a:r>
              <a:rPr lang="en-US" sz="1600" dirty="0">
                <a:solidFill>
                  <a:srgbClr val="484237"/>
                </a:solidFill>
                <a:latin typeface="Gelasio Semi Bold" panose="020B0604020202020204" charset="0"/>
                <a:cs typeface="Gelasio Semi Bold" panose="020B0604020202020204" charset="0"/>
              </a:rPr>
              <a:t>Location Tracking - </a:t>
            </a:r>
            <a:r>
              <a:rPr lang="en-US" sz="1400" dirty="0">
                <a:solidFill>
                  <a:srgbClr val="746558"/>
                </a:solidFill>
                <a:latin typeface="Gelasio Semi Bold" panose="020B0604020202020204" charset="0"/>
                <a:cs typeface="Gelasio Semi Bold" panose="020B0604020202020204" charset="0"/>
              </a:rPr>
              <a:t>Utilizes GPS to provide accurate location details.</a:t>
            </a:r>
          </a:p>
          <a:p>
            <a:pPr marL="800100" lvl="1" indent="-342900">
              <a:lnSpc>
                <a:spcPct val="250000"/>
              </a:lnSpc>
              <a:buFont typeface="Wingdings" panose="05000000000000000000" pitchFamily="2" charset="2"/>
              <a:buChar char="ü"/>
            </a:pPr>
            <a:r>
              <a:rPr lang="en-US" sz="1600" dirty="0">
                <a:solidFill>
                  <a:srgbClr val="484237"/>
                </a:solidFill>
                <a:latin typeface="Gelasio Semi Bold" panose="020B0604020202020204" charset="0"/>
                <a:cs typeface="Gelasio Semi Bold" panose="020B0604020202020204" charset="0"/>
              </a:rPr>
              <a:t>Instant Alerts - </a:t>
            </a:r>
            <a:r>
              <a:rPr lang="en-US" sz="1400" dirty="0">
                <a:solidFill>
                  <a:srgbClr val="746558"/>
                </a:solidFill>
                <a:latin typeface="Gelasio Semi Bold" panose="020B0604020202020204" charset="0"/>
                <a:cs typeface="Gelasio Semi Bold" panose="020B0604020202020204" charset="0"/>
              </a:rPr>
              <a:t>Sends SMS alerts via Twilio API and inbuilt SMS system to emergency contacts.</a:t>
            </a:r>
            <a:endParaRPr lang="en-US" sz="1100" dirty="0">
              <a:solidFill>
                <a:srgbClr val="746558"/>
              </a:solidFill>
              <a:latin typeface="Gelasio Semi Bold" panose="020B0604020202020204" charset="0"/>
              <a:cs typeface="Gelasio Semi Bold" panose="020B0604020202020204" charset="0"/>
            </a:endParaRPr>
          </a:p>
        </p:txBody>
      </p:sp>
      <p:pic>
        <p:nvPicPr>
          <p:cNvPr id="8" name="Image 1" descr="preencoded.png">
            <a:extLst>
              <a:ext uri="{FF2B5EF4-FFF2-40B4-BE49-F238E27FC236}">
                <a16:creationId xmlns:a16="http://schemas.microsoft.com/office/drawing/2014/main" id="{8246E257-3E32-2DE7-306C-9B0253AA8A7A}"/>
              </a:ext>
            </a:extLst>
          </p:cNvPr>
          <p:cNvPicPr>
            <a:picLocks noChangeAspect="1"/>
          </p:cNvPicPr>
          <p:nvPr/>
        </p:nvPicPr>
        <p:blipFill>
          <a:blip r:embed="rId3"/>
          <a:stretch>
            <a:fillRect/>
          </a:stretch>
        </p:blipFill>
        <p:spPr>
          <a:xfrm>
            <a:off x="1488640" y="726328"/>
            <a:ext cx="355670" cy="3556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71"/>
                                        </p:tgtEl>
                                        <p:attrNameLst>
                                          <p:attrName>style.visibility</p:attrName>
                                        </p:attrNameLst>
                                      </p:cBhvr>
                                      <p:to>
                                        <p:strVal val="visible"/>
                                      </p:to>
                                    </p:set>
                                    <p:anim calcmode="lin" valueType="num">
                                      <p:cBhvr additive="base">
                                        <p:cTn id="7" dur="1000"/>
                                        <p:tgtEl>
                                          <p:spTgt spid="67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5795BCBD-F96E-59E8-D9CD-CA5352A13498}"/>
            </a:ext>
          </a:extLst>
        </p:cNvPr>
        <p:cNvGrpSpPr/>
        <p:nvPr/>
      </p:nvGrpSpPr>
      <p:grpSpPr>
        <a:xfrm>
          <a:off x="0" y="0"/>
          <a:ext cx="0" cy="0"/>
          <a:chOff x="0" y="0"/>
          <a:chExt cx="0" cy="0"/>
        </a:xfrm>
      </p:grpSpPr>
      <p:sp>
        <p:nvSpPr>
          <p:cNvPr id="783" name="Google Shape;783;p77">
            <a:extLst>
              <a:ext uri="{FF2B5EF4-FFF2-40B4-BE49-F238E27FC236}">
                <a16:creationId xmlns:a16="http://schemas.microsoft.com/office/drawing/2014/main" id="{A514F3DC-FFC5-5FF0-1BFA-0E35D2D66043}"/>
              </a:ext>
            </a:extLst>
          </p:cNvPr>
          <p:cNvSpPr txBox="1">
            <a:spLocks noGrp="1"/>
          </p:cNvSpPr>
          <p:nvPr>
            <p:ph type="subTitle" idx="1"/>
          </p:nvPr>
        </p:nvSpPr>
        <p:spPr>
          <a:xfrm>
            <a:off x="1" y="1361480"/>
            <a:ext cx="5658768" cy="3220680"/>
          </a:xfrm>
          <a:prstGeom prst="rect">
            <a:avLst/>
          </a:prstGeom>
        </p:spPr>
        <p:txBody>
          <a:bodyPr spcFirstLastPara="1" wrap="square" lIns="91425" tIns="91425" rIns="91425" bIns="91425" numCol="2" anchor="t" anchorCtr="0">
            <a:noAutofit/>
          </a:bodyPr>
          <a:lstStyle/>
          <a:p>
            <a:pPr marL="0" lvl="0" indent="0" algn="ctr" rtl="0">
              <a:spcBef>
                <a:spcPts val="0"/>
              </a:spcBef>
              <a:spcAft>
                <a:spcPts val="0"/>
              </a:spcAft>
              <a:buNone/>
            </a:pPr>
            <a:r>
              <a:rPr lang="en-US" dirty="0"/>
              <a:t>Clean and minimal UI designed for ease of use.</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Fields to add emergency contacts: name, phone number, and relationship.</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"Add Contact" button in purple for quick saving.</a:t>
            </a:r>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Two large buttons:</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    Green: "Safety Mode On" – starts detection</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    Red: "Safety Mode Off" – stops detection</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Dark theme improves focus and visibility in low-light settings.</a:t>
            </a:r>
            <a:endParaRPr dirty="0"/>
          </a:p>
        </p:txBody>
      </p:sp>
      <p:sp>
        <p:nvSpPr>
          <p:cNvPr id="786" name="Google Shape;786;p77">
            <a:extLst>
              <a:ext uri="{FF2B5EF4-FFF2-40B4-BE49-F238E27FC236}">
                <a16:creationId xmlns:a16="http://schemas.microsoft.com/office/drawing/2014/main" id="{81E4B02D-E027-952B-7DC2-65410F135A18}"/>
              </a:ext>
            </a:extLst>
          </p:cNvPr>
          <p:cNvSpPr txBox="1">
            <a:spLocks noGrp="1"/>
          </p:cNvSpPr>
          <p:nvPr>
            <p:ph type="title"/>
          </p:nvPr>
        </p:nvSpPr>
        <p:spPr>
          <a:xfrm>
            <a:off x="-294821" y="35179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Android </a:t>
            </a:r>
            <a:r>
              <a:rPr lang="en" dirty="0">
                <a:solidFill>
                  <a:schemeClr val="lt1"/>
                </a:solidFill>
              </a:rPr>
              <a:t>APP UI</a:t>
            </a:r>
            <a:endParaRPr dirty="0">
              <a:solidFill>
                <a:schemeClr val="lt1"/>
              </a:solidFill>
            </a:endParaRPr>
          </a:p>
        </p:txBody>
      </p:sp>
      <p:pic>
        <p:nvPicPr>
          <p:cNvPr id="13" name="Picture 12">
            <a:extLst>
              <a:ext uri="{FF2B5EF4-FFF2-40B4-BE49-F238E27FC236}">
                <a16:creationId xmlns:a16="http://schemas.microsoft.com/office/drawing/2014/main" id="{CB9D81C0-2DAE-FEC9-3071-96AABB161692}"/>
              </a:ext>
            </a:extLst>
          </p:cNvPr>
          <p:cNvPicPr>
            <a:picLocks noChangeAspect="1"/>
          </p:cNvPicPr>
          <p:nvPr/>
        </p:nvPicPr>
        <p:blipFill>
          <a:blip r:embed="rId3"/>
          <a:stretch>
            <a:fillRect/>
          </a:stretch>
        </p:blipFill>
        <p:spPr>
          <a:xfrm>
            <a:off x="5918993" y="0"/>
            <a:ext cx="2609533" cy="5143500"/>
          </a:xfrm>
          <a:prstGeom prst="rect">
            <a:avLst/>
          </a:prstGeom>
        </p:spPr>
      </p:pic>
      <p:cxnSp>
        <p:nvCxnSpPr>
          <p:cNvPr id="16" name="Straight Connector 15">
            <a:extLst>
              <a:ext uri="{FF2B5EF4-FFF2-40B4-BE49-F238E27FC236}">
                <a16:creationId xmlns:a16="http://schemas.microsoft.com/office/drawing/2014/main" id="{CA7A7C9B-BA49-66C8-3101-78C6A0FFBB85}"/>
              </a:ext>
            </a:extLst>
          </p:cNvPr>
          <p:cNvCxnSpPr/>
          <p:nvPr/>
        </p:nvCxnSpPr>
        <p:spPr>
          <a:xfrm>
            <a:off x="2804160" y="1361480"/>
            <a:ext cx="0" cy="24892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32695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DFDE91B0-1BF0-0193-F2E6-DCE7551B58FA}"/>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4B09A337-CABA-5B21-8701-DF22FEFCEA29}"/>
              </a:ext>
            </a:extLst>
          </p:cNvPr>
          <p:cNvSpPr txBox="1">
            <a:spLocks noGrp="1"/>
          </p:cNvSpPr>
          <p:nvPr>
            <p:ph type="title"/>
          </p:nvPr>
        </p:nvSpPr>
        <p:spPr>
          <a:xfrm>
            <a:off x="-294821" y="35179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Android </a:t>
            </a:r>
            <a:r>
              <a:rPr lang="en" dirty="0">
                <a:solidFill>
                  <a:schemeClr val="lt1"/>
                </a:solidFill>
              </a:rPr>
              <a:t>APP UI</a:t>
            </a:r>
            <a:endParaRPr dirty="0">
              <a:solidFill>
                <a:schemeClr val="lt1"/>
              </a:solidFill>
            </a:endParaRPr>
          </a:p>
        </p:txBody>
      </p:sp>
      <p:pic>
        <p:nvPicPr>
          <p:cNvPr id="3" name="Picture 2">
            <a:extLst>
              <a:ext uri="{FF2B5EF4-FFF2-40B4-BE49-F238E27FC236}">
                <a16:creationId xmlns:a16="http://schemas.microsoft.com/office/drawing/2014/main" id="{2638B0BC-BC09-ABEA-2BCF-8721D9029D8B}"/>
              </a:ext>
            </a:extLst>
          </p:cNvPr>
          <p:cNvPicPr>
            <a:picLocks noChangeAspect="1"/>
          </p:cNvPicPr>
          <p:nvPr/>
        </p:nvPicPr>
        <p:blipFill>
          <a:blip r:embed="rId3"/>
          <a:srcRect t="5531"/>
          <a:stretch/>
        </p:blipFill>
        <p:spPr>
          <a:xfrm>
            <a:off x="6496884" y="1009690"/>
            <a:ext cx="1587342" cy="3348990"/>
          </a:xfrm>
          <a:prstGeom prst="rect">
            <a:avLst/>
          </a:prstGeom>
        </p:spPr>
      </p:pic>
      <p:sp>
        <p:nvSpPr>
          <p:cNvPr id="6" name="Subtitle 5">
            <a:extLst>
              <a:ext uri="{FF2B5EF4-FFF2-40B4-BE49-F238E27FC236}">
                <a16:creationId xmlns:a16="http://schemas.microsoft.com/office/drawing/2014/main" id="{8E7D448B-CD4A-AC5E-F20D-60D4463FA0DA}"/>
              </a:ext>
            </a:extLst>
          </p:cNvPr>
          <p:cNvSpPr>
            <a:spLocks noGrp="1"/>
          </p:cNvSpPr>
          <p:nvPr>
            <p:ph type="subTitle" idx="1"/>
          </p:nvPr>
        </p:nvSpPr>
        <p:spPr>
          <a:xfrm>
            <a:off x="284480" y="1265302"/>
            <a:ext cx="5445760" cy="2981577"/>
          </a:xfrm>
        </p:spPr>
        <p:txBody>
          <a:bodyPr/>
          <a:lstStyle/>
          <a:p>
            <a:pPr algn="l">
              <a:buFont typeface="Arial" panose="020B0604020202020204" pitchFamily="34" charset="0"/>
              <a:buChar char="•"/>
            </a:pPr>
            <a:r>
              <a:rPr lang="en-US" sz="1800" dirty="0"/>
              <a:t>Users can add up to 5 emergency contacts in the app</a:t>
            </a:r>
          </a:p>
          <a:p>
            <a:pPr algn="l"/>
            <a:endParaRPr lang="en-US" sz="1800" dirty="0"/>
          </a:p>
          <a:p>
            <a:pPr algn="l">
              <a:buFont typeface="Arial" panose="020B0604020202020204" pitchFamily="34" charset="0"/>
              <a:buChar char="•"/>
            </a:pPr>
            <a:r>
              <a:rPr lang="en-US" sz="1800" dirty="0"/>
              <a:t>Saved contacts appear below the input form with:</a:t>
            </a:r>
          </a:p>
          <a:p>
            <a:pPr algn="l"/>
            <a:endParaRPr lang="en-US" sz="1800" dirty="0"/>
          </a:p>
          <a:p>
            <a:pPr algn="l">
              <a:buFont typeface="Wingdings" panose="05000000000000000000" pitchFamily="2" charset="2"/>
              <a:buChar char="Ø"/>
            </a:pPr>
            <a:r>
              <a:rPr lang="en-US" sz="1800" dirty="0"/>
              <a:t>    </a:t>
            </a:r>
            <a:r>
              <a:rPr lang="en-US" dirty="0"/>
              <a:t>Contact details</a:t>
            </a:r>
          </a:p>
          <a:p>
            <a:pPr algn="l">
              <a:buFont typeface="Wingdings" panose="05000000000000000000" pitchFamily="2" charset="2"/>
              <a:buChar char="Ø"/>
            </a:pPr>
            <a:endParaRPr lang="en-US" dirty="0"/>
          </a:p>
          <a:p>
            <a:pPr algn="l">
              <a:buFont typeface="Wingdings" panose="05000000000000000000" pitchFamily="2" charset="2"/>
              <a:buChar char="Ø"/>
            </a:pPr>
            <a:r>
              <a:rPr lang="en-US" dirty="0"/>
              <a:t>    A trash icon to delete the contact if needed.</a:t>
            </a:r>
            <a:endParaRPr lang="en-IN" dirty="0"/>
          </a:p>
        </p:txBody>
      </p:sp>
    </p:spTree>
    <p:extLst>
      <p:ext uri="{BB962C8B-B14F-4D97-AF65-F5344CB8AC3E}">
        <p14:creationId xmlns:p14="http://schemas.microsoft.com/office/powerpoint/2010/main" val="2028140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B468E8E4-C64B-D51E-FC7F-749EB010BB81}"/>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178DD441-031F-7B63-4B9C-B60AF063174D}"/>
              </a:ext>
            </a:extLst>
          </p:cNvPr>
          <p:cNvSpPr txBox="1">
            <a:spLocks noGrp="1"/>
          </p:cNvSpPr>
          <p:nvPr>
            <p:ph type="title"/>
          </p:nvPr>
        </p:nvSpPr>
        <p:spPr>
          <a:xfrm>
            <a:off x="-294821" y="35179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Android </a:t>
            </a:r>
            <a:r>
              <a:rPr lang="en" dirty="0">
                <a:solidFill>
                  <a:schemeClr val="lt1"/>
                </a:solidFill>
              </a:rPr>
              <a:t>APP UI</a:t>
            </a:r>
            <a:endParaRPr dirty="0">
              <a:solidFill>
                <a:schemeClr val="lt1"/>
              </a:solidFill>
            </a:endParaRPr>
          </a:p>
        </p:txBody>
      </p:sp>
      <p:sp>
        <p:nvSpPr>
          <p:cNvPr id="6" name="Subtitle 5">
            <a:extLst>
              <a:ext uri="{FF2B5EF4-FFF2-40B4-BE49-F238E27FC236}">
                <a16:creationId xmlns:a16="http://schemas.microsoft.com/office/drawing/2014/main" id="{02806CB4-FB6E-B69C-4905-8B7B4F0B927C}"/>
              </a:ext>
            </a:extLst>
          </p:cNvPr>
          <p:cNvSpPr>
            <a:spLocks noGrp="1"/>
          </p:cNvSpPr>
          <p:nvPr>
            <p:ph type="subTitle" idx="1"/>
          </p:nvPr>
        </p:nvSpPr>
        <p:spPr>
          <a:xfrm>
            <a:off x="284480" y="1265302"/>
            <a:ext cx="5496560" cy="3286378"/>
          </a:xfrm>
        </p:spPr>
        <p:txBody>
          <a:bodyPr/>
          <a:lstStyle/>
          <a:p>
            <a:pPr marL="127000" indent="0" algn="l"/>
            <a:r>
              <a:rPr lang="en-US" sz="1800" dirty="0"/>
              <a:t>Users can activate the scream detection system by turning Safety Mode On.</a:t>
            </a:r>
          </a:p>
          <a:p>
            <a:pPr algn="l">
              <a:buFont typeface="Arial" panose="020B0604020202020204" pitchFamily="34" charset="0"/>
              <a:buChar char="•"/>
            </a:pPr>
            <a:endParaRPr lang="en-US" sz="1800" dirty="0"/>
          </a:p>
          <a:p>
            <a:pPr marL="127000" indent="0" algn="l"/>
            <a:r>
              <a:rPr lang="en-US" sz="1800" dirty="0"/>
              <a:t>           → </a:t>
            </a:r>
            <a:r>
              <a:rPr lang="en-US" dirty="0"/>
              <a:t>The app then runs in the background, continuously capturing and analyzing audio.</a:t>
            </a:r>
          </a:p>
          <a:p>
            <a:pPr algn="l">
              <a:buFont typeface="Arial" panose="020B0604020202020204" pitchFamily="34" charset="0"/>
              <a:buChar char="•"/>
            </a:pPr>
            <a:endParaRPr lang="en-US" sz="1800" dirty="0"/>
          </a:p>
          <a:p>
            <a:pPr marL="127000" indent="0" algn="l"/>
            <a:r>
              <a:rPr lang="en-US" sz="1800" dirty="0"/>
              <a:t>Users can deactivate the system by turning Safety Mode Off.</a:t>
            </a:r>
          </a:p>
          <a:p>
            <a:pPr algn="l">
              <a:buFont typeface="Arial" panose="020B0604020202020204" pitchFamily="34" charset="0"/>
              <a:buChar char="•"/>
            </a:pPr>
            <a:endParaRPr lang="en-US" sz="1800" dirty="0"/>
          </a:p>
          <a:p>
            <a:pPr marL="127000" indent="0" algn="l"/>
            <a:r>
              <a:rPr lang="en-US" sz="1800" dirty="0"/>
              <a:t>          → </a:t>
            </a:r>
            <a:r>
              <a:rPr lang="en-US" dirty="0"/>
              <a:t>This will stop the background processing and pause scream detection.</a:t>
            </a:r>
            <a:endParaRPr lang="en-IN" dirty="0"/>
          </a:p>
        </p:txBody>
      </p:sp>
      <p:pic>
        <p:nvPicPr>
          <p:cNvPr id="4" name="Picture 3">
            <a:extLst>
              <a:ext uri="{FF2B5EF4-FFF2-40B4-BE49-F238E27FC236}">
                <a16:creationId xmlns:a16="http://schemas.microsoft.com/office/drawing/2014/main" id="{88F87DEC-DEBE-79E2-9F97-8F039058C3CE}"/>
              </a:ext>
            </a:extLst>
          </p:cNvPr>
          <p:cNvPicPr>
            <a:picLocks noChangeAspect="1"/>
          </p:cNvPicPr>
          <p:nvPr/>
        </p:nvPicPr>
        <p:blipFill>
          <a:blip r:embed="rId3"/>
          <a:srcRect t="77827"/>
          <a:stretch/>
        </p:blipFill>
        <p:spPr>
          <a:xfrm>
            <a:off x="6257649" y="1265302"/>
            <a:ext cx="2376719" cy="1176935"/>
          </a:xfrm>
          <a:prstGeom prst="rect">
            <a:avLst/>
          </a:prstGeom>
        </p:spPr>
      </p:pic>
      <p:pic>
        <p:nvPicPr>
          <p:cNvPr id="7" name="Picture 6">
            <a:extLst>
              <a:ext uri="{FF2B5EF4-FFF2-40B4-BE49-F238E27FC236}">
                <a16:creationId xmlns:a16="http://schemas.microsoft.com/office/drawing/2014/main" id="{B6CA6040-2D65-954E-F222-9F66C3A11546}"/>
              </a:ext>
            </a:extLst>
          </p:cNvPr>
          <p:cNvPicPr>
            <a:picLocks noChangeAspect="1"/>
          </p:cNvPicPr>
          <p:nvPr/>
        </p:nvPicPr>
        <p:blipFill>
          <a:blip r:embed="rId4"/>
          <a:srcRect t="75400"/>
          <a:stretch/>
        </p:blipFill>
        <p:spPr>
          <a:xfrm>
            <a:off x="6257650" y="3010090"/>
            <a:ext cx="2376718" cy="1305770"/>
          </a:xfrm>
          <a:prstGeom prst="rect">
            <a:avLst/>
          </a:prstGeom>
        </p:spPr>
      </p:pic>
    </p:spTree>
    <p:extLst>
      <p:ext uri="{BB962C8B-B14F-4D97-AF65-F5344CB8AC3E}">
        <p14:creationId xmlns:p14="http://schemas.microsoft.com/office/powerpoint/2010/main" val="157098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0947FA06-B0D4-01B0-76C3-212EAA8A4888}"/>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AFA5FE5B-7F28-A407-1D90-136991F3A195}"/>
              </a:ext>
            </a:extLst>
          </p:cNvPr>
          <p:cNvSpPr txBox="1">
            <a:spLocks noGrp="1"/>
          </p:cNvSpPr>
          <p:nvPr>
            <p:ph type="title"/>
          </p:nvPr>
        </p:nvSpPr>
        <p:spPr>
          <a:xfrm>
            <a:off x="639899" y="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Alert Message </a:t>
            </a:r>
            <a:endParaRPr lang="en-IN" dirty="0">
              <a:solidFill>
                <a:schemeClr val="lt1"/>
              </a:solidFill>
            </a:endParaRPr>
          </a:p>
        </p:txBody>
      </p:sp>
      <p:sp>
        <p:nvSpPr>
          <p:cNvPr id="9" name="TextBox 8">
            <a:extLst>
              <a:ext uri="{FF2B5EF4-FFF2-40B4-BE49-F238E27FC236}">
                <a16:creationId xmlns:a16="http://schemas.microsoft.com/office/drawing/2014/main" id="{0C9098E4-2FCD-1C67-DC61-2318E18D1EF4}"/>
              </a:ext>
            </a:extLst>
          </p:cNvPr>
          <p:cNvSpPr txBox="1"/>
          <p:nvPr/>
        </p:nvSpPr>
        <p:spPr>
          <a:xfrm>
            <a:off x="3909241" y="885130"/>
            <a:ext cx="4594860" cy="3693319"/>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Manrope" panose="020B0604020202020204" charset="0"/>
              </a:rPr>
              <a:t>Automated alert SMS sent immediately after scream detection.</a:t>
            </a:r>
          </a:p>
          <a:p>
            <a:pPr marL="285750" indent="-285750">
              <a:buFont typeface="Arial" panose="020B0604020202020204" pitchFamily="34" charset="0"/>
              <a:buChar char="•"/>
            </a:pPr>
            <a:endParaRPr lang="en-US" sz="1800" dirty="0">
              <a:latin typeface="Manrope" panose="020B0604020202020204" charset="0"/>
            </a:endParaRPr>
          </a:p>
          <a:p>
            <a:pPr marL="285750" indent="-285750">
              <a:buFont typeface="Arial" panose="020B0604020202020204" pitchFamily="34" charset="0"/>
              <a:buChar char="•"/>
            </a:pPr>
            <a:r>
              <a:rPr lang="en-US" sz="1800" dirty="0">
                <a:latin typeface="Manrope" panose="020B0604020202020204" charset="0"/>
              </a:rPr>
              <a:t>Message includes:</a:t>
            </a:r>
          </a:p>
          <a:p>
            <a:pPr marL="285750" indent="-285750">
              <a:buFont typeface="Arial" panose="020B0604020202020204" pitchFamily="34" charset="0"/>
              <a:buChar char="•"/>
            </a:pPr>
            <a:endParaRPr lang="en-US" sz="1800" dirty="0">
              <a:latin typeface="Manrope" panose="020B0604020202020204" charset="0"/>
            </a:endParaRPr>
          </a:p>
          <a:p>
            <a:pPr marL="285750" indent="-285750">
              <a:buFont typeface="Arial" panose="020B0604020202020204" pitchFamily="34" charset="0"/>
              <a:buChar char="•"/>
            </a:pPr>
            <a:r>
              <a:rPr lang="en-US" sz="1800" dirty="0">
                <a:latin typeface="Manrope" panose="020B0604020202020204" charset="0"/>
              </a:rPr>
              <a:t>    ⚠️ Alert text: “Scream detected! The user may be in danger!”</a:t>
            </a:r>
          </a:p>
          <a:p>
            <a:pPr marL="285750" indent="-285750">
              <a:buFont typeface="Arial" panose="020B0604020202020204" pitchFamily="34" charset="0"/>
              <a:buChar char="•"/>
            </a:pPr>
            <a:endParaRPr lang="en-US" sz="1800" dirty="0">
              <a:latin typeface="Manrope" panose="020B0604020202020204" charset="0"/>
            </a:endParaRPr>
          </a:p>
          <a:p>
            <a:pPr marL="285750" indent="-285750">
              <a:buFont typeface="Arial" panose="020B0604020202020204" pitchFamily="34" charset="0"/>
              <a:buChar char="•"/>
            </a:pPr>
            <a:r>
              <a:rPr lang="en-US" sz="1800" dirty="0">
                <a:latin typeface="Manrope" panose="020B0604020202020204" charset="0"/>
              </a:rPr>
              <a:t>    📍 Location info with a Google Maps link to the user’s real-time position.</a:t>
            </a:r>
          </a:p>
          <a:p>
            <a:pPr marL="285750" indent="-285750">
              <a:buFont typeface="Arial" panose="020B0604020202020204" pitchFamily="34" charset="0"/>
              <a:buChar char="•"/>
            </a:pPr>
            <a:endParaRPr lang="en-US" sz="1800" dirty="0">
              <a:latin typeface="Manrope" panose="020B0604020202020204" charset="0"/>
            </a:endParaRPr>
          </a:p>
          <a:p>
            <a:pPr marL="285750" indent="-285750">
              <a:buFont typeface="Arial" panose="020B0604020202020204" pitchFamily="34" charset="0"/>
              <a:buChar char="•"/>
            </a:pPr>
            <a:r>
              <a:rPr lang="en-US" sz="1800" dirty="0">
                <a:latin typeface="Manrope" panose="020B0604020202020204" charset="0"/>
              </a:rPr>
              <a:t>    Image preview of the current location (if available).</a:t>
            </a:r>
            <a:endParaRPr lang="en-IN" sz="1800" dirty="0">
              <a:latin typeface="Manrope" panose="020B0604020202020204" charset="0"/>
            </a:endParaRPr>
          </a:p>
        </p:txBody>
      </p:sp>
      <p:pic>
        <p:nvPicPr>
          <p:cNvPr id="3" name="Picture 2">
            <a:extLst>
              <a:ext uri="{FF2B5EF4-FFF2-40B4-BE49-F238E27FC236}">
                <a16:creationId xmlns:a16="http://schemas.microsoft.com/office/drawing/2014/main" id="{C8945D4D-C32C-452B-58A7-427B15F4E5B8}"/>
              </a:ext>
            </a:extLst>
          </p:cNvPr>
          <p:cNvPicPr>
            <a:picLocks noChangeAspect="1"/>
          </p:cNvPicPr>
          <p:nvPr/>
        </p:nvPicPr>
        <p:blipFill>
          <a:blip r:embed="rId3"/>
          <a:srcRect t="4543" b="21579"/>
          <a:stretch/>
        </p:blipFill>
        <p:spPr>
          <a:xfrm>
            <a:off x="639899" y="657900"/>
            <a:ext cx="2508969" cy="4147780"/>
          </a:xfrm>
          <a:prstGeom prst="rect">
            <a:avLst/>
          </a:prstGeom>
        </p:spPr>
      </p:pic>
    </p:spTree>
    <p:extLst>
      <p:ext uri="{BB962C8B-B14F-4D97-AF65-F5344CB8AC3E}">
        <p14:creationId xmlns:p14="http://schemas.microsoft.com/office/powerpoint/2010/main" val="1285122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C5E687D9-B8AD-6729-4879-04C8B3EF3CB5}"/>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C94D5B01-D985-242A-9378-49DDB2DC8C37}"/>
              </a:ext>
            </a:extLst>
          </p:cNvPr>
          <p:cNvSpPr txBox="1">
            <a:spLocks noGrp="1"/>
          </p:cNvSpPr>
          <p:nvPr>
            <p:ph type="title"/>
          </p:nvPr>
        </p:nvSpPr>
        <p:spPr>
          <a:xfrm>
            <a:off x="639899" y="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Website UI (App Download Page)</a:t>
            </a:r>
            <a:endParaRPr lang="en-IN" dirty="0">
              <a:solidFill>
                <a:schemeClr val="lt1"/>
              </a:solidFill>
            </a:endParaRPr>
          </a:p>
        </p:txBody>
      </p:sp>
      <p:pic>
        <p:nvPicPr>
          <p:cNvPr id="5" name="Picture 4">
            <a:extLst>
              <a:ext uri="{FF2B5EF4-FFF2-40B4-BE49-F238E27FC236}">
                <a16:creationId xmlns:a16="http://schemas.microsoft.com/office/drawing/2014/main" id="{6A5D1A78-9DA0-665D-6AF5-C947BD9ABDAE}"/>
              </a:ext>
            </a:extLst>
          </p:cNvPr>
          <p:cNvPicPr>
            <a:picLocks noChangeAspect="1"/>
          </p:cNvPicPr>
          <p:nvPr/>
        </p:nvPicPr>
        <p:blipFill>
          <a:blip r:embed="rId3"/>
          <a:srcRect l="29806" t="11019" r="30874" b="7860"/>
          <a:stretch/>
        </p:blipFill>
        <p:spPr>
          <a:xfrm>
            <a:off x="639898" y="914400"/>
            <a:ext cx="3182021" cy="3692764"/>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xtBox 8">
            <a:extLst>
              <a:ext uri="{FF2B5EF4-FFF2-40B4-BE49-F238E27FC236}">
                <a16:creationId xmlns:a16="http://schemas.microsoft.com/office/drawing/2014/main" id="{DB181F52-DCA1-AE6C-6156-6DA93D4440CE}"/>
              </a:ext>
            </a:extLst>
          </p:cNvPr>
          <p:cNvSpPr txBox="1"/>
          <p:nvPr/>
        </p:nvSpPr>
        <p:spPr>
          <a:xfrm>
            <a:off x="4183380" y="1294477"/>
            <a:ext cx="4594860" cy="2862322"/>
          </a:xfrm>
          <a:prstGeom prst="rect">
            <a:avLst/>
          </a:prstGeom>
          <a:noFill/>
        </p:spPr>
        <p:txBody>
          <a:bodyPr wrap="square">
            <a:spAutoFit/>
          </a:bodyPr>
          <a:lstStyle/>
          <a:p>
            <a:pPr marL="285750" indent="-285750">
              <a:buFont typeface="Arial" panose="020B0604020202020204" pitchFamily="34" charset="0"/>
              <a:buChar char="•"/>
            </a:pPr>
            <a:r>
              <a:rPr lang="da-DK" sz="2000" dirty="0">
                <a:latin typeface="Manrope" panose="020B0604020202020204" charset="0"/>
              </a:rPr>
              <a:t>Hosted at: 🌐 </a:t>
            </a:r>
            <a:r>
              <a:rPr lang="da-DK" sz="2000" dirty="0">
                <a:latin typeface="Manrope" panose="020B0604020202020204" charset="0"/>
                <a:hlinkClick r:id="rId4"/>
              </a:rPr>
              <a:t>https://screamguard.netlify.app/</a:t>
            </a:r>
            <a:endParaRPr lang="da-DK" sz="2000" dirty="0">
              <a:latin typeface="Manrope" panose="020B0604020202020204" charset="0"/>
            </a:endParaRPr>
          </a:p>
          <a:p>
            <a:pPr marL="285750" indent="-285750">
              <a:buFont typeface="Arial" panose="020B0604020202020204" pitchFamily="34" charset="0"/>
              <a:buChar char="•"/>
            </a:pPr>
            <a:endParaRPr lang="da-DK" sz="2000" dirty="0">
              <a:latin typeface="Manrope" panose="020B0604020202020204" charset="0"/>
            </a:endParaRPr>
          </a:p>
          <a:p>
            <a:pPr marL="285750" indent="-285750">
              <a:buFont typeface="Arial" panose="020B0604020202020204" pitchFamily="34" charset="0"/>
              <a:buChar char="•"/>
            </a:pPr>
            <a:r>
              <a:rPr lang="en-US" sz="2000" dirty="0">
                <a:latin typeface="Manrope" panose="020B0604020202020204" charset="0"/>
              </a:rPr>
              <a:t>Mobile-friendly design to ensure smooth experience across devices.</a:t>
            </a:r>
          </a:p>
          <a:p>
            <a:pPr marL="285750" indent="-285750">
              <a:buFont typeface="Arial" panose="020B0604020202020204" pitchFamily="34" charset="0"/>
              <a:buChar char="•"/>
            </a:pPr>
            <a:endParaRPr lang="en-US" sz="2000" dirty="0">
              <a:latin typeface="Manrope" panose="020B0604020202020204" charset="0"/>
            </a:endParaRPr>
          </a:p>
          <a:p>
            <a:pPr marL="285750" indent="-285750">
              <a:buFont typeface="Arial" panose="020B0604020202020204" pitchFamily="34" charset="0"/>
              <a:buChar char="•"/>
            </a:pPr>
            <a:r>
              <a:rPr lang="en-US" sz="2000" dirty="0">
                <a:latin typeface="Manrope" panose="020B0604020202020204" charset="0"/>
              </a:rPr>
              <a:t>Includes a </a:t>
            </a:r>
            <a:r>
              <a:rPr lang="en-US" sz="2000" b="1" dirty="0">
                <a:latin typeface="Manrope" panose="020B0604020202020204" charset="0"/>
              </a:rPr>
              <a:t>Download</a:t>
            </a:r>
            <a:r>
              <a:rPr lang="en-US" sz="2000" dirty="0">
                <a:latin typeface="Manrope" panose="020B0604020202020204" charset="0"/>
              </a:rPr>
              <a:t> or </a:t>
            </a:r>
            <a:r>
              <a:rPr lang="en-US" sz="2000" b="1" dirty="0">
                <a:latin typeface="Manrope" panose="020B0604020202020204" charset="0"/>
              </a:rPr>
              <a:t>Install</a:t>
            </a:r>
            <a:r>
              <a:rPr lang="en-US" sz="2000" dirty="0">
                <a:latin typeface="Manrope" panose="020B0604020202020204" charset="0"/>
              </a:rPr>
              <a:t> button linking to the mobile app.</a:t>
            </a:r>
            <a:endParaRPr lang="en-IN" sz="2000" dirty="0">
              <a:latin typeface="Manrope" panose="020B0604020202020204" charset="0"/>
            </a:endParaRPr>
          </a:p>
        </p:txBody>
      </p:sp>
    </p:spTree>
    <p:extLst>
      <p:ext uri="{BB962C8B-B14F-4D97-AF65-F5344CB8AC3E}">
        <p14:creationId xmlns:p14="http://schemas.microsoft.com/office/powerpoint/2010/main" val="3249927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70C764B1-1008-5F5E-3EFF-5A41EDB1D9D7}"/>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01EFE742-EDAA-EAED-0029-E3C22F44A5A9}"/>
              </a:ext>
            </a:extLst>
          </p:cNvPr>
          <p:cNvSpPr txBox="1">
            <a:spLocks noGrp="1"/>
          </p:cNvSpPr>
          <p:nvPr>
            <p:ph type="title"/>
          </p:nvPr>
        </p:nvSpPr>
        <p:spPr>
          <a:xfrm>
            <a:off x="639899" y="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484237"/>
                </a:solidFill>
                <a:latin typeface="Gelasio Semi Bold" pitchFamily="34" charset="0"/>
                <a:ea typeface="Gelasio Semi Bold" pitchFamily="34" charset="-122"/>
                <a:cs typeface="Gelasio Semi Bold" pitchFamily="34" charset="-120"/>
              </a:rPr>
              <a:t>Validation</a:t>
            </a:r>
            <a:endParaRPr lang="en-IN" dirty="0">
              <a:solidFill>
                <a:schemeClr val="lt1"/>
              </a:solidFill>
            </a:endParaRPr>
          </a:p>
        </p:txBody>
      </p:sp>
      <p:sp>
        <p:nvSpPr>
          <p:cNvPr id="9" name="TextBox 8">
            <a:extLst>
              <a:ext uri="{FF2B5EF4-FFF2-40B4-BE49-F238E27FC236}">
                <a16:creationId xmlns:a16="http://schemas.microsoft.com/office/drawing/2014/main" id="{502E7938-1C77-0548-9F15-CCBC91F770DE}"/>
              </a:ext>
            </a:extLst>
          </p:cNvPr>
          <p:cNvSpPr txBox="1"/>
          <p:nvPr/>
        </p:nvSpPr>
        <p:spPr>
          <a:xfrm>
            <a:off x="411480" y="796637"/>
            <a:ext cx="8321040" cy="707886"/>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664B34"/>
                </a:solidFill>
              </a:rPr>
              <a:t>The following results highlight the model's accuracy in detecting screams under various conditions:</a:t>
            </a:r>
            <a:endParaRPr lang="en-IN" sz="2000" dirty="0">
              <a:solidFill>
                <a:srgbClr val="664B34"/>
              </a:solidFill>
            </a:endParaRPr>
          </a:p>
        </p:txBody>
      </p:sp>
      <p:pic>
        <p:nvPicPr>
          <p:cNvPr id="2" name="Picture 1">
            <a:extLst>
              <a:ext uri="{FF2B5EF4-FFF2-40B4-BE49-F238E27FC236}">
                <a16:creationId xmlns:a16="http://schemas.microsoft.com/office/drawing/2014/main" id="{947467A3-BAB1-DA40-4A45-D0F1DBFFD389}"/>
              </a:ext>
            </a:extLst>
          </p:cNvPr>
          <p:cNvPicPr>
            <a:picLocks noChangeAspect="1"/>
          </p:cNvPicPr>
          <p:nvPr/>
        </p:nvPicPr>
        <p:blipFill>
          <a:blip r:embed="rId3"/>
          <a:stretch>
            <a:fillRect/>
          </a:stretch>
        </p:blipFill>
        <p:spPr>
          <a:xfrm>
            <a:off x="2448984" y="1753860"/>
            <a:ext cx="4085829" cy="2779073"/>
          </a:xfrm>
          <a:prstGeom prst="rect">
            <a:avLst/>
          </a:prstGeom>
        </p:spPr>
      </p:pic>
      <p:sp>
        <p:nvSpPr>
          <p:cNvPr id="4" name="TextBox 3">
            <a:extLst>
              <a:ext uri="{FF2B5EF4-FFF2-40B4-BE49-F238E27FC236}">
                <a16:creationId xmlns:a16="http://schemas.microsoft.com/office/drawing/2014/main" id="{1929761D-981A-D2E3-ACB1-0B9F06DD2E21}"/>
              </a:ext>
            </a:extLst>
          </p:cNvPr>
          <p:cNvSpPr txBox="1"/>
          <p:nvPr/>
        </p:nvSpPr>
        <p:spPr>
          <a:xfrm>
            <a:off x="1856740" y="4628381"/>
            <a:ext cx="8163560" cy="307777"/>
          </a:xfrm>
          <a:prstGeom prst="rect">
            <a:avLst/>
          </a:prstGeom>
          <a:noFill/>
        </p:spPr>
        <p:txBody>
          <a:bodyPr wrap="square">
            <a:spAutoFit/>
          </a:bodyPr>
          <a:lstStyle/>
          <a:p>
            <a:r>
              <a:rPr lang="en-US" sz="1400" dirty="0">
                <a:solidFill>
                  <a:srgbClr val="746558"/>
                </a:solidFill>
                <a:latin typeface="Gelasio" panose="020B0604020202020204" charset="0"/>
                <a:cs typeface="Gelasio" panose="020B0604020202020204" charset="0"/>
              </a:rPr>
              <a:t>Figure 1.3: Graph Depicting Model Accuracy Across Epochs</a:t>
            </a:r>
            <a:endParaRPr lang="en-IN" sz="1400" dirty="0">
              <a:solidFill>
                <a:srgbClr val="746558"/>
              </a:solidFill>
              <a:latin typeface="Gelasio" panose="020B0604020202020204" charset="0"/>
              <a:cs typeface="Gelasio" panose="020B0604020202020204" charset="0"/>
            </a:endParaRPr>
          </a:p>
        </p:txBody>
      </p:sp>
    </p:spTree>
    <p:extLst>
      <p:ext uri="{BB962C8B-B14F-4D97-AF65-F5344CB8AC3E}">
        <p14:creationId xmlns:p14="http://schemas.microsoft.com/office/powerpoint/2010/main" val="1496186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BE15C5FD-9DD8-C584-5899-70BFCFFB38A1}"/>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C8C61FF1-7873-8C35-55AD-2D8208C4EFAC}"/>
              </a:ext>
            </a:extLst>
          </p:cNvPr>
          <p:cNvSpPr txBox="1">
            <a:spLocks noGrp="1"/>
          </p:cNvSpPr>
          <p:nvPr>
            <p:ph type="title"/>
          </p:nvPr>
        </p:nvSpPr>
        <p:spPr>
          <a:xfrm>
            <a:off x="639899" y="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484237"/>
                </a:solidFill>
                <a:latin typeface="Gelasio Semi Bold" pitchFamily="34" charset="0"/>
                <a:ea typeface="Gelasio Semi Bold" pitchFamily="34" charset="-122"/>
                <a:cs typeface="Gelasio Semi Bold" pitchFamily="34" charset="-120"/>
              </a:rPr>
              <a:t>Validation</a:t>
            </a:r>
            <a:endParaRPr lang="en-IN" dirty="0">
              <a:solidFill>
                <a:schemeClr val="lt1"/>
              </a:solidFill>
            </a:endParaRPr>
          </a:p>
        </p:txBody>
      </p:sp>
      <p:sp>
        <p:nvSpPr>
          <p:cNvPr id="9" name="TextBox 8">
            <a:extLst>
              <a:ext uri="{FF2B5EF4-FFF2-40B4-BE49-F238E27FC236}">
                <a16:creationId xmlns:a16="http://schemas.microsoft.com/office/drawing/2014/main" id="{44A2C0FC-8B20-0AD0-3DC9-17F239EF27E6}"/>
              </a:ext>
            </a:extLst>
          </p:cNvPr>
          <p:cNvSpPr txBox="1"/>
          <p:nvPr/>
        </p:nvSpPr>
        <p:spPr>
          <a:xfrm>
            <a:off x="411480" y="796637"/>
            <a:ext cx="8321040" cy="707886"/>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664B34"/>
                </a:solidFill>
              </a:rPr>
              <a:t>The following results highlight the model's accuracy in detecting screams under various conditions:</a:t>
            </a:r>
            <a:endParaRPr lang="en-IN" sz="2000" dirty="0">
              <a:solidFill>
                <a:srgbClr val="664B34"/>
              </a:solidFill>
            </a:endParaRPr>
          </a:p>
        </p:txBody>
      </p:sp>
      <p:sp>
        <p:nvSpPr>
          <p:cNvPr id="4" name="TextBox 3">
            <a:extLst>
              <a:ext uri="{FF2B5EF4-FFF2-40B4-BE49-F238E27FC236}">
                <a16:creationId xmlns:a16="http://schemas.microsoft.com/office/drawing/2014/main" id="{025750CD-7257-2F84-4623-88202799A4F9}"/>
              </a:ext>
            </a:extLst>
          </p:cNvPr>
          <p:cNvSpPr txBox="1"/>
          <p:nvPr/>
        </p:nvSpPr>
        <p:spPr>
          <a:xfrm>
            <a:off x="1887220" y="4597901"/>
            <a:ext cx="8163560" cy="307777"/>
          </a:xfrm>
          <a:prstGeom prst="rect">
            <a:avLst/>
          </a:prstGeom>
          <a:noFill/>
        </p:spPr>
        <p:txBody>
          <a:bodyPr wrap="square">
            <a:spAutoFit/>
          </a:bodyPr>
          <a:lstStyle/>
          <a:p>
            <a:r>
              <a:rPr lang="en-US" sz="1400" dirty="0">
                <a:solidFill>
                  <a:srgbClr val="746558"/>
                </a:solidFill>
                <a:latin typeface="Gelasio" panose="020B0604020202020204" charset="0"/>
                <a:cs typeface="Gelasio" panose="020B0604020202020204" charset="0"/>
              </a:rPr>
              <a:t>Figure 1.4: Graph Depicting Model Loss Across Epochs</a:t>
            </a:r>
            <a:endParaRPr lang="en-IN" sz="1400" dirty="0">
              <a:solidFill>
                <a:srgbClr val="746558"/>
              </a:solidFill>
              <a:latin typeface="Gelasio" panose="020B0604020202020204" charset="0"/>
              <a:cs typeface="Gelasio" panose="020B0604020202020204" charset="0"/>
            </a:endParaRPr>
          </a:p>
        </p:txBody>
      </p:sp>
      <p:pic>
        <p:nvPicPr>
          <p:cNvPr id="5" name="Picture 4">
            <a:extLst>
              <a:ext uri="{FF2B5EF4-FFF2-40B4-BE49-F238E27FC236}">
                <a16:creationId xmlns:a16="http://schemas.microsoft.com/office/drawing/2014/main" id="{CAFC3E8F-C037-2111-5B80-A29FA89BDE86}"/>
              </a:ext>
            </a:extLst>
          </p:cNvPr>
          <p:cNvPicPr>
            <a:picLocks noChangeAspect="1"/>
          </p:cNvPicPr>
          <p:nvPr/>
        </p:nvPicPr>
        <p:blipFill>
          <a:blip r:embed="rId3"/>
          <a:stretch>
            <a:fillRect/>
          </a:stretch>
        </p:blipFill>
        <p:spPr>
          <a:xfrm>
            <a:off x="2164080" y="1583307"/>
            <a:ext cx="4262628" cy="2920459"/>
          </a:xfrm>
          <a:prstGeom prst="rect">
            <a:avLst/>
          </a:prstGeom>
        </p:spPr>
      </p:pic>
    </p:spTree>
    <p:extLst>
      <p:ext uri="{BB962C8B-B14F-4D97-AF65-F5344CB8AC3E}">
        <p14:creationId xmlns:p14="http://schemas.microsoft.com/office/powerpoint/2010/main" val="2705456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AABF5F94-451E-B909-D109-896A37BBF4B0}"/>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652BC23D-DDF5-F55A-5F42-71517783B610}"/>
              </a:ext>
            </a:extLst>
          </p:cNvPr>
          <p:cNvSpPr txBox="1">
            <a:spLocks noGrp="1"/>
          </p:cNvSpPr>
          <p:nvPr>
            <p:ph type="title"/>
          </p:nvPr>
        </p:nvSpPr>
        <p:spPr>
          <a:xfrm>
            <a:off x="639899" y="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484237"/>
                </a:solidFill>
                <a:latin typeface="Gelasio Semi Bold" pitchFamily="34" charset="0"/>
                <a:ea typeface="Gelasio Semi Bold" pitchFamily="34" charset="-122"/>
                <a:cs typeface="Gelasio Semi Bold" pitchFamily="34" charset="-120"/>
              </a:rPr>
              <a:t>Validation</a:t>
            </a:r>
            <a:endParaRPr lang="en-IN" dirty="0">
              <a:solidFill>
                <a:schemeClr val="lt1"/>
              </a:solidFill>
            </a:endParaRPr>
          </a:p>
        </p:txBody>
      </p:sp>
      <p:sp>
        <p:nvSpPr>
          <p:cNvPr id="9" name="TextBox 8">
            <a:extLst>
              <a:ext uri="{FF2B5EF4-FFF2-40B4-BE49-F238E27FC236}">
                <a16:creationId xmlns:a16="http://schemas.microsoft.com/office/drawing/2014/main" id="{B641C0CA-AA42-57C0-B9E6-2EDC70D72026}"/>
              </a:ext>
            </a:extLst>
          </p:cNvPr>
          <p:cNvSpPr txBox="1"/>
          <p:nvPr/>
        </p:nvSpPr>
        <p:spPr>
          <a:xfrm>
            <a:off x="411480" y="796637"/>
            <a:ext cx="8321040" cy="707886"/>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664B34"/>
                </a:solidFill>
              </a:rPr>
              <a:t>The following results highlight the model's accuracy in detecting screams under various conditions:</a:t>
            </a:r>
            <a:endParaRPr lang="en-IN" sz="2000" dirty="0">
              <a:solidFill>
                <a:srgbClr val="664B34"/>
              </a:solidFill>
            </a:endParaRPr>
          </a:p>
        </p:txBody>
      </p:sp>
      <p:sp>
        <p:nvSpPr>
          <p:cNvPr id="4" name="TextBox 3">
            <a:extLst>
              <a:ext uri="{FF2B5EF4-FFF2-40B4-BE49-F238E27FC236}">
                <a16:creationId xmlns:a16="http://schemas.microsoft.com/office/drawing/2014/main" id="{2CDC7A3B-DA84-631F-9386-D5AA7511645F}"/>
              </a:ext>
            </a:extLst>
          </p:cNvPr>
          <p:cNvSpPr txBox="1"/>
          <p:nvPr/>
        </p:nvSpPr>
        <p:spPr>
          <a:xfrm>
            <a:off x="1176020" y="4597901"/>
            <a:ext cx="8163560" cy="307777"/>
          </a:xfrm>
          <a:prstGeom prst="rect">
            <a:avLst/>
          </a:prstGeom>
          <a:noFill/>
        </p:spPr>
        <p:txBody>
          <a:bodyPr wrap="square">
            <a:spAutoFit/>
          </a:bodyPr>
          <a:lstStyle/>
          <a:p>
            <a:r>
              <a:rPr lang="en-US" sz="1400" dirty="0">
                <a:solidFill>
                  <a:srgbClr val="746558"/>
                </a:solidFill>
                <a:latin typeface="Gelasio" panose="020B0604020202020204" charset="0"/>
                <a:cs typeface="Gelasio" panose="020B0604020202020204" charset="0"/>
              </a:rPr>
              <a:t>Figure 1.5: Graph Depicting Loss Difference Between Training and Validation Data</a:t>
            </a:r>
            <a:endParaRPr lang="en-IN" sz="1400" dirty="0">
              <a:solidFill>
                <a:srgbClr val="746558"/>
              </a:solidFill>
              <a:latin typeface="Gelasio" panose="020B0604020202020204" charset="0"/>
              <a:cs typeface="Gelasio" panose="020B0604020202020204" charset="0"/>
            </a:endParaRPr>
          </a:p>
        </p:txBody>
      </p:sp>
      <p:pic>
        <p:nvPicPr>
          <p:cNvPr id="2" name="Picture 1">
            <a:extLst>
              <a:ext uri="{FF2B5EF4-FFF2-40B4-BE49-F238E27FC236}">
                <a16:creationId xmlns:a16="http://schemas.microsoft.com/office/drawing/2014/main" id="{96CFC712-2070-667F-57D3-86CC2EEDE9DA}"/>
              </a:ext>
            </a:extLst>
          </p:cNvPr>
          <p:cNvPicPr>
            <a:picLocks noChangeAspect="1"/>
          </p:cNvPicPr>
          <p:nvPr/>
        </p:nvPicPr>
        <p:blipFill>
          <a:blip r:embed="rId3"/>
          <a:stretch>
            <a:fillRect/>
          </a:stretch>
        </p:blipFill>
        <p:spPr>
          <a:xfrm>
            <a:off x="2235200" y="1711064"/>
            <a:ext cx="4238706" cy="2837880"/>
          </a:xfrm>
          <a:prstGeom prst="rect">
            <a:avLst/>
          </a:prstGeom>
        </p:spPr>
      </p:pic>
    </p:spTree>
    <p:extLst>
      <p:ext uri="{BB962C8B-B14F-4D97-AF65-F5344CB8AC3E}">
        <p14:creationId xmlns:p14="http://schemas.microsoft.com/office/powerpoint/2010/main" val="921487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D4A88EFC-0EE8-70CF-F58B-5B838EE3E6ED}"/>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F5EEF9C0-D86C-9FED-6622-CA20489D973A}"/>
              </a:ext>
            </a:extLst>
          </p:cNvPr>
          <p:cNvSpPr txBox="1">
            <a:spLocks noGrp="1"/>
          </p:cNvSpPr>
          <p:nvPr>
            <p:ph type="title"/>
          </p:nvPr>
        </p:nvSpPr>
        <p:spPr>
          <a:xfrm>
            <a:off x="639899" y="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484237"/>
                </a:solidFill>
                <a:latin typeface="Gelasio Semi Bold" pitchFamily="34" charset="0"/>
                <a:ea typeface="Gelasio Semi Bold" pitchFamily="34" charset="-122"/>
                <a:cs typeface="Gelasio Semi Bold" pitchFamily="34" charset="-120"/>
              </a:rPr>
              <a:t>Validation</a:t>
            </a:r>
            <a:endParaRPr lang="en-IN" dirty="0">
              <a:solidFill>
                <a:schemeClr val="lt1"/>
              </a:solidFill>
            </a:endParaRPr>
          </a:p>
        </p:txBody>
      </p:sp>
      <p:sp>
        <p:nvSpPr>
          <p:cNvPr id="9" name="TextBox 8">
            <a:extLst>
              <a:ext uri="{FF2B5EF4-FFF2-40B4-BE49-F238E27FC236}">
                <a16:creationId xmlns:a16="http://schemas.microsoft.com/office/drawing/2014/main" id="{BE38B1A8-847F-2238-41D2-DB8C66625634}"/>
              </a:ext>
            </a:extLst>
          </p:cNvPr>
          <p:cNvSpPr txBox="1"/>
          <p:nvPr/>
        </p:nvSpPr>
        <p:spPr>
          <a:xfrm>
            <a:off x="411480" y="796637"/>
            <a:ext cx="8321040" cy="707886"/>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664B34"/>
                </a:solidFill>
              </a:rPr>
              <a:t>The following results highlight the model's accuracy in detecting screams under various conditions:</a:t>
            </a:r>
            <a:endParaRPr lang="en-IN" sz="2000" dirty="0">
              <a:solidFill>
                <a:srgbClr val="664B34"/>
              </a:solidFill>
            </a:endParaRPr>
          </a:p>
        </p:txBody>
      </p:sp>
      <p:sp>
        <p:nvSpPr>
          <p:cNvPr id="4" name="TextBox 3">
            <a:extLst>
              <a:ext uri="{FF2B5EF4-FFF2-40B4-BE49-F238E27FC236}">
                <a16:creationId xmlns:a16="http://schemas.microsoft.com/office/drawing/2014/main" id="{3BFD7900-5B55-D0F5-7B98-6A8F298A5D18}"/>
              </a:ext>
            </a:extLst>
          </p:cNvPr>
          <p:cNvSpPr txBox="1"/>
          <p:nvPr/>
        </p:nvSpPr>
        <p:spPr>
          <a:xfrm>
            <a:off x="2943860" y="4529663"/>
            <a:ext cx="8163560" cy="307777"/>
          </a:xfrm>
          <a:prstGeom prst="rect">
            <a:avLst/>
          </a:prstGeom>
          <a:noFill/>
        </p:spPr>
        <p:txBody>
          <a:bodyPr wrap="square">
            <a:spAutoFit/>
          </a:bodyPr>
          <a:lstStyle/>
          <a:p>
            <a:r>
              <a:rPr lang="en-US" sz="1400" dirty="0">
                <a:solidFill>
                  <a:srgbClr val="746558"/>
                </a:solidFill>
                <a:latin typeface="Gelasio" panose="020B0604020202020204" charset="0"/>
                <a:cs typeface="Gelasio" panose="020B0604020202020204" charset="0"/>
              </a:rPr>
              <a:t>Figure 1.5: Confusion Matrix</a:t>
            </a:r>
            <a:endParaRPr lang="en-IN" sz="1400" dirty="0">
              <a:solidFill>
                <a:srgbClr val="746558"/>
              </a:solidFill>
              <a:latin typeface="Gelasio" panose="020B0604020202020204" charset="0"/>
              <a:cs typeface="Gelasio" panose="020B0604020202020204" charset="0"/>
            </a:endParaRPr>
          </a:p>
        </p:txBody>
      </p:sp>
      <p:pic>
        <p:nvPicPr>
          <p:cNvPr id="5" name="Picture 4">
            <a:extLst>
              <a:ext uri="{FF2B5EF4-FFF2-40B4-BE49-F238E27FC236}">
                <a16:creationId xmlns:a16="http://schemas.microsoft.com/office/drawing/2014/main" id="{2D31DB57-29EA-2F3C-47E3-69D7D9BD3A2D}"/>
              </a:ext>
            </a:extLst>
          </p:cNvPr>
          <p:cNvPicPr>
            <a:picLocks noChangeAspect="1"/>
          </p:cNvPicPr>
          <p:nvPr/>
        </p:nvPicPr>
        <p:blipFill>
          <a:blip r:embed="rId3"/>
          <a:stretch>
            <a:fillRect/>
          </a:stretch>
        </p:blipFill>
        <p:spPr>
          <a:xfrm>
            <a:off x="2316480" y="1504523"/>
            <a:ext cx="4033520" cy="3025140"/>
          </a:xfrm>
          <a:prstGeom prst="rect">
            <a:avLst/>
          </a:prstGeom>
        </p:spPr>
      </p:pic>
    </p:spTree>
    <p:extLst>
      <p:ext uri="{BB962C8B-B14F-4D97-AF65-F5344CB8AC3E}">
        <p14:creationId xmlns:p14="http://schemas.microsoft.com/office/powerpoint/2010/main" val="311426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2">
          <a:extLst>
            <a:ext uri="{FF2B5EF4-FFF2-40B4-BE49-F238E27FC236}">
              <a16:creationId xmlns:a16="http://schemas.microsoft.com/office/drawing/2014/main" id="{D5975688-3001-926F-D22F-432B9178238C}"/>
            </a:ext>
          </a:extLst>
        </p:cNvPr>
        <p:cNvGrpSpPr/>
        <p:nvPr/>
      </p:nvGrpSpPr>
      <p:grpSpPr>
        <a:xfrm>
          <a:off x="0" y="0"/>
          <a:ext cx="0" cy="0"/>
          <a:chOff x="0" y="0"/>
          <a:chExt cx="0" cy="0"/>
        </a:xfrm>
      </p:grpSpPr>
      <p:sp>
        <p:nvSpPr>
          <p:cNvPr id="644" name="Google Shape;644;p65">
            <a:extLst>
              <a:ext uri="{FF2B5EF4-FFF2-40B4-BE49-F238E27FC236}">
                <a16:creationId xmlns:a16="http://schemas.microsoft.com/office/drawing/2014/main" id="{5F75931E-22E9-DF2E-5BC5-B221CC5A2356}"/>
              </a:ext>
            </a:extLst>
          </p:cNvPr>
          <p:cNvSpPr/>
          <p:nvPr/>
        </p:nvSpPr>
        <p:spPr>
          <a:xfrm rot="-5399809">
            <a:off x="-322543" y="659319"/>
            <a:ext cx="5512835" cy="4194428"/>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65">
            <a:extLst>
              <a:ext uri="{FF2B5EF4-FFF2-40B4-BE49-F238E27FC236}">
                <a16:creationId xmlns:a16="http://schemas.microsoft.com/office/drawing/2014/main" id="{DCE5EAFB-BA07-2079-B2FF-34B1D2B1F8E8}"/>
              </a:ext>
            </a:extLst>
          </p:cNvPr>
          <p:cNvSpPr/>
          <p:nvPr/>
        </p:nvSpPr>
        <p:spPr>
          <a:xfrm rot="10285629" flipH="1">
            <a:off x="-6011938" y="-431909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65">
            <a:extLst>
              <a:ext uri="{FF2B5EF4-FFF2-40B4-BE49-F238E27FC236}">
                <a16:creationId xmlns:a16="http://schemas.microsoft.com/office/drawing/2014/main" id="{FD406AB1-0443-BBC8-0920-1CAE21D8C3D0}"/>
              </a:ext>
            </a:extLst>
          </p:cNvPr>
          <p:cNvSpPr/>
          <p:nvPr/>
        </p:nvSpPr>
        <p:spPr>
          <a:xfrm rot="-4102346">
            <a:off x="1239296" y="3900693"/>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65">
            <a:extLst>
              <a:ext uri="{FF2B5EF4-FFF2-40B4-BE49-F238E27FC236}">
                <a16:creationId xmlns:a16="http://schemas.microsoft.com/office/drawing/2014/main" id="{2C3BC511-E816-2083-3C74-B1A96C510049}"/>
              </a:ext>
            </a:extLst>
          </p:cNvPr>
          <p:cNvSpPr/>
          <p:nvPr/>
        </p:nvSpPr>
        <p:spPr>
          <a:xfrm flipH="1">
            <a:off x="484651" y="-3989216"/>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5">
            <a:extLst>
              <a:ext uri="{FF2B5EF4-FFF2-40B4-BE49-F238E27FC236}">
                <a16:creationId xmlns:a16="http://schemas.microsoft.com/office/drawing/2014/main" id="{0152C6CA-9F2C-8799-A6DE-1AFC799B277F}"/>
              </a:ext>
            </a:extLst>
          </p:cNvPr>
          <p:cNvSpPr/>
          <p:nvPr/>
        </p:nvSpPr>
        <p:spPr>
          <a:xfrm rot="649760">
            <a:off x="-984002" y="419036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5">
            <a:extLst>
              <a:ext uri="{FF2B5EF4-FFF2-40B4-BE49-F238E27FC236}">
                <a16:creationId xmlns:a16="http://schemas.microsoft.com/office/drawing/2014/main" id="{98CDEE4B-EA6C-22C0-528C-5D87F007DDA1}"/>
              </a:ext>
            </a:extLst>
          </p:cNvPr>
          <p:cNvSpPr/>
          <p:nvPr/>
        </p:nvSpPr>
        <p:spPr>
          <a:xfrm rot="-6621704" flipH="1">
            <a:off x="-3919845" y="1710891"/>
            <a:ext cx="7826147" cy="287787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65">
            <a:extLst>
              <a:ext uri="{FF2B5EF4-FFF2-40B4-BE49-F238E27FC236}">
                <a16:creationId xmlns:a16="http://schemas.microsoft.com/office/drawing/2014/main" id="{47D5B6D9-33EC-E29B-1AF0-8D9663D55B96}"/>
              </a:ext>
            </a:extLst>
          </p:cNvPr>
          <p:cNvSpPr txBox="1">
            <a:spLocks noGrp="1"/>
          </p:cNvSpPr>
          <p:nvPr>
            <p:ph type="title"/>
          </p:nvPr>
        </p:nvSpPr>
        <p:spPr>
          <a:xfrm flipH="1">
            <a:off x="679242" y="66455"/>
            <a:ext cx="7704000" cy="572700"/>
          </a:xfrm>
          <a:prstGeom prst="rect">
            <a:avLst/>
          </a:prstGeom>
        </p:spPr>
        <p:txBody>
          <a:bodyPr spcFirstLastPara="1" wrap="square" lIns="91425" tIns="91425" rIns="91425" bIns="91425" anchor="ctr" anchorCtr="0">
            <a:noAutofit/>
          </a:bodyPr>
          <a:lstStyle/>
          <a:p>
            <a:pPr marL="0" indent="0">
              <a:lnSpc>
                <a:spcPts val="4500"/>
              </a:lnSpc>
              <a:buNone/>
            </a:pPr>
            <a:r>
              <a:rPr lang="en-US" sz="2800" dirty="0">
                <a:solidFill>
                  <a:srgbClr val="484237"/>
                </a:solidFill>
                <a:latin typeface="Gelasio Semi Bold" pitchFamily="34" charset="0"/>
                <a:ea typeface="Gelasio Semi Bold" pitchFamily="34" charset="-122"/>
                <a:cs typeface="Gelasio Semi Bold" pitchFamily="34" charset="-120"/>
              </a:rPr>
              <a:t>Execution Phases</a:t>
            </a:r>
            <a:endParaRPr lang="en-US" sz="2800" dirty="0"/>
          </a:p>
        </p:txBody>
      </p:sp>
      <p:sp>
        <p:nvSpPr>
          <p:cNvPr id="2" name="Shape 1">
            <a:extLst>
              <a:ext uri="{FF2B5EF4-FFF2-40B4-BE49-F238E27FC236}">
                <a16:creationId xmlns:a16="http://schemas.microsoft.com/office/drawing/2014/main" id="{835D4FE1-96B3-CC29-4AF9-9BC504B21926}"/>
              </a:ext>
            </a:extLst>
          </p:cNvPr>
          <p:cNvSpPr/>
          <p:nvPr/>
        </p:nvSpPr>
        <p:spPr>
          <a:xfrm>
            <a:off x="4360134" y="984670"/>
            <a:ext cx="22860" cy="4055388"/>
          </a:xfrm>
          <a:prstGeom prst="roundRect">
            <a:avLst>
              <a:gd name="adj" fmla="val 120966"/>
            </a:avLst>
          </a:prstGeom>
          <a:solidFill>
            <a:srgbClr val="D4CEC3"/>
          </a:solidFill>
          <a:ln/>
        </p:spPr>
      </p:sp>
      <p:sp>
        <p:nvSpPr>
          <p:cNvPr id="3" name="Shape 2">
            <a:extLst>
              <a:ext uri="{FF2B5EF4-FFF2-40B4-BE49-F238E27FC236}">
                <a16:creationId xmlns:a16="http://schemas.microsoft.com/office/drawing/2014/main" id="{04F54C1D-ED6D-5AA6-58B7-D590855BAECD}"/>
              </a:ext>
            </a:extLst>
          </p:cNvPr>
          <p:cNvSpPr/>
          <p:nvPr/>
        </p:nvSpPr>
        <p:spPr>
          <a:xfrm>
            <a:off x="3634031" y="1387816"/>
            <a:ext cx="553045" cy="22860"/>
          </a:xfrm>
          <a:prstGeom prst="roundRect">
            <a:avLst>
              <a:gd name="adj" fmla="val 120966"/>
            </a:avLst>
          </a:prstGeom>
          <a:solidFill>
            <a:srgbClr val="D4CEC3"/>
          </a:solidFill>
          <a:ln/>
        </p:spPr>
      </p:sp>
      <p:sp>
        <p:nvSpPr>
          <p:cNvPr id="4" name="Shape 3">
            <a:extLst>
              <a:ext uri="{FF2B5EF4-FFF2-40B4-BE49-F238E27FC236}">
                <a16:creationId xmlns:a16="http://schemas.microsoft.com/office/drawing/2014/main" id="{07FA6569-FA8D-012C-AA72-91277A2EB36F}"/>
              </a:ext>
            </a:extLst>
          </p:cNvPr>
          <p:cNvSpPr/>
          <p:nvPr/>
        </p:nvSpPr>
        <p:spPr>
          <a:xfrm>
            <a:off x="4164217" y="1191958"/>
            <a:ext cx="414695" cy="414695"/>
          </a:xfrm>
          <a:prstGeom prst="roundRect">
            <a:avLst>
              <a:gd name="adj" fmla="val 6668"/>
            </a:avLst>
          </a:prstGeom>
          <a:solidFill>
            <a:srgbClr val="EEE8DD"/>
          </a:solidFill>
          <a:ln/>
        </p:spPr>
      </p:sp>
      <p:sp>
        <p:nvSpPr>
          <p:cNvPr id="5" name="Text 4">
            <a:extLst>
              <a:ext uri="{FF2B5EF4-FFF2-40B4-BE49-F238E27FC236}">
                <a16:creationId xmlns:a16="http://schemas.microsoft.com/office/drawing/2014/main" id="{7066A3BA-D08C-8C9F-8C30-0D9AB75CAB62}"/>
              </a:ext>
            </a:extLst>
          </p:cNvPr>
          <p:cNvSpPr/>
          <p:nvPr/>
        </p:nvSpPr>
        <p:spPr>
          <a:xfrm>
            <a:off x="4233273" y="1226427"/>
            <a:ext cx="276463" cy="345638"/>
          </a:xfrm>
          <a:prstGeom prst="rect">
            <a:avLst/>
          </a:prstGeom>
          <a:noFill/>
          <a:ln/>
        </p:spPr>
        <p:txBody>
          <a:bodyPr wrap="none" lIns="0" tIns="0" rIns="0" bIns="0" rtlCol="0" anchor="t"/>
          <a:lstStyle/>
          <a:p>
            <a:pPr marL="0" indent="0" algn="ctr">
              <a:lnSpc>
                <a:spcPts val="2150"/>
              </a:lnSpc>
              <a:buNone/>
            </a:pPr>
            <a:r>
              <a:rPr lang="en-US" sz="2150" dirty="0">
                <a:solidFill>
                  <a:srgbClr val="746558"/>
                </a:solidFill>
                <a:latin typeface="Gelasio Semi Bold" pitchFamily="34" charset="0"/>
                <a:ea typeface="Gelasio Semi Bold" pitchFamily="34" charset="-122"/>
                <a:cs typeface="Gelasio Semi Bold" pitchFamily="34" charset="-120"/>
              </a:rPr>
              <a:t>1</a:t>
            </a:r>
            <a:endParaRPr lang="en-US" sz="2150" dirty="0"/>
          </a:p>
        </p:txBody>
      </p:sp>
      <p:sp>
        <p:nvSpPr>
          <p:cNvPr id="6" name="Text 5">
            <a:extLst>
              <a:ext uri="{FF2B5EF4-FFF2-40B4-BE49-F238E27FC236}">
                <a16:creationId xmlns:a16="http://schemas.microsoft.com/office/drawing/2014/main" id="{89BD23A5-64F4-EF98-0D5F-AF8CF10C8BAB}"/>
              </a:ext>
            </a:extLst>
          </p:cNvPr>
          <p:cNvSpPr/>
          <p:nvPr/>
        </p:nvSpPr>
        <p:spPr>
          <a:xfrm>
            <a:off x="1145566" y="1168979"/>
            <a:ext cx="2304336" cy="287893"/>
          </a:xfrm>
          <a:prstGeom prst="rect">
            <a:avLst/>
          </a:prstGeom>
          <a:noFill/>
          <a:ln/>
        </p:spPr>
        <p:txBody>
          <a:bodyPr wrap="none" lIns="0" tIns="0" rIns="0" bIns="0" rtlCol="0" anchor="t"/>
          <a:lstStyle/>
          <a:p>
            <a:pPr marL="0" indent="0" algn="r">
              <a:lnSpc>
                <a:spcPts val="2250"/>
              </a:lnSpc>
              <a:buNone/>
            </a:pPr>
            <a:r>
              <a:rPr lang="en-US" dirty="0">
                <a:solidFill>
                  <a:srgbClr val="746558"/>
                </a:solidFill>
                <a:latin typeface="Gelasio Semi Bold" pitchFamily="34" charset="0"/>
                <a:ea typeface="Gelasio Semi Bold" pitchFamily="34" charset="-122"/>
                <a:cs typeface="Gelasio Semi Bold" pitchFamily="34" charset="-120"/>
              </a:rPr>
              <a:t>Phase 1: January 13 to February 15</a:t>
            </a:r>
            <a:endParaRPr lang="en-US" dirty="0"/>
          </a:p>
        </p:txBody>
      </p:sp>
      <p:sp>
        <p:nvSpPr>
          <p:cNvPr id="7" name="Shape 7">
            <a:extLst>
              <a:ext uri="{FF2B5EF4-FFF2-40B4-BE49-F238E27FC236}">
                <a16:creationId xmlns:a16="http://schemas.microsoft.com/office/drawing/2014/main" id="{023F7B21-1E6D-9078-108F-E11CABB05725}"/>
              </a:ext>
            </a:extLst>
          </p:cNvPr>
          <p:cNvSpPr/>
          <p:nvPr/>
        </p:nvSpPr>
        <p:spPr>
          <a:xfrm>
            <a:off x="4556051" y="2309479"/>
            <a:ext cx="553045" cy="22860"/>
          </a:xfrm>
          <a:prstGeom prst="roundRect">
            <a:avLst>
              <a:gd name="adj" fmla="val 120966"/>
            </a:avLst>
          </a:prstGeom>
          <a:solidFill>
            <a:srgbClr val="D4CEC3"/>
          </a:solidFill>
          <a:ln/>
        </p:spPr>
      </p:sp>
      <p:sp>
        <p:nvSpPr>
          <p:cNvPr id="8" name="Shape 8">
            <a:extLst>
              <a:ext uri="{FF2B5EF4-FFF2-40B4-BE49-F238E27FC236}">
                <a16:creationId xmlns:a16="http://schemas.microsoft.com/office/drawing/2014/main" id="{548C1941-FC93-E415-C03C-3DCBE8DA5065}"/>
              </a:ext>
            </a:extLst>
          </p:cNvPr>
          <p:cNvSpPr/>
          <p:nvPr/>
        </p:nvSpPr>
        <p:spPr>
          <a:xfrm>
            <a:off x="4164217" y="2113621"/>
            <a:ext cx="414695" cy="414695"/>
          </a:xfrm>
          <a:prstGeom prst="roundRect">
            <a:avLst>
              <a:gd name="adj" fmla="val 6668"/>
            </a:avLst>
          </a:prstGeom>
          <a:solidFill>
            <a:srgbClr val="EEE8DD"/>
          </a:solidFill>
          <a:ln/>
        </p:spPr>
      </p:sp>
      <p:sp>
        <p:nvSpPr>
          <p:cNvPr id="9" name="Text 9">
            <a:extLst>
              <a:ext uri="{FF2B5EF4-FFF2-40B4-BE49-F238E27FC236}">
                <a16:creationId xmlns:a16="http://schemas.microsoft.com/office/drawing/2014/main" id="{E41B68AA-46DE-F4B1-AE89-5A570677399F}"/>
              </a:ext>
            </a:extLst>
          </p:cNvPr>
          <p:cNvSpPr/>
          <p:nvPr/>
        </p:nvSpPr>
        <p:spPr>
          <a:xfrm>
            <a:off x="4233273" y="2148089"/>
            <a:ext cx="276463" cy="345638"/>
          </a:xfrm>
          <a:prstGeom prst="rect">
            <a:avLst/>
          </a:prstGeom>
          <a:noFill/>
          <a:ln/>
        </p:spPr>
        <p:txBody>
          <a:bodyPr wrap="none" lIns="0" tIns="0" rIns="0" bIns="0" rtlCol="0" anchor="t"/>
          <a:lstStyle/>
          <a:p>
            <a:pPr marL="0" indent="0" algn="ctr">
              <a:lnSpc>
                <a:spcPts val="2150"/>
              </a:lnSpc>
              <a:buNone/>
            </a:pPr>
            <a:r>
              <a:rPr lang="en-US" sz="2150" dirty="0">
                <a:solidFill>
                  <a:srgbClr val="746558"/>
                </a:solidFill>
                <a:latin typeface="Gelasio Semi Bold" pitchFamily="34" charset="0"/>
                <a:ea typeface="Gelasio Semi Bold" pitchFamily="34" charset="-122"/>
                <a:cs typeface="Gelasio Semi Bold" pitchFamily="34" charset="-120"/>
              </a:rPr>
              <a:t>2</a:t>
            </a:r>
            <a:endParaRPr lang="en-US" sz="2150" dirty="0"/>
          </a:p>
        </p:txBody>
      </p:sp>
      <p:sp>
        <p:nvSpPr>
          <p:cNvPr id="10" name="Text 10">
            <a:extLst>
              <a:ext uri="{FF2B5EF4-FFF2-40B4-BE49-F238E27FC236}">
                <a16:creationId xmlns:a16="http://schemas.microsoft.com/office/drawing/2014/main" id="{205AC3F1-4A6E-332B-5D4E-47090D80C220}"/>
              </a:ext>
            </a:extLst>
          </p:cNvPr>
          <p:cNvSpPr/>
          <p:nvPr/>
        </p:nvSpPr>
        <p:spPr>
          <a:xfrm>
            <a:off x="5293226" y="2090642"/>
            <a:ext cx="4419771" cy="287893"/>
          </a:xfrm>
          <a:prstGeom prst="rect">
            <a:avLst/>
          </a:prstGeom>
          <a:noFill/>
          <a:ln/>
        </p:spPr>
        <p:txBody>
          <a:bodyPr wrap="none" lIns="0" tIns="0" rIns="0" bIns="0" rtlCol="0" anchor="t"/>
          <a:lstStyle/>
          <a:p>
            <a:pPr marL="0" indent="0" algn="l">
              <a:lnSpc>
                <a:spcPts val="2250"/>
              </a:lnSpc>
              <a:buNone/>
            </a:pPr>
            <a:r>
              <a:rPr lang="en-US" dirty="0">
                <a:solidFill>
                  <a:srgbClr val="746558"/>
                </a:solidFill>
                <a:latin typeface="Gelasio Semi Bold" pitchFamily="34" charset="0"/>
                <a:ea typeface="Gelasio Semi Bold" pitchFamily="34" charset="-122"/>
                <a:cs typeface="Gelasio Semi Bold" pitchFamily="34" charset="-120"/>
              </a:rPr>
              <a:t>Phase 2: February 16 – March 1</a:t>
            </a:r>
            <a:endParaRPr lang="en-US" dirty="0"/>
          </a:p>
        </p:txBody>
      </p:sp>
      <p:sp>
        <p:nvSpPr>
          <p:cNvPr id="13" name="Shape 12">
            <a:extLst>
              <a:ext uri="{FF2B5EF4-FFF2-40B4-BE49-F238E27FC236}">
                <a16:creationId xmlns:a16="http://schemas.microsoft.com/office/drawing/2014/main" id="{FCD18FD6-0FB1-5E3C-C041-720A38B12765}"/>
              </a:ext>
            </a:extLst>
          </p:cNvPr>
          <p:cNvSpPr/>
          <p:nvPr/>
        </p:nvSpPr>
        <p:spPr>
          <a:xfrm>
            <a:off x="3634031" y="3138987"/>
            <a:ext cx="553045" cy="22860"/>
          </a:xfrm>
          <a:prstGeom prst="roundRect">
            <a:avLst>
              <a:gd name="adj" fmla="val 120966"/>
            </a:avLst>
          </a:prstGeom>
          <a:solidFill>
            <a:srgbClr val="D4CEC3"/>
          </a:solidFill>
          <a:ln/>
        </p:spPr>
      </p:sp>
      <p:sp>
        <p:nvSpPr>
          <p:cNvPr id="14" name="Shape 13">
            <a:extLst>
              <a:ext uri="{FF2B5EF4-FFF2-40B4-BE49-F238E27FC236}">
                <a16:creationId xmlns:a16="http://schemas.microsoft.com/office/drawing/2014/main" id="{6CECCD59-6200-438C-24EE-0FE3CFB718AC}"/>
              </a:ext>
            </a:extLst>
          </p:cNvPr>
          <p:cNvSpPr/>
          <p:nvPr/>
        </p:nvSpPr>
        <p:spPr>
          <a:xfrm>
            <a:off x="4164217" y="2943129"/>
            <a:ext cx="414695" cy="414695"/>
          </a:xfrm>
          <a:prstGeom prst="roundRect">
            <a:avLst>
              <a:gd name="adj" fmla="val 6668"/>
            </a:avLst>
          </a:prstGeom>
          <a:solidFill>
            <a:srgbClr val="EEE8DD"/>
          </a:solidFill>
          <a:ln/>
        </p:spPr>
      </p:sp>
      <p:sp>
        <p:nvSpPr>
          <p:cNvPr id="15" name="Text 14">
            <a:extLst>
              <a:ext uri="{FF2B5EF4-FFF2-40B4-BE49-F238E27FC236}">
                <a16:creationId xmlns:a16="http://schemas.microsoft.com/office/drawing/2014/main" id="{CA62A588-E497-51DD-3EB7-09F3EA5D9B9D}"/>
              </a:ext>
            </a:extLst>
          </p:cNvPr>
          <p:cNvSpPr/>
          <p:nvPr/>
        </p:nvSpPr>
        <p:spPr>
          <a:xfrm>
            <a:off x="4233273" y="2977598"/>
            <a:ext cx="276463" cy="345638"/>
          </a:xfrm>
          <a:prstGeom prst="rect">
            <a:avLst/>
          </a:prstGeom>
          <a:noFill/>
          <a:ln/>
        </p:spPr>
        <p:txBody>
          <a:bodyPr wrap="none" lIns="0" tIns="0" rIns="0" bIns="0" rtlCol="0" anchor="t"/>
          <a:lstStyle/>
          <a:p>
            <a:pPr marL="0" indent="0" algn="ctr">
              <a:lnSpc>
                <a:spcPts val="2150"/>
              </a:lnSpc>
              <a:buNone/>
            </a:pPr>
            <a:r>
              <a:rPr lang="en-US" sz="2150" dirty="0">
                <a:solidFill>
                  <a:srgbClr val="746558"/>
                </a:solidFill>
                <a:latin typeface="Gelasio Semi Bold" pitchFamily="34" charset="0"/>
                <a:ea typeface="Gelasio Semi Bold" pitchFamily="34" charset="-122"/>
                <a:cs typeface="Gelasio Semi Bold" pitchFamily="34" charset="-120"/>
              </a:rPr>
              <a:t>3</a:t>
            </a:r>
            <a:endParaRPr lang="en-US" sz="2150" dirty="0"/>
          </a:p>
        </p:txBody>
      </p:sp>
      <p:sp>
        <p:nvSpPr>
          <p:cNvPr id="16" name="Text 15">
            <a:extLst>
              <a:ext uri="{FF2B5EF4-FFF2-40B4-BE49-F238E27FC236}">
                <a16:creationId xmlns:a16="http://schemas.microsoft.com/office/drawing/2014/main" id="{9FD32F8B-2E70-CCF9-A555-A8F3909E1126}"/>
              </a:ext>
            </a:extLst>
          </p:cNvPr>
          <p:cNvSpPr/>
          <p:nvPr/>
        </p:nvSpPr>
        <p:spPr>
          <a:xfrm>
            <a:off x="1166952" y="2920590"/>
            <a:ext cx="2304336" cy="287893"/>
          </a:xfrm>
          <a:prstGeom prst="rect">
            <a:avLst/>
          </a:prstGeom>
          <a:noFill/>
          <a:ln/>
        </p:spPr>
        <p:txBody>
          <a:bodyPr wrap="none" lIns="0" tIns="0" rIns="0" bIns="0" rtlCol="0" anchor="t"/>
          <a:lstStyle/>
          <a:p>
            <a:pPr marL="0" indent="0" algn="r">
              <a:lnSpc>
                <a:spcPts val="2250"/>
              </a:lnSpc>
              <a:buNone/>
            </a:pPr>
            <a:r>
              <a:rPr lang="en-US" dirty="0">
                <a:solidFill>
                  <a:srgbClr val="746558"/>
                </a:solidFill>
                <a:latin typeface="Gelasio Semi Bold" pitchFamily="34" charset="0"/>
                <a:ea typeface="Gelasio Semi Bold" pitchFamily="34" charset="-122"/>
                <a:cs typeface="Gelasio Semi Bold" pitchFamily="34" charset="-120"/>
              </a:rPr>
              <a:t>Phase 3: March 10 – March 31</a:t>
            </a:r>
            <a:endParaRPr lang="en-US" dirty="0"/>
          </a:p>
        </p:txBody>
      </p:sp>
      <p:sp>
        <p:nvSpPr>
          <p:cNvPr id="17" name="Shape 17">
            <a:extLst>
              <a:ext uri="{FF2B5EF4-FFF2-40B4-BE49-F238E27FC236}">
                <a16:creationId xmlns:a16="http://schemas.microsoft.com/office/drawing/2014/main" id="{7EED1CA9-7BB2-DA13-4AD4-B1F9508856FF}"/>
              </a:ext>
            </a:extLst>
          </p:cNvPr>
          <p:cNvSpPr/>
          <p:nvPr/>
        </p:nvSpPr>
        <p:spPr>
          <a:xfrm>
            <a:off x="4556051" y="3968495"/>
            <a:ext cx="553045" cy="22860"/>
          </a:xfrm>
          <a:prstGeom prst="roundRect">
            <a:avLst>
              <a:gd name="adj" fmla="val 120966"/>
            </a:avLst>
          </a:prstGeom>
          <a:solidFill>
            <a:srgbClr val="D4CEC3"/>
          </a:solidFill>
          <a:ln/>
        </p:spPr>
      </p:sp>
      <p:sp>
        <p:nvSpPr>
          <p:cNvPr id="18" name="Shape 18">
            <a:extLst>
              <a:ext uri="{FF2B5EF4-FFF2-40B4-BE49-F238E27FC236}">
                <a16:creationId xmlns:a16="http://schemas.microsoft.com/office/drawing/2014/main" id="{473BA6BA-342C-4D47-ED0B-8FBD308AC11E}"/>
              </a:ext>
            </a:extLst>
          </p:cNvPr>
          <p:cNvSpPr/>
          <p:nvPr/>
        </p:nvSpPr>
        <p:spPr>
          <a:xfrm>
            <a:off x="4164217" y="3772638"/>
            <a:ext cx="414695" cy="414695"/>
          </a:xfrm>
          <a:prstGeom prst="roundRect">
            <a:avLst>
              <a:gd name="adj" fmla="val 6668"/>
            </a:avLst>
          </a:prstGeom>
          <a:solidFill>
            <a:srgbClr val="EEE8DD"/>
          </a:solidFill>
          <a:ln/>
        </p:spPr>
      </p:sp>
      <p:sp>
        <p:nvSpPr>
          <p:cNvPr id="19" name="Text 19">
            <a:extLst>
              <a:ext uri="{FF2B5EF4-FFF2-40B4-BE49-F238E27FC236}">
                <a16:creationId xmlns:a16="http://schemas.microsoft.com/office/drawing/2014/main" id="{48EBEF77-2448-94EE-3D9A-0765B0DA4515}"/>
              </a:ext>
            </a:extLst>
          </p:cNvPr>
          <p:cNvSpPr/>
          <p:nvPr/>
        </p:nvSpPr>
        <p:spPr>
          <a:xfrm>
            <a:off x="4233273" y="3807106"/>
            <a:ext cx="276463" cy="345638"/>
          </a:xfrm>
          <a:prstGeom prst="rect">
            <a:avLst/>
          </a:prstGeom>
          <a:noFill/>
          <a:ln/>
        </p:spPr>
        <p:txBody>
          <a:bodyPr wrap="none" lIns="0" tIns="0" rIns="0" bIns="0" rtlCol="0" anchor="t"/>
          <a:lstStyle/>
          <a:p>
            <a:pPr marL="0" indent="0" algn="ctr">
              <a:lnSpc>
                <a:spcPts val="2150"/>
              </a:lnSpc>
              <a:buNone/>
            </a:pPr>
            <a:r>
              <a:rPr lang="en-US" sz="2150" dirty="0">
                <a:solidFill>
                  <a:srgbClr val="746558"/>
                </a:solidFill>
                <a:latin typeface="Gelasio Semi Bold" pitchFamily="34" charset="0"/>
                <a:ea typeface="Gelasio Semi Bold" pitchFamily="34" charset="-122"/>
                <a:cs typeface="Gelasio Semi Bold" pitchFamily="34" charset="-120"/>
              </a:rPr>
              <a:t>4</a:t>
            </a:r>
            <a:endParaRPr lang="en-US" sz="2150" dirty="0"/>
          </a:p>
        </p:txBody>
      </p:sp>
      <p:sp>
        <p:nvSpPr>
          <p:cNvPr id="20" name="Text 20">
            <a:extLst>
              <a:ext uri="{FF2B5EF4-FFF2-40B4-BE49-F238E27FC236}">
                <a16:creationId xmlns:a16="http://schemas.microsoft.com/office/drawing/2014/main" id="{C49A2C3B-475F-1F39-4CA3-24BF379FF632}"/>
              </a:ext>
            </a:extLst>
          </p:cNvPr>
          <p:cNvSpPr/>
          <p:nvPr/>
        </p:nvSpPr>
        <p:spPr>
          <a:xfrm>
            <a:off x="5293226" y="3749659"/>
            <a:ext cx="2433807" cy="287893"/>
          </a:xfrm>
          <a:prstGeom prst="rect">
            <a:avLst/>
          </a:prstGeom>
          <a:noFill/>
          <a:ln/>
        </p:spPr>
        <p:txBody>
          <a:bodyPr wrap="none" lIns="0" tIns="0" rIns="0" bIns="0" rtlCol="0" anchor="t"/>
          <a:lstStyle/>
          <a:p>
            <a:pPr marL="0" indent="0" algn="l">
              <a:lnSpc>
                <a:spcPts val="2250"/>
              </a:lnSpc>
              <a:buNone/>
            </a:pPr>
            <a:r>
              <a:rPr lang="en-US" dirty="0">
                <a:solidFill>
                  <a:srgbClr val="746558"/>
                </a:solidFill>
                <a:latin typeface="Gelasio Semi Bold" pitchFamily="34" charset="0"/>
                <a:ea typeface="Gelasio Semi Bold" pitchFamily="34" charset="-122"/>
                <a:cs typeface="Gelasio Semi Bold" pitchFamily="34" charset="-120"/>
              </a:rPr>
              <a:t>Phase 4: April 1 – April 20 </a:t>
            </a:r>
            <a:endParaRPr lang="en-US" dirty="0"/>
          </a:p>
        </p:txBody>
      </p:sp>
      <p:sp>
        <p:nvSpPr>
          <p:cNvPr id="23" name="TextBox 22">
            <a:extLst>
              <a:ext uri="{FF2B5EF4-FFF2-40B4-BE49-F238E27FC236}">
                <a16:creationId xmlns:a16="http://schemas.microsoft.com/office/drawing/2014/main" id="{E4435B4E-1A56-9E9D-D425-3408E8936A49}"/>
              </a:ext>
            </a:extLst>
          </p:cNvPr>
          <p:cNvSpPr txBox="1"/>
          <p:nvPr/>
        </p:nvSpPr>
        <p:spPr>
          <a:xfrm>
            <a:off x="679242" y="1521190"/>
            <a:ext cx="9833610" cy="307777"/>
          </a:xfrm>
          <a:prstGeom prst="rect">
            <a:avLst/>
          </a:prstGeom>
          <a:noFill/>
        </p:spPr>
        <p:txBody>
          <a:bodyPr wrap="square">
            <a:spAutoFit/>
          </a:bodyPr>
          <a:lstStyle/>
          <a:p>
            <a:r>
              <a:rPr lang="en-US" sz="1400" dirty="0">
                <a:solidFill>
                  <a:srgbClr val="746558"/>
                </a:solidFill>
                <a:latin typeface="Gelasio" pitchFamily="34" charset="0"/>
                <a:ea typeface="Gelasio" pitchFamily="34" charset="-122"/>
                <a:cs typeface="Gelasio" pitchFamily="34" charset="-120"/>
              </a:rPr>
              <a:t>Data Preparation and Model Training</a:t>
            </a:r>
            <a:endParaRPr lang="en-IN" dirty="0"/>
          </a:p>
        </p:txBody>
      </p:sp>
      <p:sp>
        <p:nvSpPr>
          <p:cNvPr id="25" name="TextBox 24">
            <a:extLst>
              <a:ext uri="{FF2B5EF4-FFF2-40B4-BE49-F238E27FC236}">
                <a16:creationId xmlns:a16="http://schemas.microsoft.com/office/drawing/2014/main" id="{834469AC-80A7-6ECF-49AE-EC1E02997C49}"/>
              </a:ext>
            </a:extLst>
          </p:cNvPr>
          <p:cNvSpPr txBox="1"/>
          <p:nvPr/>
        </p:nvSpPr>
        <p:spPr>
          <a:xfrm>
            <a:off x="1479535" y="3223772"/>
            <a:ext cx="9833610" cy="307777"/>
          </a:xfrm>
          <a:prstGeom prst="rect">
            <a:avLst/>
          </a:prstGeom>
          <a:noFill/>
        </p:spPr>
        <p:txBody>
          <a:bodyPr wrap="square">
            <a:spAutoFit/>
          </a:bodyPr>
          <a:lstStyle/>
          <a:p>
            <a:r>
              <a:rPr lang="en-US" sz="1400" dirty="0">
                <a:solidFill>
                  <a:srgbClr val="746558"/>
                </a:solidFill>
                <a:latin typeface="Gelasio" pitchFamily="34" charset="0"/>
                <a:ea typeface="Gelasio" pitchFamily="34" charset="-122"/>
                <a:cs typeface="Gelasio" pitchFamily="34" charset="-120"/>
              </a:rPr>
              <a:t>Android App Integration</a:t>
            </a:r>
            <a:endParaRPr lang="en-IN" dirty="0"/>
          </a:p>
        </p:txBody>
      </p:sp>
      <p:sp>
        <p:nvSpPr>
          <p:cNvPr id="27" name="TextBox 26">
            <a:extLst>
              <a:ext uri="{FF2B5EF4-FFF2-40B4-BE49-F238E27FC236}">
                <a16:creationId xmlns:a16="http://schemas.microsoft.com/office/drawing/2014/main" id="{0686CA81-0DD0-EE33-8391-29B85B7BAF53}"/>
              </a:ext>
            </a:extLst>
          </p:cNvPr>
          <p:cNvSpPr txBox="1"/>
          <p:nvPr/>
        </p:nvSpPr>
        <p:spPr>
          <a:xfrm>
            <a:off x="5561159" y="4049491"/>
            <a:ext cx="9833610" cy="307777"/>
          </a:xfrm>
          <a:prstGeom prst="rect">
            <a:avLst/>
          </a:prstGeom>
          <a:noFill/>
        </p:spPr>
        <p:txBody>
          <a:bodyPr wrap="square">
            <a:spAutoFit/>
          </a:bodyPr>
          <a:lstStyle/>
          <a:p>
            <a:r>
              <a:rPr lang="en-US" sz="1400" dirty="0">
                <a:solidFill>
                  <a:srgbClr val="746558"/>
                </a:solidFill>
                <a:latin typeface="Gelasio" pitchFamily="34" charset="0"/>
                <a:ea typeface="Gelasio" pitchFamily="34" charset="-122"/>
                <a:cs typeface="Gelasio" pitchFamily="34" charset="-120"/>
              </a:rPr>
              <a:t>Deployment &amp; Testing</a:t>
            </a:r>
            <a:endParaRPr lang="en-IN" dirty="0"/>
          </a:p>
        </p:txBody>
      </p:sp>
      <p:sp>
        <p:nvSpPr>
          <p:cNvPr id="28" name="TextBox 27">
            <a:extLst>
              <a:ext uri="{FF2B5EF4-FFF2-40B4-BE49-F238E27FC236}">
                <a16:creationId xmlns:a16="http://schemas.microsoft.com/office/drawing/2014/main" id="{0873399E-9065-6941-18F8-AEEFF37E387D}"/>
              </a:ext>
            </a:extLst>
          </p:cNvPr>
          <p:cNvSpPr txBox="1"/>
          <p:nvPr/>
        </p:nvSpPr>
        <p:spPr>
          <a:xfrm>
            <a:off x="5467758" y="2348684"/>
            <a:ext cx="9833610" cy="307777"/>
          </a:xfrm>
          <a:prstGeom prst="rect">
            <a:avLst/>
          </a:prstGeom>
          <a:noFill/>
        </p:spPr>
        <p:txBody>
          <a:bodyPr wrap="square">
            <a:spAutoFit/>
          </a:bodyPr>
          <a:lstStyle/>
          <a:p>
            <a:r>
              <a:rPr lang="en-US" sz="1400" dirty="0">
                <a:solidFill>
                  <a:srgbClr val="746558"/>
                </a:solidFill>
                <a:latin typeface="Gelasio" pitchFamily="34" charset="0"/>
                <a:ea typeface="Gelasio" pitchFamily="34" charset="-122"/>
                <a:cs typeface="Gelasio" pitchFamily="34" charset="-120"/>
              </a:rPr>
              <a:t>Workin</a:t>
            </a:r>
            <a:r>
              <a:rPr lang="en-US" dirty="0">
                <a:solidFill>
                  <a:srgbClr val="746558"/>
                </a:solidFill>
                <a:latin typeface="Gelasio" pitchFamily="34" charset="0"/>
                <a:ea typeface="Gelasio" pitchFamily="34" charset="-122"/>
                <a:cs typeface="Gelasio" pitchFamily="34" charset="-120"/>
              </a:rPr>
              <a:t>g on Alert Mechanism </a:t>
            </a:r>
            <a:endParaRPr lang="en-IN" dirty="0"/>
          </a:p>
        </p:txBody>
      </p:sp>
    </p:spTree>
    <p:extLst>
      <p:ext uri="{BB962C8B-B14F-4D97-AF65-F5344CB8AC3E}">
        <p14:creationId xmlns:p14="http://schemas.microsoft.com/office/powerpoint/2010/main" val="3745735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967FDF86-DE72-3934-3871-BD4F8BEFD468}"/>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7A8CD09E-D915-1DD5-7151-DAEB13C70709}"/>
              </a:ext>
            </a:extLst>
          </p:cNvPr>
          <p:cNvSpPr txBox="1">
            <a:spLocks noGrp="1"/>
          </p:cNvSpPr>
          <p:nvPr>
            <p:ph type="title"/>
          </p:nvPr>
        </p:nvSpPr>
        <p:spPr>
          <a:xfrm>
            <a:off x="284298" y="565457"/>
            <a:ext cx="7704000" cy="657900"/>
          </a:xfrm>
          <a:prstGeom prst="rect">
            <a:avLst/>
          </a:prstGeom>
        </p:spPr>
        <p:txBody>
          <a:bodyPr spcFirstLastPara="1" wrap="square" lIns="91425" tIns="91425" rIns="91425" bIns="91425" anchor="ctr" anchorCtr="0">
            <a:noAutofit/>
          </a:bodyPr>
          <a:lstStyle/>
          <a:p>
            <a:pPr marL="0" indent="0">
              <a:lnSpc>
                <a:spcPts val="5550"/>
              </a:lnSpc>
              <a:buNone/>
            </a:pPr>
            <a:r>
              <a:rPr lang="en-US" sz="3200" dirty="0">
                <a:solidFill>
                  <a:srgbClr val="484237"/>
                </a:solidFill>
                <a:latin typeface="Gelasio Semi Bold" pitchFamily="34" charset="0"/>
                <a:ea typeface="Gelasio Semi Bold" pitchFamily="34" charset="-122"/>
                <a:cs typeface="Gelasio Semi Bold" pitchFamily="34" charset="-120"/>
              </a:rPr>
              <a:t>Current Challenges</a:t>
            </a:r>
            <a:br>
              <a:rPr lang="en-US" sz="3200" dirty="0">
                <a:solidFill>
                  <a:srgbClr val="484237"/>
                </a:solidFill>
                <a:latin typeface="Gelasio Semi Bold" pitchFamily="34" charset="0"/>
                <a:ea typeface="Gelasio Semi Bold" pitchFamily="34" charset="-122"/>
                <a:cs typeface="Gelasio Semi Bold" pitchFamily="34" charset="-120"/>
              </a:rPr>
            </a:br>
            <a:endParaRPr lang="en-US" sz="3200" dirty="0"/>
          </a:p>
        </p:txBody>
      </p:sp>
      <p:sp>
        <p:nvSpPr>
          <p:cNvPr id="9" name="TextBox 8">
            <a:extLst>
              <a:ext uri="{FF2B5EF4-FFF2-40B4-BE49-F238E27FC236}">
                <a16:creationId xmlns:a16="http://schemas.microsoft.com/office/drawing/2014/main" id="{8D5A142F-72FA-EC50-93AC-7FBA10B9F01D}"/>
              </a:ext>
            </a:extLst>
          </p:cNvPr>
          <p:cNvSpPr txBox="1"/>
          <p:nvPr/>
        </p:nvSpPr>
        <p:spPr>
          <a:xfrm>
            <a:off x="759462" y="1223357"/>
            <a:ext cx="8506460" cy="2459071"/>
          </a:xfrm>
          <a:prstGeom prst="rect">
            <a:avLst/>
          </a:prstGeom>
          <a:noFill/>
        </p:spPr>
        <p:txBody>
          <a:bodyPr wrap="square">
            <a:spAutoFit/>
          </a:bodyPr>
          <a:lstStyle/>
          <a:p>
            <a:pPr marL="342900" indent="-342900">
              <a:lnSpc>
                <a:spcPct val="200000"/>
              </a:lnSpc>
              <a:buFont typeface="Wingdings" panose="05000000000000000000" pitchFamily="2" charset="2"/>
              <a:buChar char="§"/>
            </a:pPr>
            <a:r>
              <a:rPr lang="en-US" sz="2000" dirty="0">
                <a:solidFill>
                  <a:srgbClr val="484237"/>
                </a:solidFill>
                <a:latin typeface="Gelasio Semi Bold" panose="020B0604020202020204" charset="0"/>
                <a:cs typeface="Gelasio Semi Bold" panose="020B0604020202020204" charset="0"/>
              </a:rPr>
              <a:t>Background Noise Interfere</a:t>
            </a:r>
            <a:r>
              <a:rPr lang="en-US" sz="2000" dirty="0">
                <a:solidFill>
                  <a:srgbClr val="664B34"/>
                </a:solidFill>
                <a:latin typeface="Gelasio Semi Bold" panose="020B0604020202020204" charset="0"/>
                <a:cs typeface="Gelasio Semi Bold" panose="020B0604020202020204" charset="0"/>
              </a:rPr>
              <a:t>n</a:t>
            </a:r>
            <a:r>
              <a:rPr lang="en-US" sz="2000" dirty="0">
                <a:solidFill>
                  <a:srgbClr val="484237"/>
                </a:solidFill>
                <a:latin typeface="Gelasio Semi Bold" panose="020B0604020202020204" charset="0"/>
                <a:cs typeface="Gelasio Semi Bold" panose="020B0604020202020204" charset="0"/>
              </a:rPr>
              <a:t>ce</a:t>
            </a:r>
          </a:p>
          <a:p>
            <a:pPr marL="342900" indent="-342900">
              <a:lnSpc>
                <a:spcPct val="200000"/>
              </a:lnSpc>
              <a:buFont typeface="Wingdings" panose="05000000000000000000" pitchFamily="2" charset="2"/>
              <a:buChar char="§"/>
            </a:pPr>
            <a:r>
              <a:rPr lang="en-US" sz="2000" dirty="0">
                <a:solidFill>
                  <a:srgbClr val="484237"/>
                </a:solidFill>
                <a:latin typeface="Gelasio Semi Bold" panose="020B0604020202020204" charset="0"/>
                <a:cs typeface="Gelasio Semi Bold" panose="020B0604020202020204" charset="0"/>
              </a:rPr>
              <a:t>Hardware Dependency</a:t>
            </a:r>
          </a:p>
          <a:p>
            <a:pPr marL="342900" indent="-342900">
              <a:lnSpc>
                <a:spcPct val="200000"/>
              </a:lnSpc>
              <a:buFont typeface="Wingdings" panose="05000000000000000000" pitchFamily="2" charset="2"/>
              <a:buChar char="§"/>
            </a:pPr>
            <a:r>
              <a:rPr lang="en-US" sz="2000" dirty="0">
                <a:solidFill>
                  <a:srgbClr val="484237"/>
                </a:solidFill>
                <a:latin typeface="Gelasio Semi Bold" panose="020B0604020202020204" charset="0"/>
                <a:cs typeface="Gelasio Semi Bold" panose="020B0604020202020204" charset="0"/>
              </a:rPr>
              <a:t>Power Consumption</a:t>
            </a:r>
          </a:p>
          <a:p>
            <a:pPr marL="342900" indent="-342900">
              <a:lnSpc>
                <a:spcPct val="200000"/>
              </a:lnSpc>
              <a:buFont typeface="Wingdings" panose="05000000000000000000" pitchFamily="2" charset="2"/>
              <a:buChar char="§"/>
            </a:pPr>
            <a:r>
              <a:rPr lang="en-US" sz="2000" dirty="0">
                <a:solidFill>
                  <a:srgbClr val="484237"/>
                </a:solidFill>
                <a:latin typeface="Gelasio Semi Bold" panose="020B0604020202020204" charset="0"/>
                <a:cs typeface="Gelasio Semi Bold" panose="020B0604020202020204" charset="0"/>
              </a:rPr>
              <a:t>Security and Privacy Concerns</a:t>
            </a:r>
          </a:p>
        </p:txBody>
      </p:sp>
    </p:spTree>
    <p:extLst>
      <p:ext uri="{BB962C8B-B14F-4D97-AF65-F5344CB8AC3E}">
        <p14:creationId xmlns:p14="http://schemas.microsoft.com/office/powerpoint/2010/main" val="159371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EC77428E-3E5B-F898-05F0-1A65A433807C}"/>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272D5D9B-2DD3-8733-F153-E9BD72E3351A}"/>
              </a:ext>
            </a:extLst>
          </p:cNvPr>
          <p:cNvSpPr txBox="1">
            <a:spLocks noGrp="1"/>
          </p:cNvSpPr>
          <p:nvPr>
            <p:ph type="title"/>
          </p:nvPr>
        </p:nvSpPr>
        <p:spPr>
          <a:xfrm>
            <a:off x="558618" y="565457"/>
            <a:ext cx="7704000" cy="657900"/>
          </a:xfrm>
          <a:prstGeom prst="rect">
            <a:avLst/>
          </a:prstGeom>
        </p:spPr>
        <p:txBody>
          <a:bodyPr spcFirstLastPara="1" wrap="square" lIns="91425" tIns="91425" rIns="91425" bIns="91425" anchor="ctr" anchorCtr="0">
            <a:noAutofit/>
          </a:bodyPr>
          <a:lstStyle/>
          <a:p>
            <a:pPr marL="0" indent="0">
              <a:lnSpc>
                <a:spcPts val="5550"/>
              </a:lnSpc>
              <a:buNone/>
            </a:pPr>
            <a:r>
              <a:rPr lang="en-US" sz="3200" dirty="0">
                <a:solidFill>
                  <a:srgbClr val="484237"/>
                </a:solidFill>
                <a:latin typeface="Gelasio Semi Bold" pitchFamily="34" charset="0"/>
                <a:ea typeface="Gelasio Semi Bold" pitchFamily="34" charset="-122"/>
                <a:cs typeface="Gelasio Semi Bold" pitchFamily="34" charset="-120"/>
              </a:rPr>
              <a:t>Future Enhancements</a:t>
            </a:r>
            <a:br>
              <a:rPr lang="en-US" sz="3200" dirty="0">
                <a:solidFill>
                  <a:srgbClr val="484237"/>
                </a:solidFill>
                <a:latin typeface="Gelasio Semi Bold" pitchFamily="34" charset="0"/>
                <a:ea typeface="Gelasio Semi Bold" pitchFamily="34" charset="-122"/>
                <a:cs typeface="Gelasio Semi Bold" pitchFamily="34" charset="-120"/>
              </a:rPr>
            </a:br>
            <a:endParaRPr lang="en-US" sz="3200" dirty="0"/>
          </a:p>
        </p:txBody>
      </p:sp>
      <p:sp>
        <p:nvSpPr>
          <p:cNvPr id="9" name="TextBox 8">
            <a:extLst>
              <a:ext uri="{FF2B5EF4-FFF2-40B4-BE49-F238E27FC236}">
                <a16:creationId xmlns:a16="http://schemas.microsoft.com/office/drawing/2014/main" id="{911309D5-56CA-8978-2E0B-7AE7239D10E6}"/>
              </a:ext>
            </a:extLst>
          </p:cNvPr>
          <p:cNvSpPr txBox="1"/>
          <p:nvPr/>
        </p:nvSpPr>
        <p:spPr>
          <a:xfrm>
            <a:off x="759462" y="1223357"/>
            <a:ext cx="8506460" cy="2459071"/>
          </a:xfrm>
          <a:prstGeom prst="rect">
            <a:avLst/>
          </a:prstGeom>
          <a:noFill/>
        </p:spPr>
        <p:txBody>
          <a:bodyPr wrap="square">
            <a:spAutoFit/>
          </a:bodyPr>
          <a:lstStyle/>
          <a:p>
            <a:pPr marL="342900" indent="-342900">
              <a:lnSpc>
                <a:spcPct val="200000"/>
              </a:lnSpc>
              <a:buFont typeface="Wingdings" panose="05000000000000000000" pitchFamily="2" charset="2"/>
              <a:buChar char="§"/>
            </a:pPr>
            <a:r>
              <a:rPr lang="en-US" sz="2000" dirty="0">
                <a:solidFill>
                  <a:srgbClr val="484237"/>
                </a:solidFill>
                <a:latin typeface="Gelasio Semi Bold" panose="020B0604020202020204" charset="0"/>
                <a:cs typeface="Gelasio Semi Bold" panose="020B0604020202020204" charset="0"/>
              </a:rPr>
              <a:t>Battery Life Optimization</a:t>
            </a:r>
          </a:p>
          <a:p>
            <a:pPr marL="342900" indent="-342900">
              <a:lnSpc>
                <a:spcPct val="200000"/>
              </a:lnSpc>
              <a:buFont typeface="Wingdings" panose="05000000000000000000" pitchFamily="2" charset="2"/>
              <a:buChar char="§"/>
            </a:pPr>
            <a:r>
              <a:rPr lang="en-US" sz="2000" dirty="0">
                <a:solidFill>
                  <a:srgbClr val="484237"/>
                </a:solidFill>
                <a:latin typeface="Gelasio Semi Bold" panose="020B0604020202020204" charset="0"/>
                <a:cs typeface="Gelasio Semi Bold" panose="020B0604020202020204" charset="0"/>
              </a:rPr>
              <a:t>Advanced Noise Reduction</a:t>
            </a:r>
          </a:p>
          <a:p>
            <a:pPr marL="342900" indent="-342900">
              <a:lnSpc>
                <a:spcPct val="200000"/>
              </a:lnSpc>
              <a:buFont typeface="Wingdings" panose="05000000000000000000" pitchFamily="2" charset="2"/>
              <a:buChar char="§"/>
            </a:pPr>
            <a:r>
              <a:rPr lang="en-US" sz="2000" dirty="0">
                <a:solidFill>
                  <a:srgbClr val="484237"/>
                </a:solidFill>
                <a:latin typeface="Gelasio Semi Bold" panose="020B0604020202020204" charset="0"/>
                <a:cs typeface="Gelasio Semi Bold" panose="020B0604020202020204" charset="0"/>
              </a:rPr>
              <a:t>Wearable Device Integration</a:t>
            </a:r>
          </a:p>
          <a:p>
            <a:pPr marL="342900" indent="-342900">
              <a:lnSpc>
                <a:spcPct val="200000"/>
              </a:lnSpc>
              <a:buFont typeface="Wingdings" panose="05000000000000000000" pitchFamily="2" charset="2"/>
              <a:buChar char="§"/>
            </a:pPr>
            <a:r>
              <a:rPr lang="en-US" sz="2000" dirty="0">
                <a:solidFill>
                  <a:srgbClr val="484237"/>
                </a:solidFill>
                <a:latin typeface="Gelasio Semi Bold" panose="020B0604020202020204" charset="0"/>
                <a:cs typeface="Gelasio Semi Bold" panose="020B0604020202020204" charset="0"/>
              </a:rPr>
              <a:t>Location-Based Activation</a:t>
            </a:r>
          </a:p>
        </p:txBody>
      </p:sp>
    </p:spTree>
    <p:extLst>
      <p:ext uri="{BB962C8B-B14F-4D97-AF65-F5344CB8AC3E}">
        <p14:creationId xmlns:p14="http://schemas.microsoft.com/office/powerpoint/2010/main" val="245212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BA9A117A-939C-A0BF-B7FF-14E8D11EBC2F}"/>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9785964E-F3F8-E968-8518-94C92BC54761}"/>
              </a:ext>
            </a:extLst>
          </p:cNvPr>
          <p:cNvSpPr txBox="1">
            <a:spLocks noGrp="1"/>
          </p:cNvSpPr>
          <p:nvPr>
            <p:ph type="title"/>
          </p:nvPr>
        </p:nvSpPr>
        <p:spPr>
          <a:xfrm>
            <a:off x="355418" y="372417"/>
            <a:ext cx="7704000" cy="657900"/>
          </a:xfrm>
          <a:prstGeom prst="rect">
            <a:avLst/>
          </a:prstGeom>
        </p:spPr>
        <p:txBody>
          <a:bodyPr spcFirstLastPara="1" wrap="square" lIns="91425" tIns="91425" rIns="91425" bIns="91425" anchor="ctr" anchorCtr="0">
            <a:noAutofit/>
          </a:bodyPr>
          <a:lstStyle/>
          <a:p>
            <a:pPr marL="0" indent="0">
              <a:lnSpc>
                <a:spcPts val="5550"/>
              </a:lnSpc>
              <a:buNone/>
            </a:pPr>
            <a:r>
              <a:rPr lang="en-US" sz="3200" dirty="0">
                <a:solidFill>
                  <a:srgbClr val="484237"/>
                </a:solidFill>
                <a:latin typeface="Gelasio Semi Bold" pitchFamily="34" charset="0"/>
                <a:ea typeface="Gelasio Semi Bold" pitchFamily="34" charset="-122"/>
                <a:cs typeface="Gelasio Semi Bold" pitchFamily="34" charset="-120"/>
              </a:rPr>
              <a:t>Conclusion</a:t>
            </a:r>
            <a:endParaRPr lang="en-US" sz="3200" dirty="0"/>
          </a:p>
        </p:txBody>
      </p:sp>
      <p:sp>
        <p:nvSpPr>
          <p:cNvPr id="9" name="TextBox 8">
            <a:extLst>
              <a:ext uri="{FF2B5EF4-FFF2-40B4-BE49-F238E27FC236}">
                <a16:creationId xmlns:a16="http://schemas.microsoft.com/office/drawing/2014/main" id="{A3DDA782-161B-99FB-DD6B-6617558D6C15}"/>
              </a:ext>
            </a:extLst>
          </p:cNvPr>
          <p:cNvSpPr txBox="1"/>
          <p:nvPr/>
        </p:nvSpPr>
        <p:spPr>
          <a:xfrm>
            <a:off x="868679" y="1239520"/>
            <a:ext cx="7406642" cy="3041667"/>
          </a:xfrm>
          <a:prstGeom prst="rect">
            <a:avLst/>
          </a:prstGeom>
          <a:noFill/>
        </p:spPr>
        <p:txBody>
          <a:bodyPr wrap="square">
            <a:spAutoFit/>
          </a:bodyPr>
          <a:lstStyle/>
          <a:p>
            <a:pPr algn="just">
              <a:lnSpc>
                <a:spcPct val="200000"/>
              </a:lnSpc>
            </a:pPr>
            <a:r>
              <a:rPr lang="en-US" dirty="0">
                <a:solidFill>
                  <a:srgbClr val="484237"/>
                </a:solidFill>
                <a:latin typeface="Manrope" panose="020B0604020202020204" charset="0"/>
                <a:cs typeface="Gelasio Semi Bold" panose="020B0604020202020204" charset="0"/>
              </a:rPr>
              <a:t>The Scream Detection and Alert System combines machine learning, audio processing, and real-time APIs to improve personal safety. A CNN model trained on public datasets accurately detects screams. Upon detection, the system uses Twilio to alert emergency contacts and Google Geolocation or GPS for precise location tracking. Developed as an Android app with Android Studio and Java, it offers an easy-to-use interface for managing alerts. This project showcases how technology can enhance emergency response and personal security.</a:t>
            </a:r>
          </a:p>
        </p:txBody>
      </p:sp>
    </p:spTree>
    <p:extLst>
      <p:ext uri="{BB962C8B-B14F-4D97-AF65-F5344CB8AC3E}">
        <p14:creationId xmlns:p14="http://schemas.microsoft.com/office/powerpoint/2010/main" val="989502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625586AA-524F-2F91-E9B5-08D407E36F9D}"/>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59AF0487-30C9-8C6F-6CD3-852111B46CA9}"/>
              </a:ext>
            </a:extLst>
          </p:cNvPr>
          <p:cNvSpPr txBox="1">
            <a:spLocks noGrp="1"/>
          </p:cNvSpPr>
          <p:nvPr>
            <p:ph type="title"/>
          </p:nvPr>
        </p:nvSpPr>
        <p:spPr>
          <a:xfrm>
            <a:off x="335098" y="270817"/>
            <a:ext cx="7704000" cy="657900"/>
          </a:xfrm>
          <a:prstGeom prst="rect">
            <a:avLst/>
          </a:prstGeom>
        </p:spPr>
        <p:txBody>
          <a:bodyPr spcFirstLastPara="1" wrap="square" lIns="91425" tIns="91425" rIns="91425" bIns="91425" anchor="ctr" anchorCtr="0">
            <a:noAutofit/>
          </a:bodyPr>
          <a:lstStyle/>
          <a:p>
            <a:pPr marL="0" indent="0">
              <a:lnSpc>
                <a:spcPts val="5550"/>
              </a:lnSpc>
              <a:buNone/>
            </a:pPr>
            <a:r>
              <a:rPr lang="en-US" sz="3200" dirty="0">
                <a:solidFill>
                  <a:srgbClr val="484237"/>
                </a:solidFill>
                <a:latin typeface="Gelasio Semi Bold" pitchFamily="34" charset="0"/>
                <a:ea typeface="Gelasio Semi Bold" pitchFamily="34" charset="-122"/>
                <a:cs typeface="Gelasio Semi Bold" pitchFamily="34" charset="-120"/>
              </a:rPr>
              <a:t>References</a:t>
            </a:r>
            <a:endParaRPr lang="en-US" sz="3200" dirty="0"/>
          </a:p>
        </p:txBody>
      </p:sp>
      <p:sp>
        <p:nvSpPr>
          <p:cNvPr id="9" name="TextBox 8">
            <a:extLst>
              <a:ext uri="{FF2B5EF4-FFF2-40B4-BE49-F238E27FC236}">
                <a16:creationId xmlns:a16="http://schemas.microsoft.com/office/drawing/2014/main" id="{0B56219D-A67F-3447-4D58-4AF2DE42155B}"/>
              </a:ext>
            </a:extLst>
          </p:cNvPr>
          <p:cNvSpPr txBox="1"/>
          <p:nvPr/>
        </p:nvSpPr>
        <p:spPr>
          <a:xfrm>
            <a:off x="868679" y="1012433"/>
            <a:ext cx="7406642" cy="4131067"/>
          </a:xfrm>
          <a:prstGeom prst="rect">
            <a:avLst/>
          </a:prstGeom>
          <a:noFill/>
        </p:spPr>
        <p:txBody>
          <a:bodyPr wrap="square">
            <a:spAutoFit/>
          </a:bodyPr>
          <a:lstStyle/>
          <a:p>
            <a:pPr marL="342900" indent="-342900">
              <a:lnSpc>
                <a:spcPts val="2850"/>
              </a:lnSpc>
              <a:buFont typeface="+mj-lt"/>
              <a:buAutoNum type="arabicPeriod"/>
            </a:pPr>
            <a:r>
              <a:rPr lang="en-US" sz="1200" dirty="0">
                <a:solidFill>
                  <a:srgbClr val="746558"/>
                </a:solidFill>
                <a:latin typeface="Gelasio" pitchFamily="34" charset="0"/>
                <a:ea typeface="Gelasio" pitchFamily="34" charset="-122"/>
                <a:cs typeface="Gelasio" pitchFamily="34" charset="-120"/>
              </a:rPr>
              <a:t>Saba Nazir, M. A., Malik, S., &amp; Nazir, F. (2018). A Review on Scream Classification for Situation Understanding. International Journal of Advanced Computer Science and Applications (IJACSA), 9(8), 63-75. Available at: </a:t>
            </a:r>
            <a:r>
              <a:rPr lang="en-US" sz="1200" dirty="0">
                <a:solidFill>
                  <a:srgbClr val="746558"/>
                </a:solidFill>
                <a:latin typeface="Gelasio" pitchFamily="34" charset="0"/>
                <a:ea typeface="Gelasio" pitchFamily="34" charset="-122"/>
                <a:cs typeface="Gelasio" pitchFamily="34" charset="-120"/>
                <a:hlinkClick r:id="rId3"/>
              </a:rPr>
              <a:t>https://thesai.org/Downloads/Volume9No8/Paper_9-A_Review_on_Scream_Classification_for_Situation_Understanding.pdf</a:t>
            </a:r>
            <a:endParaRPr lang="en-US" sz="1200" dirty="0">
              <a:solidFill>
                <a:srgbClr val="746558"/>
              </a:solidFill>
              <a:latin typeface="Gelasio" pitchFamily="34" charset="0"/>
              <a:ea typeface="Gelasio" pitchFamily="34" charset="-122"/>
              <a:cs typeface="Gelasio" pitchFamily="34" charset="-120"/>
            </a:endParaRPr>
          </a:p>
          <a:p>
            <a:pPr marL="342900" indent="-342900">
              <a:lnSpc>
                <a:spcPts val="2850"/>
              </a:lnSpc>
              <a:buFont typeface="+mj-lt"/>
              <a:buAutoNum type="arabicPeriod"/>
            </a:pPr>
            <a:r>
              <a:rPr lang="en-US" sz="1200" dirty="0">
                <a:solidFill>
                  <a:srgbClr val="746558"/>
                </a:solidFill>
                <a:latin typeface="Gelasio" pitchFamily="34" charset="0"/>
                <a:ea typeface="Gelasio" pitchFamily="34" charset="-122"/>
                <a:cs typeface="Gelasio" pitchFamily="34" charset="-120"/>
              </a:rPr>
              <a:t>Saeed, F.S., </a:t>
            </a:r>
            <a:r>
              <a:rPr lang="en-US" sz="1200" dirty="0" err="1">
                <a:solidFill>
                  <a:srgbClr val="746558"/>
                </a:solidFill>
                <a:latin typeface="Gelasio" pitchFamily="34" charset="0"/>
                <a:ea typeface="Gelasio" pitchFamily="34" charset="-122"/>
                <a:cs typeface="Gelasio" pitchFamily="34" charset="-120"/>
              </a:rPr>
              <a:t>Bashit</a:t>
            </a:r>
            <a:r>
              <a:rPr lang="en-US" sz="1200" dirty="0">
                <a:solidFill>
                  <a:srgbClr val="746558"/>
                </a:solidFill>
                <a:latin typeface="Gelasio" pitchFamily="34" charset="0"/>
                <a:ea typeface="Gelasio" pitchFamily="34" charset="-122"/>
                <a:cs typeface="Gelasio" pitchFamily="34" charset="-120"/>
              </a:rPr>
              <a:t>, A.A., Viswanathan, V., &amp; Valles, D. (2021). An Initial Machine Learning-Based Victim's Scream Detection in Fire Emergencies. Applied Sciences, 11(18), 8425. Available at: </a:t>
            </a:r>
            <a:r>
              <a:rPr lang="en-US" sz="1200" dirty="0">
                <a:solidFill>
                  <a:srgbClr val="746558"/>
                </a:solidFill>
                <a:latin typeface="Gelasio" pitchFamily="34" charset="0"/>
                <a:ea typeface="Gelasio" pitchFamily="34" charset="-122"/>
                <a:cs typeface="Gelasio" pitchFamily="34" charset="-120"/>
                <a:hlinkClick r:id="rId4"/>
              </a:rPr>
              <a:t>https://www.mdpi.com/2076-3417/11/18/8425</a:t>
            </a:r>
            <a:endParaRPr lang="en-US" sz="1200" dirty="0">
              <a:solidFill>
                <a:srgbClr val="746558"/>
              </a:solidFill>
              <a:latin typeface="Gelasio" pitchFamily="34" charset="0"/>
              <a:ea typeface="Gelasio" pitchFamily="34" charset="-122"/>
              <a:cs typeface="Gelasio" pitchFamily="34" charset="-120"/>
            </a:endParaRPr>
          </a:p>
          <a:p>
            <a:pPr marL="342900" indent="-342900">
              <a:lnSpc>
                <a:spcPts val="2850"/>
              </a:lnSpc>
              <a:buFont typeface="+mj-lt"/>
              <a:buAutoNum type="arabicPeriod"/>
            </a:pPr>
            <a:r>
              <a:rPr lang="en-US" sz="1200" dirty="0">
                <a:solidFill>
                  <a:srgbClr val="746558"/>
                </a:solidFill>
                <a:latin typeface="Gelasio" pitchFamily="34" charset="0"/>
                <a:ea typeface="Gelasio" pitchFamily="34" charset="-122"/>
                <a:cs typeface="Gelasio" pitchFamily="34" charset="-120"/>
              </a:rPr>
              <a:t>Kumar, A.S., Reddy, M., Akshitha, &amp; Sowmya, G. (2024). Human Scream Detection Using SVM and MLP. Journal of Nonlinear Analysis and Optimization, 15(1). Available at: </a:t>
            </a:r>
            <a:r>
              <a:rPr lang="en-US" sz="1200" dirty="0">
                <a:solidFill>
                  <a:srgbClr val="746558"/>
                </a:solidFill>
                <a:latin typeface="Gelasio" pitchFamily="34" charset="0"/>
                <a:ea typeface="Gelasio" pitchFamily="34" charset="-122"/>
                <a:cs typeface="Gelasio" pitchFamily="34" charset="-120"/>
                <a:hlinkClick r:id="rId5"/>
              </a:rPr>
              <a:t>https://jnao-nu.com/Vol.%2015%2C%20Issue.%2001%2C%20January-June%20%3A%202024/98.15.pdf</a:t>
            </a:r>
            <a:endParaRPr lang="en-US" sz="1200" dirty="0">
              <a:solidFill>
                <a:srgbClr val="746558"/>
              </a:solidFill>
              <a:latin typeface="Gelasio" pitchFamily="34" charset="0"/>
              <a:ea typeface="Gelasio" pitchFamily="34" charset="-122"/>
              <a:cs typeface="Gelasio" pitchFamily="34" charset="-120"/>
            </a:endParaRPr>
          </a:p>
          <a:p>
            <a:pPr marL="342900" indent="-342900">
              <a:lnSpc>
                <a:spcPts val="2850"/>
              </a:lnSpc>
              <a:buFont typeface="+mj-lt"/>
              <a:buAutoNum type="arabicPeriod"/>
            </a:pPr>
            <a:endParaRPr lang="en-US" sz="1400" dirty="0">
              <a:solidFill>
                <a:srgbClr val="746558"/>
              </a:solidFill>
              <a:latin typeface="Gelasio" pitchFamily="34" charset="0"/>
              <a:ea typeface="Gelasio" pitchFamily="34" charset="-122"/>
              <a:cs typeface="Gelasio" pitchFamily="34" charset="-120"/>
            </a:endParaRPr>
          </a:p>
        </p:txBody>
      </p:sp>
    </p:spTree>
    <p:extLst>
      <p:ext uri="{BB962C8B-B14F-4D97-AF65-F5344CB8AC3E}">
        <p14:creationId xmlns:p14="http://schemas.microsoft.com/office/powerpoint/2010/main" val="1198887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82">
          <a:extLst>
            <a:ext uri="{FF2B5EF4-FFF2-40B4-BE49-F238E27FC236}">
              <a16:creationId xmlns:a16="http://schemas.microsoft.com/office/drawing/2014/main" id="{A86F8434-E135-864A-9D23-E76ECDBD9844}"/>
            </a:ext>
          </a:extLst>
        </p:cNvPr>
        <p:cNvGrpSpPr/>
        <p:nvPr/>
      </p:nvGrpSpPr>
      <p:grpSpPr>
        <a:xfrm>
          <a:off x="0" y="0"/>
          <a:ext cx="0" cy="0"/>
          <a:chOff x="0" y="0"/>
          <a:chExt cx="0" cy="0"/>
        </a:xfrm>
      </p:grpSpPr>
      <p:sp>
        <p:nvSpPr>
          <p:cNvPr id="786" name="Google Shape;786;p77">
            <a:extLst>
              <a:ext uri="{FF2B5EF4-FFF2-40B4-BE49-F238E27FC236}">
                <a16:creationId xmlns:a16="http://schemas.microsoft.com/office/drawing/2014/main" id="{8431BFEC-7906-1CED-EB86-D49C6F74555E}"/>
              </a:ext>
            </a:extLst>
          </p:cNvPr>
          <p:cNvSpPr txBox="1">
            <a:spLocks noGrp="1"/>
          </p:cNvSpPr>
          <p:nvPr>
            <p:ph type="title"/>
          </p:nvPr>
        </p:nvSpPr>
        <p:spPr>
          <a:xfrm>
            <a:off x="335098" y="270817"/>
            <a:ext cx="7704000" cy="657900"/>
          </a:xfrm>
          <a:prstGeom prst="rect">
            <a:avLst/>
          </a:prstGeom>
        </p:spPr>
        <p:txBody>
          <a:bodyPr spcFirstLastPara="1" wrap="square" lIns="91425" tIns="91425" rIns="91425" bIns="91425" anchor="ctr" anchorCtr="0">
            <a:noAutofit/>
          </a:bodyPr>
          <a:lstStyle/>
          <a:p>
            <a:pPr marL="0" indent="0">
              <a:lnSpc>
                <a:spcPts val="5550"/>
              </a:lnSpc>
              <a:buNone/>
            </a:pPr>
            <a:r>
              <a:rPr lang="en-US" sz="3200" dirty="0">
                <a:solidFill>
                  <a:srgbClr val="484237"/>
                </a:solidFill>
                <a:latin typeface="Gelasio Semi Bold" pitchFamily="34" charset="0"/>
                <a:ea typeface="Gelasio Semi Bold" pitchFamily="34" charset="-122"/>
                <a:cs typeface="Gelasio Semi Bold" pitchFamily="34" charset="-120"/>
              </a:rPr>
              <a:t>References</a:t>
            </a:r>
            <a:endParaRPr lang="en-US" sz="3200" dirty="0"/>
          </a:p>
        </p:txBody>
      </p:sp>
      <p:sp>
        <p:nvSpPr>
          <p:cNvPr id="9" name="TextBox 8">
            <a:extLst>
              <a:ext uri="{FF2B5EF4-FFF2-40B4-BE49-F238E27FC236}">
                <a16:creationId xmlns:a16="http://schemas.microsoft.com/office/drawing/2014/main" id="{19897907-2BC0-6D2A-0F11-003B907AB3C0}"/>
              </a:ext>
            </a:extLst>
          </p:cNvPr>
          <p:cNvSpPr txBox="1"/>
          <p:nvPr/>
        </p:nvSpPr>
        <p:spPr>
          <a:xfrm>
            <a:off x="868679" y="955630"/>
            <a:ext cx="7406642" cy="4131067"/>
          </a:xfrm>
          <a:prstGeom prst="rect">
            <a:avLst/>
          </a:prstGeom>
          <a:noFill/>
        </p:spPr>
        <p:txBody>
          <a:bodyPr wrap="square">
            <a:spAutoFit/>
          </a:bodyPr>
          <a:lstStyle/>
          <a:p>
            <a:pPr marL="342900" indent="-342900">
              <a:lnSpc>
                <a:spcPts val="2850"/>
              </a:lnSpc>
              <a:buFont typeface="+mj-lt"/>
              <a:buAutoNum type="arabicPeriod" startAt="4"/>
            </a:pPr>
            <a:r>
              <a:rPr lang="en-US" sz="1200" dirty="0">
                <a:solidFill>
                  <a:srgbClr val="746558"/>
                </a:solidFill>
                <a:latin typeface="Gelasio" pitchFamily="34" charset="0"/>
                <a:ea typeface="Gelasio" pitchFamily="34" charset="-122"/>
                <a:cs typeface="Gelasio" pitchFamily="34" charset="-120"/>
              </a:rPr>
              <a:t>Mathur, R., Chintala, T., &amp; Rajeswari, D. (2024). Human Scream Detection and Analysis for Controlling Crime Rate. International Journal of Research in Engineering, IT, and Social Sciences, 15(1). Available at: </a:t>
            </a:r>
            <a:r>
              <a:rPr lang="en-US" sz="1200" dirty="0">
                <a:solidFill>
                  <a:srgbClr val="746558"/>
                </a:solidFill>
                <a:latin typeface="Gelasio" pitchFamily="34" charset="0"/>
                <a:ea typeface="Gelasio" pitchFamily="34" charset="-122"/>
                <a:cs typeface="Gelasio" pitchFamily="34" charset="-120"/>
                <a:hlinkClick r:id="rId3"/>
              </a:rPr>
              <a:t>https://www.indusedu.org/pdfs/IJREISS/IJREISS_4399_12524.pdf</a:t>
            </a:r>
            <a:endParaRPr lang="en-US" sz="1200" dirty="0">
              <a:solidFill>
                <a:srgbClr val="746558"/>
              </a:solidFill>
              <a:latin typeface="Gelasio" pitchFamily="34" charset="0"/>
              <a:ea typeface="Gelasio" pitchFamily="34" charset="-122"/>
              <a:cs typeface="Gelasio" pitchFamily="34" charset="-120"/>
            </a:endParaRPr>
          </a:p>
          <a:p>
            <a:pPr marL="342900" indent="-342900">
              <a:lnSpc>
                <a:spcPts val="2850"/>
              </a:lnSpc>
              <a:buFont typeface="+mj-lt"/>
              <a:buAutoNum type="arabicPeriod" startAt="4"/>
            </a:pPr>
            <a:r>
              <a:rPr lang="en-US" sz="1200" dirty="0">
                <a:solidFill>
                  <a:srgbClr val="746558"/>
                </a:solidFill>
                <a:latin typeface="Gelasio" pitchFamily="34" charset="0"/>
                <a:ea typeface="Gelasio" pitchFamily="34" charset="-122"/>
                <a:cs typeface="Gelasio" pitchFamily="34" charset="-120"/>
              </a:rPr>
              <a:t>Gautam, B., </a:t>
            </a:r>
            <a:r>
              <a:rPr lang="en-US" sz="1200" dirty="0" err="1">
                <a:solidFill>
                  <a:srgbClr val="746558"/>
                </a:solidFill>
                <a:latin typeface="Gelasio" pitchFamily="34" charset="0"/>
                <a:ea typeface="Gelasio" pitchFamily="34" charset="-122"/>
                <a:cs typeface="Gelasio" pitchFamily="34" charset="-120"/>
              </a:rPr>
              <a:t>Guragain</a:t>
            </a:r>
            <a:r>
              <a:rPr lang="en-US" sz="1200" dirty="0">
                <a:solidFill>
                  <a:srgbClr val="746558"/>
                </a:solidFill>
                <a:latin typeface="Gelasio" pitchFamily="34" charset="0"/>
                <a:ea typeface="Gelasio" pitchFamily="34" charset="-122"/>
                <a:cs typeface="Gelasio" pitchFamily="34" charset="-120"/>
              </a:rPr>
              <a:t>, A., &amp; Giri, S. (2024). Real-Time Scream Detection and Position Estimation for Worker Safety in Construction Sites. arXiv preprint arXiv:2411.03016. Available at: </a:t>
            </a:r>
            <a:r>
              <a:rPr lang="en-US" sz="1200" dirty="0">
                <a:solidFill>
                  <a:srgbClr val="746558"/>
                </a:solidFill>
                <a:latin typeface="Gelasio" pitchFamily="34" charset="0"/>
                <a:ea typeface="Gelasio" pitchFamily="34" charset="-122"/>
                <a:cs typeface="Gelasio" pitchFamily="34" charset="-120"/>
                <a:hlinkClick r:id="rId4"/>
              </a:rPr>
              <a:t>https://arxiv.org/pdf/2411.03016</a:t>
            </a:r>
            <a:endParaRPr lang="en-US" sz="1200" dirty="0">
              <a:solidFill>
                <a:srgbClr val="746558"/>
              </a:solidFill>
              <a:latin typeface="Gelasio" pitchFamily="34" charset="0"/>
              <a:ea typeface="Gelasio" pitchFamily="34" charset="-122"/>
              <a:cs typeface="Gelasio" pitchFamily="34" charset="-120"/>
            </a:endParaRPr>
          </a:p>
          <a:p>
            <a:pPr marL="342900" indent="-342900">
              <a:lnSpc>
                <a:spcPts val="2850"/>
              </a:lnSpc>
              <a:buFont typeface="+mj-lt"/>
              <a:buAutoNum type="arabicPeriod" startAt="4"/>
            </a:pPr>
            <a:r>
              <a:rPr lang="en-US" sz="1200" dirty="0">
                <a:solidFill>
                  <a:srgbClr val="746558"/>
                </a:solidFill>
                <a:latin typeface="Gelasio" pitchFamily="34" charset="0"/>
                <a:ea typeface="Gelasio" pitchFamily="34" charset="-122"/>
                <a:cs typeface="Gelasio" pitchFamily="34" charset="-120"/>
              </a:rPr>
              <a:t>Wikipedia - Crime in India - </a:t>
            </a:r>
            <a:r>
              <a:rPr lang="en-US" sz="1200" dirty="0">
                <a:solidFill>
                  <a:srgbClr val="746558"/>
                </a:solidFill>
                <a:latin typeface="Gelasio" pitchFamily="34" charset="0"/>
                <a:ea typeface="Gelasio" pitchFamily="34" charset="-122"/>
                <a:cs typeface="Gelasio" pitchFamily="34" charset="-120"/>
                <a:hlinkClick r:id="rId5"/>
              </a:rPr>
              <a:t>https://en.wikipedia.org/wiki/Crime_in_India</a:t>
            </a:r>
            <a:endParaRPr lang="en-US" sz="1200" dirty="0">
              <a:solidFill>
                <a:srgbClr val="746558"/>
              </a:solidFill>
              <a:latin typeface="Gelasio" pitchFamily="34" charset="0"/>
              <a:ea typeface="Gelasio" pitchFamily="34" charset="-122"/>
              <a:cs typeface="Gelasio" pitchFamily="34" charset="-120"/>
            </a:endParaRPr>
          </a:p>
          <a:p>
            <a:pPr marL="342900" indent="-342900">
              <a:lnSpc>
                <a:spcPts val="2850"/>
              </a:lnSpc>
              <a:buFont typeface="+mj-lt"/>
              <a:buAutoNum type="arabicPeriod" startAt="4"/>
            </a:pPr>
            <a:r>
              <a:rPr lang="en-US" sz="1200" dirty="0">
                <a:solidFill>
                  <a:srgbClr val="746558"/>
                </a:solidFill>
                <a:latin typeface="Gelasio" pitchFamily="34" charset="0"/>
                <a:ea typeface="Gelasio" pitchFamily="34" charset="-122"/>
                <a:cs typeface="Gelasio" pitchFamily="34" charset="-120"/>
              </a:rPr>
              <a:t>Workplace Violence in the Emergency Department in India, International Journal of Academic Medicine (IJAM) </a:t>
            </a:r>
            <a:r>
              <a:rPr lang="en-US" sz="1200" dirty="0">
                <a:solidFill>
                  <a:srgbClr val="746558"/>
                </a:solidFill>
                <a:latin typeface="Gelasio" pitchFamily="34" charset="0"/>
                <a:ea typeface="Gelasio" pitchFamily="34" charset="-122"/>
                <a:cs typeface="Gelasio" pitchFamily="34" charset="-120"/>
                <a:hlinkClick r:id="rId6"/>
              </a:rPr>
              <a:t>https://journals.lww.com/ijam/fulltext/2017/03020/workplace_violence_in_the_emergency_department_in.6.aspx</a:t>
            </a:r>
            <a:endParaRPr lang="en-US" sz="1200" dirty="0">
              <a:solidFill>
                <a:srgbClr val="746558"/>
              </a:solidFill>
              <a:latin typeface="Gelasio" pitchFamily="34" charset="0"/>
              <a:ea typeface="Gelasio" pitchFamily="34" charset="-122"/>
              <a:cs typeface="Gelasio" pitchFamily="34" charset="-120"/>
            </a:endParaRPr>
          </a:p>
        </p:txBody>
      </p:sp>
    </p:spTree>
    <p:extLst>
      <p:ext uri="{BB962C8B-B14F-4D97-AF65-F5344CB8AC3E}">
        <p14:creationId xmlns:p14="http://schemas.microsoft.com/office/powerpoint/2010/main" val="1767934318"/>
      </p:ext>
    </p:extLst>
  </p:cSld>
  <p:clrMapOvr>
    <a:masterClrMapping/>
  </p:clrMapOvr>
</p:sld>
</file>

<file path=ppt/theme/theme1.xml><?xml version="1.0" encoding="utf-8"?>
<a:theme xmlns:a="http://schemas.openxmlformats.org/drawingml/2006/main" name="Minimalist Korean Aesthetic Pitch Deck by Slidesgo">
  <a:themeElements>
    <a:clrScheme name="Simple Light">
      <a:dk1>
        <a:srgbClr val="1E1E1E"/>
      </a:dk1>
      <a:lt1>
        <a:srgbClr val="664B34"/>
      </a:lt1>
      <a:dk2>
        <a:srgbClr val="887C62"/>
      </a:dk2>
      <a:lt2>
        <a:srgbClr val="D4CBBB"/>
      </a:lt2>
      <a:accent1>
        <a:srgbClr val="E7E2D6"/>
      </a:accent1>
      <a:accent2>
        <a:srgbClr val="F3F3F3"/>
      </a:accent2>
      <a:accent3>
        <a:srgbClr val="E2B0A6"/>
      </a:accent3>
      <a:accent4>
        <a:srgbClr val="FFFFFF"/>
      </a:accent4>
      <a:accent5>
        <a:srgbClr val="FFFFFF"/>
      </a:accent5>
      <a:accent6>
        <a:srgbClr val="FFFFFF"/>
      </a:accent6>
      <a:hlink>
        <a:srgbClr val="1E1E1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1866</Words>
  <Application>Microsoft Office PowerPoint</Application>
  <PresentationFormat>On-screen Show (16:9)</PresentationFormat>
  <Paragraphs>254</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Gelasio</vt:lpstr>
      <vt:lpstr>Nunito Light</vt:lpstr>
      <vt:lpstr>Calisto MT</vt:lpstr>
      <vt:lpstr>Kulim Park</vt:lpstr>
      <vt:lpstr>Gelasio Semi Bold</vt:lpstr>
      <vt:lpstr>Wingdings</vt:lpstr>
      <vt:lpstr>Manrope</vt:lpstr>
      <vt:lpstr>Arial</vt:lpstr>
      <vt:lpstr>Kulim Park SemiBold</vt:lpstr>
      <vt:lpstr>Minimalist Korean Aesthetic Pitch Deck by Slidesgo</vt:lpstr>
      <vt:lpstr>PowerPoint Presentation</vt:lpstr>
      <vt:lpstr>TABLE OF CONTENTS</vt:lpstr>
      <vt:lpstr>Problem Statement </vt:lpstr>
      <vt:lpstr>Current Scenario</vt:lpstr>
      <vt:lpstr>Objective</vt:lpstr>
      <vt:lpstr>Literature Survey </vt:lpstr>
      <vt:lpstr>Literature Survey </vt:lpstr>
      <vt:lpstr>Proposed System and Methodology</vt:lpstr>
      <vt:lpstr>CNN Architecture for Scream Detection</vt:lpstr>
      <vt:lpstr>Data Flow</vt:lpstr>
      <vt:lpstr>Work Flow Diagram: </vt:lpstr>
      <vt:lpstr>Technology Stack For Model Building </vt:lpstr>
      <vt:lpstr>Technology Stack For Android App</vt:lpstr>
      <vt:lpstr>Android App Integration </vt:lpstr>
      <vt:lpstr>Android APP UI</vt:lpstr>
      <vt:lpstr>Android APP UI</vt:lpstr>
      <vt:lpstr>Android APP UI</vt:lpstr>
      <vt:lpstr>Alert Message </vt:lpstr>
      <vt:lpstr>Website UI (App Download Page)</vt:lpstr>
      <vt:lpstr>Validation</vt:lpstr>
      <vt:lpstr>Validation</vt:lpstr>
      <vt:lpstr>Validation</vt:lpstr>
      <vt:lpstr>Validation</vt:lpstr>
      <vt:lpstr>Execution Phases</vt:lpstr>
      <vt:lpstr>Current Challenges </vt:lpstr>
      <vt:lpstr>Future Enhancements </vt:lpstr>
      <vt:lpstr>Conclusion</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Aditya Eslavath</dc:creator>
  <cp:lastModifiedBy>Aditya Eslavath</cp:lastModifiedBy>
  <cp:revision>6</cp:revision>
  <dcterms:modified xsi:type="dcterms:W3CDTF">2025-05-16T11:10:06Z</dcterms:modified>
</cp:coreProperties>
</file>